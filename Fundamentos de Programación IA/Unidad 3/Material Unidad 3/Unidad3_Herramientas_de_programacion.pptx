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0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186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programación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desarrollo de aplicaciones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de desarrollo integrados · Bibliotecas y módulos estándar · Organización de proyectos de software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48840" y="43434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148840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434340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657600" y="4343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Inteligencia Artificial · Fundamentos de Programación (IAD-2413)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unidad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puente entre los fundamentos algorítmicos y el desarrollo de aplicaciones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utiliza entornos de desarrollo integrados, bibliotecas y módulos estándar, y aplica buenas prácticas de organización de proyectos de software.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esta unidad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escribe programas cortos en un solo archivo y los ejecuta de forma manual.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60604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617720" y="288036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6177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Durante esta unidad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a trabajar con un IDE profesional, reutilizar bibliotecas ya construidas y organizar su código en proyectos.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60604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8412480" y="288036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41248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de esta unidad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37947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todo esto en la Unidad 4 (apps web, móviles y de escritorio) y en materias posteriores del plan de estudios.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Herramientas de programación y desarrollo de aplicaciones · IAD-2413 · ITD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la unidad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subtemas se usan de forma simultánea en cualquier proyecto real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3776AB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0" y="21762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 IDE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7860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qué herramienta escribo,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ejecuto y depuro mi código?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49040" y="2697480"/>
            <a:ext cx="822960" cy="0"/>
          </a:xfrm>
          <a:prstGeom prst="line">
            <a:avLst/>
          </a:prstGeom>
          <a:noFill/>
          <a:ln w="31750">
            <a:solidFill>
              <a:srgbClr val="9AA0B4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9B4F96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754880" y="21762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 Bibliotecas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257860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código ya existe y puedo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en vez de escribirlo yo?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89520" y="2697480"/>
            <a:ext cx="822960" cy="0"/>
          </a:xfrm>
          <a:prstGeom prst="line">
            <a:avLst/>
          </a:prstGeom>
          <a:noFill/>
          <a:ln w="31750">
            <a:solidFill>
              <a:srgbClr val="9AA0B4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8412480" y="201168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E76F00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595360" y="21762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 Organización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95360" y="257860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ordeno todo esto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sea mantenible?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EDF0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1097280" y="416052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no son pasos aislados: se abre un IDE (3.1), dentro de él se importa una biblioteca (3.2), y todo el trabajo se guarda dentro de una estructura de proyecto ordenada (3.3). Así se resuelve la Práctica 3.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Herramientas de programación y desarrollo de aplicaciones · IAD-2413 · ITD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 ¿Qué es un IDE?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programa que reúne todas las herramientas del desarrollo de software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Entorno de Desarrollo Integrado (IDE) combina, en una sola aplicación, el editor de código, el compilador o intérprete, el depurador y otras herramientas que antes se usaban por separado.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36576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¿Para qué sirve?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 de código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Escritura con resaltado de sintaxis y autocompletado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Compilador / intérprete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Ejecuta el programa sin salir del entorno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Depurador (debugger)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Ejecución paso a paso para encontrar errores lógicos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versiones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con Git para guardar el historial de cambios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Gestor de paquetes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 bibliotecas externas de forma automática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Herramientas de programación y desarrollo de aplicaciones · IAD-2413 · ITD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 IDEs relevantes para el curso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las herramientas usadas para Python, C# y Java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26060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Destaca por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Multi-lenguaje (vía extensiones)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Ligero, gratuito, gran ecosistema — recomendado como entorno base del curso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PyCharm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profundo de código y refactorización avanzada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Studio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 / .NET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Depurador muy potente, generador de interfaces gráficas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Eclipse / IntelliJ IDEA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 de la industria para desarrollo Java empresarial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3434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" name="Text 3"/>
          <p:cNvSpPr/>
          <p:nvPr/>
        </p:nvSpPr>
        <p:spPr>
          <a:xfrm>
            <a:off x="914400" y="4526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 didáctica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VS Code como entorno común para las prácticas comparadas en Python, C# y Java, evitando que el estudiante deba aprender tres interfaces distintas. PyCharm y Visual Studio se exploran cuando el proyecto se enfoca en un solo lenguaje.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Herramientas de programación y desarrollo de aplicaciones · IAD-2413 · ITD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 Depuración (debugging)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errores lógicos ejecutando el programa de forma controlada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13232" y="162763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1323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910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Breakpoint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883664"/>
            <a:ext cx="1828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en una línea de código donde la ejecución se detiene automáticamente.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3502152" y="162763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50215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15910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over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1883664"/>
            <a:ext cx="1828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la línea actual completa y pasa a la siguiente.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6291072" y="1627632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29107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15910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into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1883664"/>
            <a:ext cx="1828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dentro de una función llamada para ver qué hace internamente.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14630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9079992" y="1627632"/>
            <a:ext cx="329184" cy="329184"/>
          </a:xfrm>
          <a:prstGeom prst="ellipse">
            <a:avLst/>
          </a:prstGeom>
          <a:solidFill>
            <a:srgbClr val="1F9D7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907999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09760" y="15910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de variables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9760" y="1883664"/>
            <a:ext cx="1828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valor actual de cada variable mientras el programa está pausado.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11064240" cy="2880360"/>
          </a:xfrm>
          <a:prstGeom prst="roundRect">
            <a:avLst>
              <a:gd name="adj" fmla="val 1905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749808" y="3685032"/>
            <a:ext cx="201168" cy="201168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1024128" y="36301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808" y="4050792"/>
            <a:ext cx="106619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calcular_promedio(lista_numeros):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suma = 0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numero in lista_numeros:   # &lt;- breakpoint aquí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suma += numero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promedio = suma / len(lista_numeros)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promedio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[8, 9, 7, 10]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= calcular_promedio(notas)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print(f"El promedio es: {resultado}")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Herramientas de programación y desarrollo de aplicaciones · IAD-2413 · ITD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 Control de versiones con Git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el historial de cambios del proyecto y permite trabajar en equipo sin conflictos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4290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hace?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init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Convierte la carpeta actual en un repositorio Git (empieza a llevar el historial)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add .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todos los archivos modificados para el próximo commit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commit -m "mensaje"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 una “fotografía” del proyecto en ese momento, con una descripción del cambio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status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 qué archivos han cambiado desde el último commit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log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 el historial de commits realizados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92102"/>
            <a:ext cx="3566160" cy="1348816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3"/>
          <p:cNvSpPr/>
          <p:nvPr/>
        </p:nvSpPr>
        <p:spPr>
          <a:xfrm>
            <a:off x="713232" y="5156694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713232" y="51566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5"/>
          <p:cNvSpPr/>
          <p:nvPr/>
        </p:nvSpPr>
        <p:spPr>
          <a:xfrm>
            <a:off x="1143000" y="512011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Regresar en el tiempo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5412726"/>
            <a:ext cx="2788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se rompe, se puede volver a una versión anterior que sí funcionaba.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4992102"/>
            <a:ext cx="3566160" cy="1348816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4507992" y="5156694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4507992" y="51566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37760" y="512011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en equipo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5412726"/>
            <a:ext cx="2788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personas trabajan en el mismo proyecto sin sobrescribir el trabajo de las demás.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38160" y="4992102"/>
            <a:ext cx="3566160" cy="1348816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3"/>
          <p:cNvSpPr/>
          <p:nvPr/>
        </p:nvSpPr>
        <p:spPr>
          <a:xfrm>
            <a:off x="8302752" y="5156694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8302752" y="51566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732520" y="512011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Respaldo en la nube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732520" y="5412726"/>
            <a:ext cx="2788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como GitHub guardan una copia remota del proyecto y su historial completo.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Herramientas de programación y desarrollo de aplicaciones · IAD-2413 · ITD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 Módulo, paquete, biblioteca y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términos que se confunden con frecuencia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26060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Término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solo archivo (o unidad pequeña) de código reutilizable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capítulo de un libro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Paquete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Colección organizada de módulos relacionados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libro completo, dividido en capítulos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Biblioteca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ya escrito, probado y empaquetado, listo para reutilizarse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caja de herramientas ya armada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 que define cómo debe organizarse toda la aplicación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molde de un pastel: tú pones los ingredientes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914400" y="4480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usar bibliotecas en vez de escribir todo desde cero?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484632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tiempo: operaciones comunes ya están resueltas.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Confiabilidad: probadas por miles de programadores.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y mantenibilidad del código propio.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Herramientas de programación y desarrollo de aplicaciones · IAD-2413 · ITD</a:t>
            </a:r>
            <a:endParaRPr lang="en-US" sz="1000" dirty="0"/>
          </a:p>
        </p:txBody>
      </p:sp>
      <p:sp>
        <p:nvSpPr>
          <p:cNvPr id="4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 Uso de una biblioteca estándar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cálculo del área de un círculo usando el módulo matemático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3200400"/>
          </a:xfrm>
          <a:prstGeom prst="roundRect">
            <a:avLst>
              <a:gd name="adj" fmla="val 1714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49808" y="1581912"/>
            <a:ext cx="201168" cy="201168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024128" y="1527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947672"/>
            <a:ext cx="31638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 = 5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 = math.pi * math.pow(radio, 2)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print(f"Área: {area:.2f}")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66160" cy="3200400"/>
          </a:xfrm>
          <a:prstGeom prst="roundRect">
            <a:avLst>
              <a:gd name="adj" fmla="val 1714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544568" y="1581912"/>
            <a:ext cx="201168" cy="201168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818888" y="1527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4568" y="1947672"/>
            <a:ext cx="31638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radio = 5;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area = Math.PI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 Math.Pow(radio, 2);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$"Área: {area:F2}");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566160" cy="3200400"/>
          </a:xfrm>
          <a:prstGeom prst="roundRect">
            <a:avLst>
              <a:gd name="adj" fmla="val 1714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8339328" y="1581912"/>
            <a:ext cx="201168" cy="201168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613648" y="1527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9328" y="1947672"/>
            <a:ext cx="31638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AreaCirculo 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public static void main(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String[] args) {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radio = 5;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area = Math.PI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* Math.pow(radio, 2);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System.out.printf(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"Área: %.2f%n", area);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DF0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tres lenguajes, el estudiante no calcula π ni la potencia manualmente: delega esas operaciones a la biblioteca matemática estándar del lenguaje. Ese es el punto pedagógico clave de este subtema.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Herramientas de programación y desarrollo de aplicaciones · IAD-2413 · ITD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 Bibliotecas estándar por lenguaje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propósito, tres implementaciones equivalentes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709159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Operaciones matemáticas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System.Math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java.lang.Math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Manejo de fechas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datetime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System.DateTime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java.time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Estructuras de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collections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System.Collections.Generic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java.util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Entrada/salida de archivos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os, io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System.IO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java.io / java.nio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Números aleatorios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random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System.Random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java.util.Random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Gestor de paquetes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NuGet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5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Maven / Gradle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Herramientas de programación y desarrollo de aplicaciones · IAD-2413 · ITD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 y cómo resolverlos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típicos al configurar el IDE o al usar bibliotecas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2976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probable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‘python’ no se reconoce como un comando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agregó Python al PATH al instalarlo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Reinstalar marcando “Add Python to PATH”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 no sugiere autocompletado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la extensión o el intérprete correcto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Instalar la extensión y usar “Select Interpreter”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ModuleNotFoundError (Python)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biblioteca no está instalada en ese entorno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el intérprete y volver a ejecutar pip install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find symbol (Java)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el import de la clase usada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Agregar el import correspondiente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X is public, should be in file X.java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nombre del archivo no coincide con la clase pública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Renombrar el archivo igual que la clase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EDF0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Consejo: leer siempre el mensaje de error completo; casi siempre indica el archivo y la línea exactos del problema.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Herramientas de programación y desarrollo de aplicaciones · IAD-2413 · ITD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 Estructura típica de un proyecto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código fuente, pruebas y documentación evita el caos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4480560"/>
          </a:xfrm>
          <a:prstGeom prst="roundRect">
            <a:avLst>
              <a:gd name="adj" fmla="val 1224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49808" y="158191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024128" y="1527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947672"/>
            <a:ext cx="471830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mi_proyecto/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        código fuente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      pruebas unitarias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       documentación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.gitignore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requirements.txt / .csproj / pom.xml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417320"/>
            <a:ext cx="5669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108192" y="158191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108192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154533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1837944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código que forma la aplicación en sí.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560320"/>
            <a:ext cx="5669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6108192" y="272491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108192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268833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2980944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que prueba automáticamente que las funciones de src/ funcionan.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3703320"/>
            <a:ext cx="5669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6108192" y="3867912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108192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383133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docs/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4123944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Diseño, decisiones técnicas y manual de usuario.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4846320"/>
            <a:ext cx="5669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6108192" y="5010912"/>
            <a:ext cx="329184" cy="329184"/>
          </a:xfrm>
          <a:prstGeom prst="ellipse">
            <a:avLst/>
          </a:prstGeom>
          <a:solidFill>
            <a:srgbClr val="1F9D7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108192" y="5010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497433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5266944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 de entrada: qué hace el proyecto y cómo ejecutarlo.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Herramientas de programación y desarrollo de aplicaciones · IAD-2413 · ITD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 Buenas prácticas de organización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simples que hacen mantenible cualquier proyecto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13232" y="162763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1323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Separar responsabilidades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1883664"/>
            <a:ext cx="27889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pruebas y documentación nunca mezclados en la raíz del proyecto.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507992" y="162763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50799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Nombrar de forma consistente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37760" y="1883664"/>
            <a:ext cx="27889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estilo de nombres (snake_case, PascalCase, etc.) en todo el proyecto.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302752" y="1627632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30275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3252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Documentar desde el inicio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732520" y="1883664"/>
            <a:ext cx="27889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README.md se escribe desde el primer día, no al final.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713232" y="3410712"/>
            <a:ext cx="329184" cy="329184"/>
          </a:xfrm>
          <a:prstGeom prst="ellipse">
            <a:avLst/>
          </a:prstGeom>
          <a:solidFill>
            <a:srgbClr val="1F9D7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713232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3741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desde el primer commit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3000" y="3666744"/>
            <a:ext cx="27889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al crear el proyecto, no cuando ya está casi terminado.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2461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4507992" y="341071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507992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3741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unitarias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937760" y="3666744"/>
            <a:ext cx="27889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una prueba por función importante, para detectar cambios que rompan algo.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2461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8302752" y="341071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8302752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32520" y="33741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propósito por archivo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732520" y="3666744"/>
            <a:ext cx="27889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archivos gigantes que hacen de todo un poco.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Herramientas de programación y desarrollo de aplicaciones · IAD-2413 · ITD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3 · Gestión de proyectos con un IDE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crear y organizar un proyecto usando un entorno de desarrollo integrado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13232" y="162763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1323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Entorno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883664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un IDE (VS Code, PyCharm o Eclipse) y familiarizarse con sus características.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507992" y="162763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50799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Biblioteca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883664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proyecto que use una biblioteca estándar, por ejemplo math en Python.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302752" y="1627632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30275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3252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Organización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32520" y="1883664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Estructurar el proyecto con carpetas para código fuente, pruebas y documentación.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914400" y="336499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 del proyecto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368503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app de lista de tareas (crear, editar, eliminar y marcar como completadas) e implementar pruebas unitarias para sus funciones principales.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11064240" cy="1607820"/>
        </p:xfrm>
        <a:graphic>
          <a:graphicData uri="http://schemas.openxmlformats.org/drawingml/2006/table">
            <a:tbl>
              <a:tblPr/>
              <a:tblGrid>
                <a:gridCol w="877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Ponderación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del IDE (evidencia)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justificado de una biblioteca estándar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 del proyecto (src/tests/docs, README)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Funcionalidad completa de la app de tareas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unitarias de las funciones principales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Herramientas de programación y desarrollo de aplicaciones · IAD-2413 · ITD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la Unidad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89320" y="1417320"/>
            <a:ext cx="0" cy="4754880"/>
          </a:xfrm>
          <a:prstGeom prst="line">
            <a:avLst/>
          </a:prstGeom>
          <a:noFill/>
          <a:ln w="19050">
            <a:solidFill>
              <a:srgbClr val="3D4A9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10896" cy="310896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completo en el IDE seleccionado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310896" cy="310896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del entorno y la organización del proyecto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310896" cy="310896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474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y pruebas unitarias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310896" cy="310896"/>
          </a:xfrm>
          <a:prstGeom prst="ellipse">
            <a:avLst/>
          </a:prstGeom>
          <a:solidFill>
            <a:srgbClr val="1F9D7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251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con instrucciones de instalación y ejecución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evaluación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355080" y="1965960"/>
            <a:ext cx="310896" cy="310896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35508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1920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correcta del IDE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2743200"/>
            <a:ext cx="310896" cy="310896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355080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1228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justificado de una biblioteca estándar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3520440"/>
            <a:ext cx="310896" cy="310896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35508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12280" y="3474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clara del proyecto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4297680"/>
            <a:ext cx="310896" cy="310896"/>
          </a:xfrm>
          <a:prstGeom prst="ellipse">
            <a:avLst/>
          </a:prstGeom>
          <a:solidFill>
            <a:srgbClr val="1F9D7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6355080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12280" y="4251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completa y pruebas unitarias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+ Bibliotecas + Organización = la base de todo proyecto de software profesional.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 · Fundamentos de Programación (IAD-2413)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2047</Words>
  <Application>Microsoft Office PowerPoint</Application>
  <PresentationFormat>Panorámica</PresentationFormat>
  <Paragraphs>341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Sergio Valdez Hernandez</cp:lastModifiedBy>
  <cp:revision>2</cp:revision>
  <dcterms:created xsi:type="dcterms:W3CDTF">2026-07-22T14:45:29Z</dcterms:created>
  <dcterms:modified xsi:type="dcterms:W3CDTF">2026-07-22T14:57:24Z</dcterms:modified>
</cp:coreProperties>
</file>