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5379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5379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011680"/>
            <a:ext cx="5486400" cy="5486400"/>
          </a:xfrm>
          <a:prstGeom prst="ellipse">
            <a:avLst/>
          </a:prstGeom>
          <a:solidFill>
            <a:srgbClr val="273580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754880"/>
            <a:ext cx="4114800" cy="4114800"/>
          </a:xfrm>
          <a:prstGeom prst="ellipse">
            <a:avLst/>
          </a:prstGeom>
          <a:solidFill>
            <a:srgbClr val="273580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PROGRAMACIÓN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Unidad 1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 a la programación y conceptos fundamentales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356616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3776AB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5661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286000" y="356616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9B4F96"/>
          </a:solidFill>
          <a:ln/>
        </p:spPr>
      </p:sp>
      <p:sp>
        <p:nvSpPr>
          <p:cNvPr id="10" name="Text 8"/>
          <p:cNvSpPr/>
          <p:nvPr/>
        </p:nvSpPr>
        <p:spPr>
          <a:xfrm>
            <a:off x="2286000" y="35661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840480" y="3566160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E76F00"/>
          </a:solidFill>
          <a:ln/>
        </p:spPr>
      </p:sp>
      <p:sp>
        <p:nvSpPr>
          <p:cNvPr id="12" name="Text 10"/>
          <p:cNvSpPr/>
          <p:nvPr/>
        </p:nvSpPr>
        <p:spPr>
          <a:xfrm>
            <a:off x="3840480" y="35661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5760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Instituto Tecnológico de Durango · TecNM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053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en Inteligencia Artificial — Clave IAD-2413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Programación · IAD-2413 · ITD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Contenido de la unidad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53949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517904"/>
            <a:ext cx="438912" cy="438912"/>
          </a:xfrm>
          <a:prstGeom prst="ellipse">
            <a:avLst/>
          </a:prstGeom>
          <a:solidFill>
            <a:srgbClr val="3776AB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5179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3716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Evolución de la programación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286000"/>
            <a:ext cx="53949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04672" y="2432304"/>
            <a:ext cx="438912" cy="438912"/>
          </a:xfrm>
          <a:prstGeom prst="ellipse">
            <a:avLst/>
          </a:prstGeom>
          <a:solidFill>
            <a:srgbClr val="9B4F96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24323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17320" y="22860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Variables, tipos de datos y operadores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3200400"/>
            <a:ext cx="53949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4672" y="3346704"/>
            <a:ext cx="438912" cy="438912"/>
          </a:xfrm>
          <a:prstGeom prst="ellipse">
            <a:avLst/>
          </a:prstGeom>
          <a:solidFill>
            <a:srgbClr val="E76F00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" y="33467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17320" y="32004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Sintaxis en distintos lenguajes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4114800"/>
            <a:ext cx="53949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" y="4261104"/>
            <a:ext cx="438912" cy="438912"/>
          </a:xfrm>
          <a:prstGeom prst="ellipse">
            <a:avLst/>
          </a:prstGeom>
          <a:solidFill>
            <a:srgbClr val="1F9D74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42611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1148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Tipado dinámico vs. tipado estático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0080" y="5029200"/>
            <a:ext cx="53949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04672" y="5175504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51755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17320" y="50292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y coma vs. indentación / llaves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309360" y="1371600"/>
            <a:ext cx="53949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3952" y="1517904"/>
            <a:ext cx="438912" cy="438912"/>
          </a:xfrm>
          <a:prstGeom prst="ellipse">
            <a:avLst/>
          </a:prstGeom>
          <a:solidFill>
            <a:srgbClr val="3776AB"/>
          </a:solidFill>
          <a:ln/>
        </p:spPr>
      </p:sp>
      <p:sp>
        <p:nvSpPr>
          <p:cNvPr id="26" name="Text 24"/>
          <p:cNvSpPr/>
          <p:nvPr/>
        </p:nvSpPr>
        <p:spPr>
          <a:xfrm>
            <a:off x="6473952" y="15179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86600" y="13716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Condicionales: if, else if, switch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309360" y="2286000"/>
            <a:ext cx="53949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73952" y="2432304"/>
            <a:ext cx="438912" cy="438912"/>
          </a:xfrm>
          <a:prstGeom prst="ellipse">
            <a:avLst/>
          </a:prstGeom>
          <a:solidFill>
            <a:srgbClr val="9B4F96"/>
          </a:solidFill>
          <a:ln/>
        </p:spPr>
      </p:sp>
      <p:sp>
        <p:nvSpPr>
          <p:cNvPr id="30" name="Text 28"/>
          <p:cNvSpPr/>
          <p:nvPr/>
        </p:nvSpPr>
        <p:spPr>
          <a:xfrm>
            <a:off x="6473952" y="24323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086600" y="22860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Operadores lógicos y ternario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309360" y="3200400"/>
            <a:ext cx="53949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54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473952" y="3346704"/>
            <a:ext cx="438912" cy="438912"/>
          </a:xfrm>
          <a:prstGeom prst="ellipse">
            <a:avLst/>
          </a:prstGeom>
          <a:solidFill>
            <a:srgbClr val="E76F00"/>
          </a:solidFill>
          <a:ln/>
        </p:spPr>
      </p:sp>
      <p:sp>
        <p:nvSpPr>
          <p:cNvPr id="34" name="Text 32"/>
          <p:cNvSpPr/>
          <p:nvPr/>
        </p:nvSpPr>
        <p:spPr>
          <a:xfrm>
            <a:off x="6473952" y="33467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086600" y="32004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Bucles: for y while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309360" y="4114800"/>
            <a:ext cx="53949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54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73952" y="4261104"/>
            <a:ext cx="438912" cy="438912"/>
          </a:xfrm>
          <a:prstGeom prst="ellipse">
            <a:avLst/>
          </a:prstGeom>
          <a:solidFill>
            <a:srgbClr val="1F9D74"/>
          </a:solidFill>
          <a:ln/>
        </p:spPr>
      </p:sp>
      <p:sp>
        <p:nvSpPr>
          <p:cNvPr id="38" name="Text 36"/>
          <p:cNvSpPr/>
          <p:nvPr/>
        </p:nvSpPr>
        <p:spPr>
          <a:xfrm>
            <a:off x="6473952" y="42611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086600" y="41148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Funciones y métodos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09360" y="5029200"/>
            <a:ext cx="53949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54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473952" y="5175504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2" name="Text 40"/>
          <p:cNvSpPr/>
          <p:nvPr/>
        </p:nvSpPr>
        <p:spPr>
          <a:xfrm>
            <a:off x="6473952" y="51755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086600" y="50292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Cierre: conexión con la Práctica 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5379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Programación · IAD-2413 · ITD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 Evolución de la programación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595628" y="1828800"/>
            <a:ext cx="8961120" cy="0"/>
          </a:xfrm>
          <a:prstGeom prst="line">
            <a:avLst/>
          </a:prstGeom>
          <a:noFill/>
          <a:ln w="25400">
            <a:solidFill>
              <a:srgbClr val="9AA0B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49324" y="1682496"/>
            <a:ext cx="292608" cy="292608"/>
          </a:xfrm>
          <a:prstGeom prst="ellipse">
            <a:avLst/>
          </a:prstGeom>
          <a:solidFill>
            <a:srgbClr val="3776A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18872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776A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1940s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66928" y="2286000"/>
            <a:ext cx="205740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2286000"/>
            <a:ext cx="2057400" cy="73152"/>
          </a:xfrm>
          <a:prstGeom prst="rect">
            <a:avLst/>
          </a:prstGeom>
          <a:solidFill>
            <a:srgbClr val="3776AB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24688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Lenguaje máquina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04088" y="32004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binario ejecutado directamente por el hardware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89604" y="1682496"/>
            <a:ext cx="292608" cy="292608"/>
          </a:xfrm>
          <a:prstGeom prst="ellipse">
            <a:avLst/>
          </a:prstGeom>
          <a:solidFill>
            <a:srgbClr val="9B4F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07208" y="118872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B4F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1950s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807208" y="2286000"/>
            <a:ext cx="205740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807208" y="2286000"/>
            <a:ext cx="2057400" cy="73152"/>
          </a:xfrm>
          <a:prstGeom prst="rect">
            <a:avLst/>
          </a:prstGeom>
          <a:solidFill>
            <a:srgbClr val="9B4F96"/>
          </a:solidFill>
          <a:ln/>
        </p:spPr>
      </p:sp>
      <p:sp>
        <p:nvSpPr>
          <p:cNvPr id="15" name="Text 13"/>
          <p:cNvSpPr/>
          <p:nvPr/>
        </p:nvSpPr>
        <p:spPr>
          <a:xfrm>
            <a:off x="2944368" y="24688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Ensamblador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944368" y="32004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Mnemotécnicos; requiere un ensamblador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929884" y="1682496"/>
            <a:ext cx="292608" cy="292608"/>
          </a:xfrm>
          <a:prstGeom prst="ellipse">
            <a:avLst/>
          </a:prstGeom>
          <a:solidFill>
            <a:srgbClr val="E76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47488" y="118872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76F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1957-70s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47488" y="2286000"/>
            <a:ext cx="205740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047488" y="2286000"/>
            <a:ext cx="2057400" cy="73152"/>
          </a:xfrm>
          <a:prstGeom prst="rect">
            <a:avLst/>
          </a:prstGeom>
          <a:solidFill>
            <a:srgbClr val="E76F00"/>
          </a:solidFill>
          <a:ln/>
        </p:spPr>
      </p:sp>
      <p:sp>
        <p:nvSpPr>
          <p:cNvPr id="21" name="Text 19"/>
          <p:cNvSpPr/>
          <p:nvPr/>
        </p:nvSpPr>
        <p:spPr>
          <a:xfrm>
            <a:off x="5184648" y="24688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 nivel estructurado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184648" y="32004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FORTRAN, COBOL, C: sintaxis legible, portable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170164" y="1682496"/>
            <a:ext cx="292608" cy="292608"/>
          </a:xfrm>
          <a:prstGeom prst="ellipse">
            <a:avLst/>
          </a:prstGeom>
          <a:solidFill>
            <a:srgbClr val="1F9D7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287768" y="118872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9D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1980-90s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7287768" y="2286000"/>
            <a:ext cx="205740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287768" y="2286000"/>
            <a:ext cx="2057400" cy="73152"/>
          </a:xfrm>
          <a:prstGeom prst="rect">
            <a:avLst/>
          </a:prstGeom>
          <a:solidFill>
            <a:srgbClr val="1F9D74"/>
          </a:solidFill>
          <a:ln/>
        </p:spPr>
      </p:sp>
      <p:sp>
        <p:nvSpPr>
          <p:cNvPr id="27" name="Text 25"/>
          <p:cNvSpPr/>
          <p:nvPr/>
        </p:nvSpPr>
        <p:spPr>
          <a:xfrm>
            <a:off x="7424928" y="24688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Orientado a objetos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424928" y="32004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C++, Java, C#: clases, herencia, encapsulamiento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10410444" y="1682496"/>
            <a:ext cx="292608" cy="292608"/>
          </a:xfrm>
          <a:prstGeom prst="ellipse">
            <a:avLst/>
          </a:prstGeom>
          <a:solidFill>
            <a:srgbClr val="1E276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28048" y="118872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1990s-hoy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9528048" y="2286000"/>
            <a:ext cx="205740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54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9528048" y="2286000"/>
            <a:ext cx="2057400" cy="731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3" name="Text 31"/>
          <p:cNvSpPr/>
          <p:nvPr/>
        </p:nvSpPr>
        <p:spPr>
          <a:xfrm>
            <a:off x="9665208" y="24688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Multiparadigma actual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665208" y="32004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JavaScript: IA, datos, alta productividad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457200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EDF0FA"/>
          </a:solidFill>
          <a:ln/>
        </p:spPr>
      </p:sp>
      <p:sp>
        <p:nvSpPr>
          <p:cNvPr id="36" name="Text 34"/>
          <p:cNvSpPr/>
          <p:nvPr/>
        </p:nvSpPr>
        <p:spPr>
          <a:xfrm>
            <a:off x="777240" y="45720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(1995) y C# (2000) comparten raíces sintácticas en C/C++, mientras que Python (1991) priorizó la legibilidad sobre bloques con llaves.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5379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Programación · IAD-2413 · ITD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 Variables y tipos de datos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 de memoria con nombre simbólico que almacena un valor modificable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834640"/>
                <a:gridCol w="2926080"/>
                <a:gridCol w="2926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76A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C#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4F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6F0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Flotante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float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float / double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float / double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Carácter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 (string de 1)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Booleano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boolean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2064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EDF0FA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512064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Operadores comunes:  Aritméticos + - * / %  ·  Relacionales == != &gt; &lt; &gt;= &lt;=  ·  Lógicos (Python: and or not / C# y Java: &amp;&amp; || !)  ·  Asignación = += -= *= /=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5379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Programación · IAD-2413 · ITD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 Sintaxis: declaración de variables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566160" cy="2377440"/>
          </a:xfrm>
          <a:prstGeom prst="roundRect">
            <a:avLst>
              <a:gd name="adj" fmla="val 2308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35608"/>
            <a:ext cx="256032" cy="256032"/>
          </a:xfrm>
          <a:prstGeom prst="ellipse">
            <a:avLst/>
          </a:prstGeom>
          <a:solidFill>
            <a:srgbClr val="3776AB"/>
          </a:solidFill>
          <a:ln/>
        </p:spPr>
      </p:sp>
      <p:sp>
        <p:nvSpPr>
          <p:cNvPr id="6" name="Text 4"/>
          <p:cNvSpPr/>
          <p:nvPr/>
        </p:nvSpPr>
        <p:spPr>
          <a:xfrm>
            <a:off x="1078992" y="14081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edad = 20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nombre = "Ana"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promedio = 8.5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es_regular = True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280160"/>
            <a:ext cx="3566160" cy="2377440"/>
          </a:xfrm>
          <a:prstGeom prst="roundRect">
            <a:avLst>
              <a:gd name="adj" fmla="val 2308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6280" y="1435608"/>
            <a:ext cx="256032" cy="256032"/>
          </a:xfrm>
          <a:prstGeom prst="ellipse">
            <a:avLst/>
          </a:prstGeom>
          <a:solidFill>
            <a:srgbClr val="9B4F96"/>
          </a:solidFill>
          <a:ln/>
        </p:spPr>
      </p:sp>
      <p:sp>
        <p:nvSpPr>
          <p:cNvPr id="10" name="Text 8"/>
          <p:cNvSpPr/>
          <p:nvPr/>
        </p:nvSpPr>
        <p:spPr>
          <a:xfrm>
            <a:off x="4873752" y="14081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26280" y="182880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edad = 20;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nombre = "Ana";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promedio = 8.5;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esRegular = true;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280160"/>
            <a:ext cx="3566160" cy="2377440"/>
          </a:xfrm>
          <a:prstGeom prst="roundRect">
            <a:avLst>
              <a:gd name="adj" fmla="val 2308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21040" y="1435608"/>
            <a:ext cx="256032" cy="256032"/>
          </a:xfrm>
          <a:prstGeom prst="ellipse">
            <a:avLst/>
          </a:prstGeom>
          <a:solidFill>
            <a:srgbClr val="E76F00"/>
          </a:solidFill>
          <a:ln/>
        </p:spPr>
      </p:sp>
      <p:sp>
        <p:nvSpPr>
          <p:cNvPr id="14" name="Text 12"/>
          <p:cNvSpPr/>
          <p:nvPr/>
        </p:nvSpPr>
        <p:spPr>
          <a:xfrm>
            <a:off x="8668512" y="14081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21040" y="182880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edad = 20;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nombre = "Ana";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promedio = 8.5;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 esRegular = true;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EDF0FA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0233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Observa: Python no declara el tipo; C# y Java sí lo declaran explícitamente antes del nombre de la variable.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5379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Programación · IAD-2413 · ITD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Estructura mínima de un programa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651760" cy="3291840"/>
          </a:xfrm>
          <a:prstGeom prst="roundRect">
            <a:avLst>
              <a:gd name="adj" fmla="val 2069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35608"/>
            <a:ext cx="256032" cy="256032"/>
          </a:xfrm>
          <a:prstGeom prst="ellipse">
            <a:avLst/>
          </a:prstGeom>
          <a:solidFill>
            <a:srgbClr val="3776AB"/>
          </a:solidFill>
          <a:ln/>
        </p:spPr>
      </p:sp>
      <p:sp>
        <p:nvSpPr>
          <p:cNvPr id="6" name="Text 4"/>
          <p:cNvSpPr/>
          <p:nvPr/>
        </p:nvSpPr>
        <p:spPr>
          <a:xfrm>
            <a:off x="1078992" y="14081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2377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main():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print("Hola, ITD")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main()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1280160"/>
            <a:ext cx="3657600" cy="3291840"/>
          </a:xfrm>
          <a:prstGeom prst="roundRect">
            <a:avLst>
              <a:gd name="adj" fmla="val 1667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11880" y="1435608"/>
            <a:ext cx="256032" cy="256032"/>
          </a:xfrm>
          <a:prstGeom prst="ellipse">
            <a:avLst/>
          </a:prstGeom>
          <a:solidFill>
            <a:srgbClr val="9B4F96"/>
          </a:solidFill>
          <a:ln/>
        </p:spPr>
      </p:sp>
      <p:sp>
        <p:nvSpPr>
          <p:cNvPr id="10" name="Text 8"/>
          <p:cNvSpPr/>
          <p:nvPr/>
        </p:nvSpPr>
        <p:spPr>
          <a:xfrm>
            <a:off x="3959352" y="14081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11880" y="1828800"/>
            <a:ext cx="3383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System;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Programa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Main()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Console.WriteLine("Hola, ITD");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0" y="1280160"/>
            <a:ext cx="4389120" cy="3291840"/>
          </a:xfrm>
          <a:prstGeom prst="roundRect">
            <a:avLst>
              <a:gd name="adj" fmla="val 1667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0" y="1435608"/>
            <a:ext cx="256032" cy="256032"/>
          </a:xfrm>
          <a:prstGeom prst="ellipse">
            <a:avLst/>
          </a:prstGeom>
          <a:solidFill>
            <a:srgbClr val="E76F00"/>
          </a:solidFill>
          <a:ln/>
        </p:spPr>
      </p:sp>
      <p:sp>
        <p:nvSpPr>
          <p:cNvPr id="14" name="Text 12"/>
          <p:cNvSpPr/>
          <p:nvPr/>
        </p:nvSpPr>
        <p:spPr>
          <a:xfrm>
            <a:off x="7845552" y="14081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0" y="1828800"/>
            <a:ext cx="4114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Programa 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static void main(String[] args) 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System.out.println("Hola, ITD");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93776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EDF0FA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9377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no necesita clase para ejecutar; C# y Java sí (aunque C# moderno permite top-level statements).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5379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Programación · IAD-2413 · ITD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Tipado dinámico vs. tipado estático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el mismo programa “se ve distinto” en cada lenguaje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3840480"/>
                <a:gridCol w="38404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Tipado dinámico — Python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76A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Tipado estático — C# / Java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4F9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¿Cuándo se define el tipo?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ejecución, según el valor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compilación, se declara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¿Puede cambiar el tipo?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sin conversión explícita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errores de tipo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ejecución (más tarde)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compilación (más temprano)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Ventaja principal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Rapidez para prototipar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Mayor seguridad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56616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3721608"/>
            <a:ext cx="256032" cy="256032"/>
          </a:xfrm>
          <a:prstGeom prst="ellipse">
            <a:avLst/>
          </a:prstGeom>
          <a:solidFill>
            <a:srgbClr val="3776AB"/>
          </a:solidFill>
          <a:ln/>
        </p:spPr>
      </p:sp>
      <p:sp>
        <p:nvSpPr>
          <p:cNvPr id="8" name="Text 5"/>
          <p:cNvSpPr/>
          <p:nvPr/>
        </p:nvSpPr>
        <p:spPr>
          <a:xfrm>
            <a:off x="1078992" y="36941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41148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5        # x es int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"cinco"  # válido: ahora str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3400" y="356616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3721608"/>
            <a:ext cx="256032" cy="256032"/>
          </a:xfrm>
          <a:prstGeom prst="ellipse">
            <a:avLst/>
          </a:prstGeom>
          <a:solidFill>
            <a:srgbClr val="9B4F96"/>
          </a:solidFill>
          <a:ln/>
        </p:spPr>
      </p:sp>
      <p:sp>
        <p:nvSpPr>
          <p:cNvPr id="12" name="Text 9"/>
          <p:cNvSpPr/>
          <p:nvPr/>
        </p:nvSpPr>
        <p:spPr>
          <a:xfrm>
            <a:off x="4873752" y="36941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26280" y="41148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x = 5;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"cinco"; // ERROR compilación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138160" y="356616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21040" y="3721608"/>
            <a:ext cx="256032" cy="256032"/>
          </a:xfrm>
          <a:prstGeom prst="ellipse">
            <a:avLst/>
          </a:prstGeom>
          <a:solidFill>
            <a:srgbClr val="E76F00"/>
          </a:solidFill>
          <a:ln/>
        </p:spPr>
      </p:sp>
      <p:sp>
        <p:nvSpPr>
          <p:cNvPr id="16" name="Text 13"/>
          <p:cNvSpPr/>
          <p:nvPr/>
        </p:nvSpPr>
        <p:spPr>
          <a:xfrm>
            <a:off x="8668512" y="36941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321040" y="41148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x = 5;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"cinco"; // ERROR compilación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5486400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EDF0FA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Nota: C# permite inferencia con var, pero sigue siendo fuertemente tipado (no es dinamismo real).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5379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Programación · IAD-2413 · ITD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Uso del punto y coma ( ; 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356616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188720"/>
            <a:ext cx="91440" cy="1280160"/>
          </a:xfrm>
          <a:prstGeom prst="rect">
            <a:avLst/>
          </a:prstGeom>
          <a:solidFill>
            <a:srgbClr val="3776A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26187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76A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5819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requerido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19019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saltos de línea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delimitan las instrucciones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188720"/>
            <a:ext cx="356616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188720"/>
            <a:ext cx="91440" cy="1280160"/>
          </a:xfrm>
          <a:prstGeom prst="rect">
            <a:avLst/>
          </a:prstGeom>
          <a:solidFill>
            <a:srgbClr val="9B4F96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126187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B4F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C#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17720" y="15819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Obligatorio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17720" y="19019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el final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cada sentencia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1188720"/>
            <a:ext cx="356616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38160" y="1188720"/>
            <a:ext cx="91440" cy="1280160"/>
          </a:xfrm>
          <a:prstGeom prst="rect">
            <a:avLst/>
          </a:prstGeom>
          <a:solidFill>
            <a:srgbClr val="E76F00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0" y="126187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76F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15819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Obligatorio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12480" y="19019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el final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cada sentencia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2697480"/>
            <a:ext cx="3566160" cy="2011680"/>
          </a:xfrm>
          <a:prstGeom prst="roundRect">
            <a:avLst>
              <a:gd name="adj" fmla="val 2727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2852928"/>
            <a:ext cx="256032" cy="256032"/>
          </a:xfrm>
          <a:prstGeom prst="ellipse">
            <a:avLst/>
          </a:prstGeom>
          <a:solidFill>
            <a:srgbClr val="3776AB"/>
          </a:solidFill>
          <a:ln/>
        </p:spPr>
      </p:sp>
      <p:sp>
        <p:nvSpPr>
          <p:cNvPr id="21" name="Text 19"/>
          <p:cNvSpPr/>
          <p:nvPr/>
        </p:nvSpPr>
        <p:spPr>
          <a:xfrm>
            <a:off x="1078992" y="2825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32461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5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10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suma = a + b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print(suma)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43400" y="2697480"/>
            <a:ext cx="3566160" cy="2011680"/>
          </a:xfrm>
          <a:prstGeom prst="roundRect">
            <a:avLst>
              <a:gd name="adj" fmla="val 2727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26280" y="2852928"/>
            <a:ext cx="256032" cy="256032"/>
          </a:xfrm>
          <a:prstGeom prst="ellipse">
            <a:avLst/>
          </a:prstGeom>
          <a:solidFill>
            <a:srgbClr val="9B4F96"/>
          </a:solidFill>
          <a:ln/>
        </p:spPr>
      </p:sp>
      <p:sp>
        <p:nvSpPr>
          <p:cNvPr id="25" name="Text 23"/>
          <p:cNvSpPr/>
          <p:nvPr/>
        </p:nvSpPr>
        <p:spPr>
          <a:xfrm>
            <a:off x="4873752" y="2825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26280" y="32461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a = 5;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b = 10;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suma = a + b;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Console.WriteLine(suma);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138160" y="2697480"/>
            <a:ext cx="3566160" cy="2011680"/>
          </a:xfrm>
          <a:prstGeom prst="roundRect">
            <a:avLst>
              <a:gd name="adj" fmla="val 2727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321040" y="2852928"/>
            <a:ext cx="256032" cy="256032"/>
          </a:xfrm>
          <a:prstGeom prst="ellipse">
            <a:avLst/>
          </a:prstGeom>
          <a:solidFill>
            <a:srgbClr val="E76F00"/>
          </a:solidFill>
          <a:ln/>
        </p:spPr>
      </p:sp>
      <p:sp>
        <p:nvSpPr>
          <p:cNvPr id="29" name="Text 27"/>
          <p:cNvSpPr/>
          <p:nvPr/>
        </p:nvSpPr>
        <p:spPr>
          <a:xfrm>
            <a:off x="8668512" y="2825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321040" y="32461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a = 5;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b = 10;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suma = a + b;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System.out.println(suma);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502920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EDF0FA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5029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omite el ; en C# o Java, el compilador arroja error. En Python no aplica: no se usa para terminar sentencias.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5379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Programación · IAD-2413 · ITD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Indentación (Python) vs. llaves { } (C# y Java)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377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indentación no es estética, es sintaxis obligatoria. Define qué instrucciones pertenecen a un bloque. Un error de sangría provoca IndentationError.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9B4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y Java: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bloques se delimitan con llaves { }. La indentación es solo una convención de legibilidad.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3566160" cy="2743200"/>
          </a:xfrm>
          <a:prstGeom prst="roundRect">
            <a:avLst>
              <a:gd name="adj" fmla="val 2000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2350008"/>
            <a:ext cx="256032" cy="256032"/>
          </a:xfrm>
          <a:prstGeom prst="ellipse">
            <a:avLst/>
          </a:prstGeom>
          <a:solidFill>
            <a:srgbClr val="3776AB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3225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3291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edad &gt;= 18: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print("Es mayor")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print("Puede votar")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print("Es menor")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2194560"/>
            <a:ext cx="3566160" cy="2743200"/>
          </a:xfrm>
          <a:prstGeom prst="roundRect">
            <a:avLst>
              <a:gd name="adj" fmla="val 2000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2350008"/>
            <a:ext cx="256032" cy="256032"/>
          </a:xfrm>
          <a:prstGeom prst="ellipse">
            <a:avLst/>
          </a:prstGeom>
          <a:solidFill>
            <a:srgbClr val="9B4F96"/>
          </a:solidFill>
          <a:ln/>
        </p:spPr>
      </p:sp>
      <p:sp>
        <p:nvSpPr>
          <p:cNvPr id="11" name="Text 9"/>
          <p:cNvSpPr/>
          <p:nvPr/>
        </p:nvSpPr>
        <p:spPr>
          <a:xfrm>
            <a:off x="4873752" y="23225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26280" y="2743200"/>
            <a:ext cx="3291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(edad &gt;= 18)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Console.WriteLine("Mayor");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Console.WriteLine("Vota");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Console.WriteLine("Menor");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2194560"/>
            <a:ext cx="3566160" cy="2743200"/>
          </a:xfrm>
          <a:prstGeom prst="roundRect">
            <a:avLst>
              <a:gd name="adj" fmla="val 2000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21040" y="2350008"/>
            <a:ext cx="256032" cy="256032"/>
          </a:xfrm>
          <a:prstGeom prst="ellipse">
            <a:avLst/>
          </a:prstGeom>
          <a:solidFill>
            <a:srgbClr val="E76F00"/>
          </a:solidFill>
          <a:ln/>
        </p:spPr>
      </p:sp>
      <p:sp>
        <p:nvSpPr>
          <p:cNvPr id="15" name="Text 13"/>
          <p:cNvSpPr/>
          <p:nvPr/>
        </p:nvSpPr>
        <p:spPr>
          <a:xfrm>
            <a:off x="8668512" y="23225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21040" y="2743200"/>
            <a:ext cx="3291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(edad &gt;= 18) 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System.out.println("Mayor");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System.out.println("Vota");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System.out.println("Menor");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521208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EDF0FA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52120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en Python: mezclar espacios y tabulaciones rompe el programa. En C#/Java esto solo afecta la legibilidad.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5379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Programación · IAD-2413 · ITD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 Condicional simple: if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 un bloque solo si la condición es verdadera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66160" cy="2377440"/>
          </a:xfrm>
          <a:prstGeom prst="roundRect">
            <a:avLst>
              <a:gd name="adj" fmla="val 2308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527048"/>
            <a:ext cx="256032" cy="256032"/>
          </a:xfrm>
          <a:prstGeom prst="ellipse">
            <a:avLst/>
          </a:prstGeom>
          <a:solidFill>
            <a:srgbClr val="3776AB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14996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temperatura = 35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temperatura &gt; 30: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print("Hace calor")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1371600"/>
            <a:ext cx="3566160" cy="2377440"/>
          </a:xfrm>
          <a:prstGeom prst="roundRect">
            <a:avLst>
              <a:gd name="adj" fmla="val 2308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527048"/>
            <a:ext cx="256032" cy="256032"/>
          </a:xfrm>
          <a:prstGeom prst="ellipse">
            <a:avLst/>
          </a:prstGeom>
          <a:solidFill>
            <a:srgbClr val="9B4F96"/>
          </a:solidFill>
          <a:ln/>
        </p:spPr>
      </p:sp>
      <p:sp>
        <p:nvSpPr>
          <p:cNvPr id="11" name="Text 9"/>
          <p:cNvSpPr/>
          <p:nvPr/>
        </p:nvSpPr>
        <p:spPr>
          <a:xfrm>
            <a:off x="4873752" y="14996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26280" y="192024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temperatura = 35;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(temperatura &gt; 30)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Console.WriteLine("Hace calor");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1371600"/>
            <a:ext cx="3566160" cy="2377440"/>
          </a:xfrm>
          <a:prstGeom prst="roundRect">
            <a:avLst>
              <a:gd name="adj" fmla="val 2308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21040" y="1527048"/>
            <a:ext cx="256032" cy="256032"/>
          </a:xfrm>
          <a:prstGeom prst="ellipse">
            <a:avLst/>
          </a:prstGeom>
          <a:solidFill>
            <a:srgbClr val="E76F00"/>
          </a:solidFill>
          <a:ln/>
        </p:spPr>
      </p:sp>
      <p:sp>
        <p:nvSpPr>
          <p:cNvPr id="15" name="Text 13"/>
          <p:cNvSpPr/>
          <p:nvPr/>
        </p:nvSpPr>
        <p:spPr>
          <a:xfrm>
            <a:off x="8668512" y="14996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21040" y="192024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temperatura = 35;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(temperatura &gt; 30) 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System.out.println("Hace calor");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11480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EDF0FA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1148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condición es falsa, el bloque se omite y el programa continúa. C# y Java: condición entre paréntesis; Python: dos puntos (:) e indentación.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9D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(temperatura = 35): </a:t>
            </a:r>
            <a:pPr indent="0" marL="0">
              <a:buNone/>
            </a:pPr>
            <a:r>
              <a:rPr lang="en-US" sz="1500" dirty="0">
                <a:solidFill>
                  <a:srgbClr val="2B2B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Hace calor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5379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Programación · IAD-2413 · ITD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 Condicional doble: if - else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entre dos caminos: uno si es verdadera y otro si es falsa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66160" cy="2926080"/>
          </a:xfrm>
          <a:prstGeom prst="roundRect">
            <a:avLst>
              <a:gd name="adj" fmla="val 1875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527048"/>
            <a:ext cx="256032" cy="256032"/>
          </a:xfrm>
          <a:prstGeom prst="ellipse">
            <a:avLst/>
          </a:prstGeom>
          <a:solidFill>
            <a:srgbClr val="3776AB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14996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calificacion = 85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calificacion &gt;= 70: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print("Aprobado")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print("Reprobado")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1371600"/>
            <a:ext cx="3566160" cy="2926080"/>
          </a:xfrm>
          <a:prstGeom prst="roundRect">
            <a:avLst>
              <a:gd name="adj" fmla="val 1875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527048"/>
            <a:ext cx="256032" cy="256032"/>
          </a:xfrm>
          <a:prstGeom prst="ellipse">
            <a:avLst/>
          </a:prstGeom>
          <a:solidFill>
            <a:srgbClr val="9B4F96"/>
          </a:solidFill>
          <a:ln/>
        </p:spPr>
      </p:sp>
      <p:sp>
        <p:nvSpPr>
          <p:cNvPr id="11" name="Text 9"/>
          <p:cNvSpPr/>
          <p:nvPr/>
        </p:nvSpPr>
        <p:spPr>
          <a:xfrm>
            <a:off x="4873752" y="14996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26280" y="192024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calificacion = 85;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(calificacion &gt;= 70)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Console.WriteLine("Aprobado");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Console.WriteLine("Reprobado");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1371600"/>
            <a:ext cx="3566160" cy="2926080"/>
          </a:xfrm>
          <a:prstGeom prst="roundRect">
            <a:avLst>
              <a:gd name="adj" fmla="val 1875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21040" y="1527048"/>
            <a:ext cx="256032" cy="256032"/>
          </a:xfrm>
          <a:prstGeom prst="ellipse">
            <a:avLst/>
          </a:prstGeom>
          <a:solidFill>
            <a:srgbClr val="E76F00"/>
          </a:solidFill>
          <a:ln/>
        </p:spPr>
      </p:sp>
      <p:sp>
        <p:nvSpPr>
          <p:cNvPr id="15" name="Text 13"/>
          <p:cNvSpPr/>
          <p:nvPr/>
        </p:nvSpPr>
        <p:spPr>
          <a:xfrm>
            <a:off x="8668512" y="14996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21040" y="192024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calificacion = 85;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(calificacion &gt;= 70) 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System.out.println("Aprobado");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System.out.println("Reprobado");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9D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(calificacion = 85): </a:t>
            </a:r>
            <a:pPr indent="0" marL="0">
              <a:buNone/>
            </a:pPr>
            <a:r>
              <a:rPr lang="en-US" sz="1500" dirty="0">
                <a:solidFill>
                  <a:srgbClr val="2B2B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Aprobado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212080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EDF0FA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52120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 se ejecuta exactamente uno de los dos bloques, nunca ambos y nunca ninguno.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5379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Programación · IAD-2413 · ITD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 Condicional múltiple: elif / else if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usa elif; C# y Java usan else if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3566160" cy="4023360"/>
          </a:xfrm>
          <a:prstGeom prst="roundRect">
            <a:avLst>
              <a:gd name="adj" fmla="val 1538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435608"/>
            <a:ext cx="256032" cy="256032"/>
          </a:xfrm>
          <a:prstGeom prst="ellipse">
            <a:avLst/>
          </a:prstGeom>
          <a:solidFill>
            <a:srgbClr val="3776AB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14081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3291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calificacion = 85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calificacion &gt;= 90: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print("Excelente")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elif calificacion &gt;= 80: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print("Notable")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elif calificacion &gt;= 70: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print("Aprobado")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print("Reprobado")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1280160"/>
            <a:ext cx="3566160" cy="4023360"/>
          </a:xfrm>
          <a:prstGeom prst="roundRect">
            <a:avLst>
              <a:gd name="adj" fmla="val 1538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435608"/>
            <a:ext cx="256032" cy="256032"/>
          </a:xfrm>
          <a:prstGeom prst="ellipse">
            <a:avLst/>
          </a:prstGeom>
          <a:solidFill>
            <a:srgbClr val="9B4F96"/>
          </a:solidFill>
          <a:ln/>
        </p:spPr>
      </p:sp>
      <p:sp>
        <p:nvSpPr>
          <p:cNvPr id="11" name="Text 9"/>
          <p:cNvSpPr/>
          <p:nvPr/>
        </p:nvSpPr>
        <p:spPr>
          <a:xfrm>
            <a:off x="4873752" y="14081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26280" y="1828800"/>
            <a:ext cx="3291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calificacion = 85;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(calificacion &gt;= 90)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Console.WriteLine("Excelente");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 if (calificacion &gt;= 80)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Console.WriteLine("Notable");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 if (calificacion &gt;= 70)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Console.WriteLine("Aprobado");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Console.WriteLine("Reprobado");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1280160"/>
            <a:ext cx="3566160" cy="4023360"/>
          </a:xfrm>
          <a:prstGeom prst="roundRect">
            <a:avLst>
              <a:gd name="adj" fmla="val 1538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21040" y="1435608"/>
            <a:ext cx="256032" cy="256032"/>
          </a:xfrm>
          <a:prstGeom prst="ellipse">
            <a:avLst/>
          </a:prstGeom>
          <a:solidFill>
            <a:srgbClr val="E76F00"/>
          </a:solidFill>
          <a:ln/>
        </p:spPr>
      </p:sp>
      <p:sp>
        <p:nvSpPr>
          <p:cNvPr id="15" name="Text 13"/>
          <p:cNvSpPr/>
          <p:nvPr/>
        </p:nvSpPr>
        <p:spPr>
          <a:xfrm>
            <a:off x="8668512" y="14081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21040" y="1828800"/>
            <a:ext cx="3291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calificacion = 85;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(calificacion &gt;= 90) 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System.out.println("Excelente");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if (calificacion &gt;= 80) 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System.out.println("Notable");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if (calificacion &gt;= 70) 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System.out.println("Aprobado");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System.out.println("Reprobado");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EDF0FA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con 85: Notable. Aunque 85 también cumple &gt;= 70, solo se ejecuta el primer bloque verdadero: el orden de las condiciones importa.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5379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Programación · IAD-2413 · ITD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 Condiciones compuestas: operadores lógicos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2194560"/>
                <a:gridCol w="48463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Operación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76A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C# y Java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4F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 (ambas)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&amp;&amp;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Verdadero solo si ambas lo 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(alguna)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||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Verdadero si al menos una lo 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Negación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!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Invierte el valor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2926080"/>
            <a:ext cx="3566160" cy="2468880"/>
          </a:xfrm>
          <a:prstGeom prst="roundRect">
            <a:avLst>
              <a:gd name="adj" fmla="val 2222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3081528"/>
            <a:ext cx="256032" cy="256032"/>
          </a:xfrm>
          <a:prstGeom prst="ellipse">
            <a:avLst/>
          </a:prstGeom>
          <a:solidFill>
            <a:srgbClr val="3776AB"/>
          </a:solidFill>
          <a:ln/>
        </p:spPr>
      </p:sp>
      <p:sp>
        <p:nvSpPr>
          <p:cNvPr id="7" name="Text 4"/>
          <p:cNvSpPr/>
          <p:nvPr/>
        </p:nvSpPr>
        <p:spPr>
          <a:xfrm>
            <a:off x="1078992" y="30540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34747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edad = 20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tiene_ine = True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edad &gt;= 18 and tiene_ine: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print("Puede votar")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edad &lt; 18 or not tiene_ine: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print("No vota")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43400" y="2926080"/>
            <a:ext cx="3566160" cy="2468880"/>
          </a:xfrm>
          <a:prstGeom prst="roundRect">
            <a:avLst>
              <a:gd name="adj" fmla="val 2222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3081528"/>
            <a:ext cx="256032" cy="256032"/>
          </a:xfrm>
          <a:prstGeom prst="ellipse">
            <a:avLst/>
          </a:prstGeom>
          <a:solidFill>
            <a:srgbClr val="9B4F96"/>
          </a:solidFill>
          <a:ln/>
        </p:spPr>
      </p:sp>
      <p:sp>
        <p:nvSpPr>
          <p:cNvPr id="11" name="Text 8"/>
          <p:cNvSpPr/>
          <p:nvPr/>
        </p:nvSpPr>
        <p:spPr>
          <a:xfrm>
            <a:off x="4873752" y="30540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26280" y="34747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(edad &gt;= 18 &amp;&amp; tieneIne)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Console.WriteLine("Puede votar");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(edad &lt; 18 || !tieneIne)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Console.WriteLine("No vota");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138160" y="2926080"/>
            <a:ext cx="3566160" cy="2468880"/>
          </a:xfrm>
          <a:prstGeom prst="roundRect">
            <a:avLst>
              <a:gd name="adj" fmla="val 2222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321040" y="3081528"/>
            <a:ext cx="256032" cy="256032"/>
          </a:xfrm>
          <a:prstGeom prst="ellipse">
            <a:avLst/>
          </a:prstGeom>
          <a:solidFill>
            <a:srgbClr val="E76F00"/>
          </a:solidFill>
          <a:ln/>
        </p:spPr>
      </p:sp>
      <p:sp>
        <p:nvSpPr>
          <p:cNvPr id="15" name="Text 12"/>
          <p:cNvSpPr/>
          <p:nvPr/>
        </p:nvSpPr>
        <p:spPr>
          <a:xfrm>
            <a:off x="8668512" y="30540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321040" y="34747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(edad &gt;= 18 &amp;&amp; tieneIne) 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System.out.println("Puede votar");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(edad &lt; 18 || !tieneIne) 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System.out.println("No vota");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557784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EDF0FA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Cortocircuito: en A and B, si A es falso, B ni se evalúa; en A or B, si A es verdadero, B ni se evalúa (igual en los tres lenguajes).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5379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Programación · IAD-2413 · ITD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 Selección por valor: match / switch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una variable contra varios valores exactos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3566160" cy="3566160"/>
          </a:xfrm>
          <a:prstGeom prst="roundRect">
            <a:avLst>
              <a:gd name="adj" fmla="val 1538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435608"/>
            <a:ext cx="256032" cy="256032"/>
          </a:xfrm>
          <a:prstGeom prst="ellipse">
            <a:avLst/>
          </a:prstGeom>
          <a:solidFill>
            <a:srgbClr val="3776AB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14081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3291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 = 2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 dia: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1: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nombre = "Lunes"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2: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nombre = "Martes"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_: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nombre = "Otro día"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print(nombre)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1280160"/>
            <a:ext cx="3566160" cy="3566160"/>
          </a:xfrm>
          <a:prstGeom prst="roundRect">
            <a:avLst>
              <a:gd name="adj" fmla="val 1538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435608"/>
            <a:ext cx="256032" cy="256032"/>
          </a:xfrm>
          <a:prstGeom prst="ellipse">
            <a:avLst/>
          </a:prstGeom>
          <a:solidFill>
            <a:srgbClr val="9B4F96"/>
          </a:solidFill>
          <a:ln/>
        </p:spPr>
      </p:sp>
      <p:sp>
        <p:nvSpPr>
          <p:cNvPr id="11" name="Text 9"/>
          <p:cNvSpPr/>
          <p:nvPr/>
        </p:nvSpPr>
        <p:spPr>
          <a:xfrm>
            <a:off x="4873752" y="14081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26280" y="1828800"/>
            <a:ext cx="3291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dia = 2;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nombre;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 (dia)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1: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nombre = "Lunes";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break;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2: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nombre = "Martes";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break;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default: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nombre = "Otro día";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break;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Console.WriteLine(nombre);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1280160"/>
            <a:ext cx="3566160" cy="3566160"/>
          </a:xfrm>
          <a:prstGeom prst="roundRect">
            <a:avLst>
              <a:gd name="adj" fmla="val 1538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21040" y="1435608"/>
            <a:ext cx="256032" cy="256032"/>
          </a:xfrm>
          <a:prstGeom prst="ellipse">
            <a:avLst/>
          </a:prstGeom>
          <a:solidFill>
            <a:srgbClr val="E76F00"/>
          </a:solidFill>
          <a:ln/>
        </p:spPr>
      </p:sp>
      <p:sp>
        <p:nvSpPr>
          <p:cNvPr id="15" name="Text 13"/>
          <p:cNvSpPr/>
          <p:nvPr/>
        </p:nvSpPr>
        <p:spPr>
          <a:xfrm>
            <a:off x="8668512" y="14081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21040" y="1828800"/>
            <a:ext cx="3291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dia = 2;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nombre;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 (dia) 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1: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nombre = "Lunes";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break;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2: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nombre = "Martes";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break;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default: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nombre = "Otro día";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break;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System.out.println(nombre);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4983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3.10+ · case _ y default significan “cualquier otro caso” · Salida con dia = 2: Martes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44068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EDF0FA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break en Java, la ejecución sigue al siguiente case (fall-through). En C# eso es error de compilación (CS0163). Python no necesita break.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5379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Programación · IAD-2413 · ITD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 Operador ternario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if-else en una sola línea: es una expresión que produce un valor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66160" cy="2468880"/>
          </a:xfrm>
          <a:prstGeom prst="roundRect">
            <a:avLst>
              <a:gd name="adj" fmla="val 2222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527048"/>
            <a:ext cx="256032" cy="256032"/>
          </a:xfrm>
          <a:prstGeom prst="ellipse">
            <a:avLst/>
          </a:prstGeom>
          <a:solidFill>
            <a:srgbClr val="3776AB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14996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valor_v if condicion else valor_f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estado = (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"Aprobado"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calificacion &gt;= 70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 "Reprobado"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1371600"/>
            <a:ext cx="3566160" cy="2468880"/>
          </a:xfrm>
          <a:prstGeom prst="roundRect">
            <a:avLst>
              <a:gd name="adj" fmla="val 2222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527048"/>
            <a:ext cx="256032" cy="256032"/>
          </a:xfrm>
          <a:prstGeom prst="ellipse">
            <a:avLst/>
          </a:prstGeom>
          <a:solidFill>
            <a:srgbClr val="9B4F96"/>
          </a:solidFill>
          <a:ln/>
        </p:spPr>
      </p:sp>
      <p:sp>
        <p:nvSpPr>
          <p:cNvPr id="11" name="Text 9"/>
          <p:cNvSpPr/>
          <p:nvPr/>
        </p:nvSpPr>
        <p:spPr>
          <a:xfrm>
            <a:off x="4873752" y="14996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26280" y="192024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condicion ? valor_v : valor_f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estado =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calificacion &gt;= 70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 "Aprobado"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"Reprobado";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1371600"/>
            <a:ext cx="3566160" cy="2468880"/>
          </a:xfrm>
          <a:prstGeom prst="roundRect">
            <a:avLst>
              <a:gd name="adj" fmla="val 2222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21040" y="1527048"/>
            <a:ext cx="256032" cy="256032"/>
          </a:xfrm>
          <a:prstGeom prst="ellipse">
            <a:avLst/>
          </a:prstGeom>
          <a:solidFill>
            <a:srgbClr val="E76F00"/>
          </a:solidFill>
          <a:ln/>
        </p:spPr>
      </p:sp>
      <p:sp>
        <p:nvSpPr>
          <p:cNvPr id="15" name="Text 13"/>
          <p:cNvSpPr/>
          <p:nvPr/>
        </p:nvSpPr>
        <p:spPr>
          <a:xfrm>
            <a:off x="8668512" y="14996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21040" y="192024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condicion ? valor_v : valor_f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estado =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calificacion &gt;= 70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 "Aprobado"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"Reprobado";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20624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EDF0FA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206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Equivale a un if-else que asigna a estado. Con calificacion = 85 el resultado es Aprobado. Úsalo solo para decisiones simples.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5379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Programación · IAD-2413 · ITD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 Errores comunes con condicionales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737360"/>
                <a:gridCol w="53949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Lenguaje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ocurre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x = 5 en lugar de if x == 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asigna y == compara; el compilador/intérprete marca error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Comparar cadenas con ==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 referencias, no contenido: usar cadena.equals("texto")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; justo después de if (...)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C# y Java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if queda vacío y el bloque siguiente siempre se ejecuta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Olvidar : al final de if / else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SyntaxError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Indentación incorrecta del bloque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IndentationError o código fuera del if sin aviso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Olvidar break en un case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 / C#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Java: fall-through silencioso. C#: error CS0163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5379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Programación · IAD-2413 · ITD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 Estructuras de control — bucle for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566160" cy="2194560"/>
          </a:xfrm>
          <a:prstGeom prst="roundRect">
            <a:avLst>
              <a:gd name="adj" fmla="val 2500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35608"/>
            <a:ext cx="256032" cy="256032"/>
          </a:xfrm>
          <a:prstGeom prst="ellipse">
            <a:avLst/>
          </a:prstGeom>
          <a:solidFill>
            <a:srgbClr val="3776AB"/>
          </a:solidFill>
          <a:ln/>
        </p:spPr>
      </p:sp>
      <p:sp>
        <p:nvSpPr>
          <p:cNvPr id="6" name="Text 4"/>
          <p:cNvSpPr/>
          <p:nvPr/>
        </p:nvSpPr>
        <p:spPr>
          <a:xfrm>
            <a:off x="1078992" y="14081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range(5):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print(i)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280160"/>
            <a:ext cx="3566160" cy="2194560"/>
          </a:xfrm>
          <a:prstGeom prst="roundRect">
            <a:avLst>
              <a:gd name="adj" fmla="val 2500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6280" y="1435608"/>
            <a:ext cx="256032" cy="256032"/>
          </a:xfrm>
          <a:prstGeom prst="ellipse">
            <a:avLst/>
          </a:prstGeom>
          <a:solidFill>
            <a:srgbClr val="9B4F96"/>
          </a:solidFill>
          <a:ln/>
        </p:spPr>
      </p:sp>
      <p:sp>
        <p:nvSpPr>
          <p:cNvPr id="10" name="Text 8"/>
          <p:cNvSpPr/>
          <p:nvPr/>
        </p:nvSpPr>
        <p:spPr>
          <a:xfrm>
            <a:off x="4873752" y="14081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26280" y="182880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5; i++)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Console.WriteLine(i);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280160"/>
            <a:ext cx="3566160" cy="2194560"/>
          </a:xfrm>
          <a:prstGeom prst="roundRect">
            <a:avLst>
              <a:gd name="adj" fmla="val 2500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21040" y="1435608"/>
            <a:ext cx="256032" cy="256032"/>
          </a:xfrm>
          <a:prstGeom prst="ellipse">
            <a:avLst/>
          </a:prstGeom>
          <a:solidFill>
            <a:srgbClr val="E76F00"/>
          </a:solidFill>
          <a:ln/>
        </p:spPr>
      </p:sp>
      <p:sp>
        <p:nvSpPr>
          <p:cNvPr id="14" name="Text 12"/>
          <p:cNvSpPr/>
          <p:nvPr/>
        </p:nvSpPr>
        <p:spPr>
          <a:xfrm>
            <a:off x="8668512" y="14081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21040" y="182880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5; i++) 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System.out.println(i);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EDF0FA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9319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lenguajes comparten la lógica del bucle for; cambia únicamente la sintaxis de delimitación de bloques.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5379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Programación · IAD-2413 · ITD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 Estructuras de control — bucle while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566160" cy="2560320"/>
          </a:xfrm>
          <a:prstGeom prst="roundRect">
            <a:avLst>
              <a:gd name="adj" fmla="val 2143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35608"/>
            <a:ext cx="256032" cy="256032"/>
          </a:xfrm>
          <a:prstGeom prst="ellipse">
            <a:avLst/>
          </a:prstGeom>
          <a:solidFill>
            <a:srgbClr val="3776AB"/>
          </a:solidFill>
          <a:ln/>
        </p:spPr>
      </p:sp>
      <p:sp>
        <p:nvSpPr>
          <p:cNvPr id="6" name="Text 4"/>
          <p:cNvSpPr/>
          <p:nvPr/>
        </p:nvSpPr>
        <p:spPr>
          <a:xfrm>
            <a:off x="1078992" y="14081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3291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contador = 0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contador &lt; 5: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print(contador)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contador += 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280160"/>
            <a:ext cx="3566160" cy="2560320"/>
          </a:xfrm>
          <a:prstGeom prst="roundRect">
            <a:avLst>
              <a:gd name="adj" fmla="val 2143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6280" y="1435608"/>
            <a:ext cx="256032" cy="256032"/>
          </a:xfrm>
          <a:prstGeom prst="ellipse">
            <a:avLst/>
          </a:prstGeom>
          <a:solidFill>
            <a:srgbClr val="9B4F96"/>
          </a:solidFill>
          <a:ln/>
        </p:spPr>
      </p:sp>
      <p:sp>
        <p:nvSpPr>
          <p:cNvPr id="10" name="Text 8"/>
          <p:cNvSpPr/>
          <p:nvPr/>
        </p:nvSpPr>
        <p:spPr>
          <a:xfrm>
            <a:off x="4873752" y="14081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26280" y="1828800"/>
            <a:ext cx="3291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contador = 0;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(contador &lt; 5)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Console.WriteLine(contador);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contador++;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280160"/>
            <a:ext cx="3566160" cy="2560320"/>
          </a:xfrm>
          <a:prstGeom prst="roundRect">
            <a:avLst>
              <a:gd name="adj" fmla="val 2143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21040" y="1435608"/>
            <a:ext cx="256032" cy="256032"/>
          </a:xfrm>
          <a:prstGeom prst="ellipse">
            <a:avLst/>
          </a:prstGeom>
          <a:solidFill>
            <a:srgbClr val="E76F00"/>
          </a:solidFill>
          <a:ln/>
        </p:spPr>
      </p:sp>
      <p:sp>
        <p:nvSpPr>
          <p:cNvPr id="14" name="Text 12"/>
          <p:cNvSpPr/>
          <p:nvPr/>
        </p:nvSpPr>
        <p:spPr>
          <a:xfrm>
            <a:off x="8668512" y="14081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21040" y="1828800"/>
            <a:ext cx="3291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contador = 0;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(contador &lt; 5) 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System.out.println(contador);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contador++;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5379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Programación · IAD-2413 · ITD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 Definición de funciones y métodos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77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tipos declarados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43400" y="10972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B4F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de una clase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138160" y="10972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7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de una clase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566160" cy="3017520"/>
          </a:xfrm>
          <a:prstGeom prst="roundRect">
            <a:avLst>
              <a:gd name="adj" fmla="val 1818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1618488"/>
            <a:ext cx="256032" cy="256032"/>
          </a:xfrm>
          <a:prstGeom prst="ellipse">
            <a:avLst/>
          </a:prstGeom>
          <a:solidFill>
            <a:srgbClr val="3776AB"/>
          </a:solidFill>
          <a:ln/>
        </p:spPr>
      </p:sp>
      <p:sp>
        <p:nvSpPr>
          <p:cNvPr id="9" name="Text 7"/>
          <p:cNvSpPr/>
          <p:nvPr/>
        </p:nvSpPr>
        <p:spPr>
          <a:xfrm>
            <a:off x="1078992" y="15910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01168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sumar(a, b):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a + b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print(sumar(3, 4))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43400" y="1463040"/>
            <a:ext cx="3566160" cy="3017520"/>
          </a:xfrm>
          <a:prstGeom prst="roundRect">
            <a:avLst>
              <a:gd name="adj" fmla="val 1818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26280" y="1618488"/>
            <a:ext cx="256032" cy="256032"/>
          </a:xfrm>
          <a:prstGeom prst="ellipse">
            <a:avLst/>
          </a:prstGeom>
          <a:solidFill>
            <a:srgbClr val="9B4F96"/>
          </a:solidFill>
          <a:ln/>
        </p:spPr>
      </p:sp>
      <p:sp>
        <p:nvSpPr>
          <p:cNvPr id="13" name="Text 11"/>
          <p:cNvSpPr/>
          <p:nvPr/>
        </p:nvSpPr>
        <p:spPr>
          <a:xfrm>
            <a:off x="4873752" y="15910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26280" y="201168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Operaciones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int Sumar(int a, int b)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 + b;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38160" y="1463040"/>
            <a:ext cx="3566160" cy="3017520"/>
          </a:xfrm>
          <a:prstGeom prst="roundRect">
            <a:avLst>
              <a:gd name="adj" fmla="val 1818"/>
            </a:avLst>
          </a:prstGeom>
          <a:solidFill>
            <a:srgbClr val="1B1D2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1618488"/>
            <a:ext cx="256032" cy="256032"/>
          </a:xfrm>
          <a:prstGeom prst="ellipse">
            <a:avLst/>
          </a:prstGeom>
          <a:solidFill>
            <a:srgbClr val="E76F00"/>
          </a:solidFill>
          <a:ln/>
        </p:spPr>
      </p:sp>
      <p:sp>
        <p:nvSpPr>
          <p:cNvPr id="17" name="Text 15"/>
          <p:cNvSpPr/>
          <p:nvPr/>
        </p:nvSpPr>
        <p:spPr>
          <a:xfrm>
            <a:off x="8668512" y="15910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21040" y="201168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Operaciones 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int sumar(int a, int b) 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 + b;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75488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EDF0FA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7548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modularidad favorece la reutilización de código y facilita la depuración en cualquier lenguaje.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5379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Programación · IAD-2413 · ITD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Tabla resumen comparativa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2560320"/>
                <a:gridCol w="2651760"/>
                <a:gridCol w="24688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76A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C#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4F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6F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Dinámico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Estático (con var opcional)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Estático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 de sentencia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Salto de línea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;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;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Delimitación de bloques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Indentación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Llaves { 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Llaves { }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Condicional múltiple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/ elif / else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/ else if / else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/ else if / else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Operadores lógicos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  or  not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&amp;&amp;  ||  !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&amp;&amp;  ||  !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Selección por valor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 / case (3.10+)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switch + break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switch + break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Ternario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if c else 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? a : 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? a : 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¿Requiere clase para ejecutar?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Compilado / interpretado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Compilado a IL (CLR)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Compilado a bytecode (JVM)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5379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2011680"/>
            <a:ext cx="3657600" cy="3657600"/>
          </a:xfrm>
          <a:prstGeom prst="ellipse">
            <a:avLst/>
          </a:prstGeom>
          <a:solidFill>
            <a:srgbClr val="27358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Conexión con la Práctica 1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Calculadora básica en varios lenguajes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457200" cy="457200"/>
          </a:xfrm>
          <a:prstGeom prst="ellipse">
            <a:avLst/>
          </a:prstGeom>
          <a:solidFill>
            <a:srgbClr val="3776A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08760" y="224028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Investigar la evolución de los lenguajes de programación.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3017520"/>
            <a:ext cx="457200" cy="457200"/>
          </a:xfrm>
          <a:prstGeom prst="ellipse">
            <a:avLst/>
          </a:prstGeom>
          <a:solidFill>
            <a:srgbClr val="9B4F96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508760" y="297180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variables, operadores y funciones para suma, resta, multiplicación y división.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" y="3749040"/>
            <a:ext cx="457200" cy="457200"/>
          </a:xfrm>
          <a:prstGeom prst="ellipse">
            <a:avLst/>
          </a:prstGeom>
          <a:solidFill>
            <a:srgbClr val="E76F00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70332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Codificar la solución en Python, C# y Java.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" y="4480560"/>
            <a:ext cx="457200" cy="457200"/>
          </a:xfrm>
          <a:prstGeom prst="ellipse">
            <a:avLst/>
          </a:prstGeom>
          <a:solidFill>
            <a:srgbClr val="1F9D74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480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508760" y="443484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condicionales (if / else if) y bucles para permitir cálculos repetidos.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22960" y="521208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508760" y="516636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en el informe: tipado, punto y coma, indentación / llaves.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31520" y="63093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de Sistemas y Computación · Instituto Tecnológico de Durango (TecNM)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Unidad 1 - Fundamentos de Programación</dc:title>
  <dc:subject>PptxGenJS Presentation</dc:subject>
  <dc:creator>PptxGenJS</dc:creator>
  <cp:lastModifiedBy>PptxGenJS</cp:lastModifiedBy>
  <cp:revision>1</cp:revision>
  <dcterms:created xsi:type="dcterms:W3CDTF">2026-10-07T23:39:11Z</dcterms:created>
  <dcterms:modified xsi:type="dcterms:W3CDTF">2026-10-07T23:39:11Z</dcterms:modified>
</cp:coreProperties>
</file>