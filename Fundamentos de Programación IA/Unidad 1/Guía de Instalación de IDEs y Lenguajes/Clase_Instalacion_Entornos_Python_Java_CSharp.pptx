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64" r:id="rId13"/>
    <p:sldId id="265" r:id="rId14"/>
    <p:sldId id="266" r:id="rId15"/>
    <p:sldId id="267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4F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45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5406B">
              <a:alpha val="4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4297680" cy="329184"/>
          </a:xfrm>
          <a:prstGeom prst="roundRect">
            <a:avLst>
              <a:gd name="adj" fmla="val 50000"/>
            </a:avLst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y configuración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entornos de desarrollo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21792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Java  ·  C#   —   todos sobre Visual Studio Code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" y="4297680"/>
            <a:ext cx="155448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21792" y="4297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59152" y="429768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9B4F96"/>
          </a:solidFill>
          <a:ln w="19050">
            <a:solidFill>
              <a:srgbClr val="9B4F9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2359152" y="4297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096512" y="4297680"/>
            <a:ext cx="155448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096512" y="4297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792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(ITD) · TecNM · Departamento de Sistemas y Computación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clase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sesión, cada alumno tendrá su propio entorno de trabajo listo — sin depender del profesor para arrancar la Práctica 1.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7F9F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68680" y="2788920"/>
            <a:ext cx="640080" cy="640080"/>
          </a:xfrm>
          <a:prstGeom prst="ellipse">
            <a:avLst/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intérprete/SDK correcto para el lenguaje elegido (Python, Java o C#).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4688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7F9F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663440" y="2788920"/>
            <a:ext cx="640080" cy="640080"/>
          </a:xfrm>
          <a:prstGeom prst="ellipse">
            <a:avLst/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6634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4617720" y="3611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Configurar VS Code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41148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oficial, intérprete/JDK seleccionado y proyecto inicial.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24688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7F9F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8458200" y="278892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845820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8412480" y="3611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Ejecutar y depurar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12480" y="41148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un primer programa y colocar un breakpoint funcional.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ITD-TecNM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COMÚN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Visual Studio Code?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Ligero y gratuito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9933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igual en Windows, macOS y Linux; no compite con laptops modestas.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editor, tres lenguajes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0449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extensión correcta soporta Python, Java y C# sin cambiar de programa.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Depuración integrada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0965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Breakpoints, inspección de variables y consola, sin instalar nada extra.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4800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más usado en la industria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514807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al alumno con la herramienta que va a encontrar en su primer empleo.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20840" y="1691640"/>
            <a:ext cx="4937760" cy="4480560"/>
          </a:xfrm>
          <a:prstGeom prst="roundRect">
            <a:avLst>
              <a:gd name="adj" fmla="val 2041"/>
            </a:avLst>
          </a:prstGeom>
          <a:solidFill>
            <a:srgbClr val="0B1F3A"/>
          </a:solidFill>
          <a:ln/>
          <a:effectLst>
            <a:outerShdw blurRad="127000" dist="38100" dir="5400000" algn="bl" rotWithShape="0">
              <a:srgbClr val="0B1F3A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949440" y="189280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7178040" y="1892808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7406640" y="189280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720840" y="2194560"/>
            <a:ext cx="1371600" cy="3977640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8321040" y="237744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hola_mundo.py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print("Hola, mundo")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Main.java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"Hola, mundo");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Console.WriteLine("Hola, mundo");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ITD-TecNM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HOY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vamos a avanzar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25880" y="3337560"/>
            <a:ext cx="8092440" cy="0"/>
          </a:xfrm>
          <a:prstGeom prst="line">
            <a:avLst/>
          </a:prstGeom>
          <a:noFill/>
          <a:ln w="38100">
            <a:solidFill>
              <a:srgbClr val="DDE3EC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1005840" cy="1005840"/>
          </a:xfrm>
          <a:prstGeom prst="ellipse">
            <a:avLst/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60" dirty="0"/>
          </a:p>
        </p:txBody>
      </p:sp>
      <p:sp>
        <p:nvSpPr>
          <p:cNvPr id="8" name="Text 6"/>
          <p:cNvSpPr/>
          <p:nvPr/>
        </p:nvSpPr>
        <p:spPr>
          <a:xfrm>
            <a:off x="18288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20440" y="2834640"/>
            <a:ext cx="1005840" cy="1005840"/>
          </a:xfrm>
          <a:prstGeom prst="ellipse">
            <a:avLst/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520440" y="2834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60" dirty="0"/>
          </a:p>
        </p:txBody>
      </p:sp>
      <p:sp>
        <p:nvSpPr>
          <p:cNvPr id="11" name="Text 9"/>
          <p:cNvSpPr/>
          <p:nvPr/>
        </p:nvSpPr>
        <p:spPr>
          <a:xfrm>
            <a:off x="288036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83464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217920" y="2834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6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60" dirty="0"/>
          </a:p>
        </p:txBody>
      </p:sp>
      <p:sp>
        <p:nvSpPr>
          <p:cNvPr id="14" name="Text 12"/>
          <p:cNvSpPr/>
          <p:nvPr/>
        </p:nvSpPr>
        <p:spPr>
          <a:xfrm>
            <a:off x="557784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15400" y="2834640"/>
            <a:ext cx="1005840" cy="100584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915400" y="2834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60" dirty="0"/>
          </a:p>
        </p:txBody>
      </p:sp>
      <p:sp>
        <p:nvSpPr>
          <p:cNvPr id="17" name="Text 15"/>
          <p:cNvSpPr/>
          <p:nvPr/>
        </p:nvSpPr>
        <p:spPr>
          <a:xfrm>
            <a:off x="827532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checklist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212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sigue el mismo formato: instalar → verificar → configurar VS Code → primer programa → depurar → errores comunes.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ITD-TecNM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828800"/>
            <a:ext cx="5943600" cy="59436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15406B">
              <a:alpha val="3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21792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entrada más amigable — sintaxis simple, sin tipado estricto.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ITD-TecNM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PASO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el intérprete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9808" y="1938528"/>
            <a:ext cx="457200" cy="457200"/>
          </a:xfrm>
          <a:prstGeom prst="ellipse">
            <a:avLst/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4980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901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Descargar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267712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python.org/downloads y bajar la versión estable más reciente (evitar "rc" o "beta").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17373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407408" y="1938528"/>
            <a:ext cx="457200" cy="457200"/>
          </a:xfrm>
          <a:prstGeom prst="ellipse">
            <a:avLst/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40740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901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Ejecutar el instalador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267712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archivo descargado para iniciar la instalación.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63840" y="173736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8065008" y="1938528"/>
            <a:ext cx="457200" cy="457200"/>
          </a:xfrm>
          <a:prstGeom prst="ellipse">
            <a:avLst/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06500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2267712"/>
            <a:ext cx="2743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clic en "Install Now" y esperar a que termine.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86868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173736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crítico: marcar "Add python.exe to PATH"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37360" y="461772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casilla inferior de la primera pantalla del instalador. Si no se marca, la terminal no reconocerá el comando "python" y aparecerá el error: 'python' no se reconoce como un comando interno o externo.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Python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PASO 2 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e instalar VS Code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en la terminal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31520" y="222199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932688" y="222199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133856" y="222199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77240" y="2441448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--version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3.13.2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--version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24.3.1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0" y="16002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Extensión en VS Code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2057400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F7F9F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6309360" y="2331720"/>
            <a:ext cx="640080" cy="640080"/>
          </a:xfrm>
          <a:prstGeom prst="ellipse">
            <a:avLst/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3093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7086600" y="2377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Extensión "Python"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86600" y="2743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 por Microsoft. Instalar desde el panel de Extensiones (Ctrl+Shift+X).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3429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 Ctrl+Shift+P → "Python: Select Interpreter" → elegir la versión instalada.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CFE0F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68680" y="452628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clave para el aula: si un comando falla aquí, se resuelve ANTES de abrir VS Code — así el problema no se arrastra a la práctica.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Python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540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DEMOSTRACIÓN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programa y depuración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31520" y="18562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932688" y="185623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133856" y="18562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77240" y="207568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print("Hola, mundo")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input("¿Cómo te llamas? ")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print(f"Bienvenido, {nombre}")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691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011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"Run" arriba a la derecha, o python hola_mundo.py en la terminal integrada.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606040"/>
            <a:ext cx="457200" cy="457200"/>
          </a:xfrm>
          <a:prstGeom prst="ellipse">
            <a:avLst/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400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0" y="2560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Breakpoint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2880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a la izquierda del número de línea; F5 para iniciar la depuración.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474720"/>
            <a:ext cx="457200" cy="457200"/>
          </a:xfrm>
          <a:prstGeom prst="ellipse">
            <a:avLst/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4008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3429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Inspeccionar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izquierdo muestra el valor de cada variable en tiempo real.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82296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más común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'python' no se reconoce como un comando  →  no se marcó "Add to PATH" al instalar.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reinstalar Python marcando esa casilla, o agregar la ruta manualmente al PATH.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Python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828800"/>
            <a:ext cx="5943600" cy="59436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F2A541">
              <a:alpha val="3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21792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SDK oficial (.NET) y proyectos generados con un solo comando.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ITD-TecNM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INSTALACIÓN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SDK y C# Dev Kit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4980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8562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.NET SDK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221992"/>
            <a:ext cx="25146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dotnet.microsoft.com/download → elegir el SDK (no el Runtime) en su versión LTS.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407408" y="189280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40740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8562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221992"/>
            <a:ext cx="25146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terminal: dotnet --version. Un solo comando confirma compilador y runtime.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63840" y="1691640"/>
            <a:ext cx="3749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8065008" y="189280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06500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1856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Dev Kit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2221992"/>
            <a:ext cx="27432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la extensión oficial de Microsoft en VS Code (no la extensión "C#" antigua a secas).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868680" y="425196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8686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1691640" y="4160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confundir Visual Studio con Visual Studio Code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4572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dos programas distintos de Microsoft. Esta guía y esta clase usan Visual Studio Code (ligero, multiplataforma), no el IDE completo Visual Studio.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C#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DEMOSTRACIÓN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proyecto y primer programa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el proyecto (genera carpeta + .csproj):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31520" y="222199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932688" y="222199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133856" y="222199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77240" y="244144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dotnet new console -n MiPrograma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MiPrograma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dotnet run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Program.cs: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31520" y="42336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932688" y="423367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1133856" y="42336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77240" y="445312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Console.WriteLine("Hola, mundo");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Console.Write("¿Cómo te llamas? ");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 nombre = Console.ReadLine();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16916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492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"Top-level statements"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2011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clase Main explícita: el código se ve casi tan simple como Python.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30175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4922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2971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33375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run compila y ejecuta en un solo paso, o botón "Run" del Dev Kit.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43434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492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4297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Depuración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0" y="46634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o panel "Run and Debug"; breakpoints funcionan igual que en Python y Java.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C#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828800"/>
            <a:ext cx="5943600" cy="59436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2C4A73">
              <a:alpha val="3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21792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estricto y programación orientada a objetos desde el primer programa.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ITD-TecNM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DECISIÓN PREVIA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SDK (JDK) usar?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JDK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desde JDK 17, pero con términos de licencia (NFTC) que conviene leer con cuidado.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72000" y="19659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Eclipse Temurin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743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gratuito y de código abierto. Sucesor de AdoptOpenJDK, muy usado en la industria.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6916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0B1F3A"/>
          </a:solidFill>
          <a:ln w="25400">
            <a:solidFill>
              <a:srgbClr val="2C4A73"/>
            </a:solidFill>
            <a:prstDash val="solid"/>
          </a:ln>
          <a:effectLst>
            <a:outerShdw blurRad="127000" dist="38100" dir="5400000" algn="bl" rotWithShape="0">
              <a:srgbClr val="0B1F3A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8366760" y="189280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366760" y="18928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66760" y="2377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Build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OpenJDK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31089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Gratuito, sin ambigüedad de licencia y se instala automáticamente desde VS Code.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C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usará Microsoft Build of OpenJDK: cero fricción con la extensión de VS Code, sin letras chiquitas de licencia, y 100% compatible con el estándar de Java.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Java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INSTALACIÓN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JDK y extensión de VS Code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4980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8562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el JDK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221992"/>
            <a:ext cx="2514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A: dejar que VS Code lo instale al abrir el primer archivo .java (recomendado). Opción B: descargarlo desde learn.microsoft.com/java/openjdk.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16916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407408" y="1892808"/>
            <a:ext cx="457200" cy="457200"/>
          </a:xfrm>
          <a:prstGeom prst="ellipse">
            <a:avLst/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40740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8562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Pack for Java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221992"/>
            <a:ext cx="2514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en Extensiones (Ctrl+Shift+X) e instalar el paquete de Microsoft: incluye lenguaje, debugger, tests y gestor de proyectos.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63840" y="1691640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8065008" y="1892808"/>
            <a:ext cx="457200" cy="457200"/>
          </a:xfrm>
          <a:prstGeom prst="ellipse">
            <a:avLst/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06500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1856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2221992"/>
            <a:ext cx="27432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terminal: java -version y javac -version deben responder con el mismo número, sin errores.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731520" y="441655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932688" y="441655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1133856" y="441655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777240" y="4636008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 -version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openjdk version "21.0.4"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javac -version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 21.0.4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35040" y="425196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CFE0F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30936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vs. javac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47548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→  ejecuta programas.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 →  compila (lo trae el JDK completo; si falta, seguramente se instaló solo un JRE).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Java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DEMOSTRACIÓN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y primer programa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31520" y="18562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932688" y="185623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133856" y="18562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77240" y="207568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String[] args) 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"Hola, mundo");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72200" y="1737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Ctrl+Shift+P → "Java: Create Java Project" genera: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286000"/>
            <a:ext cx="365760" cy="365760"/>
          </a:xfrm>
          <a:prstGeom prst="ellipse">
            <a:avLst/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1722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  → código fuente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2788920"/>
            <a:ext cx="365760" cy="365760"/>
          </a:xfrm>
          <a:prstGeom prst="ellipse">
            <a:avLst/>
          </a:prstGeom>
          <a:solidFill>
            <a:srgbClr val="2C4A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1722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667512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bin/  → clases compiladas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34290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CFE0F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40080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clave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840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5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del archivo debe coincidir EXACTO con la clase pública: Main.java ↔ public class Main.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822960" y="47091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y depurar: botón "Run" sobre main(), o javac + java -cp bin Main desde terminal. F5 activa breakpoints ya colocados.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Java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rápida entre los tres entornos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06324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03320" y="1691640"/>
            <a:ext cx="2743200" cy="502920"/>
          </a:xfrm>
          <a:prstGeom prst="rect">
            <a:avLst/>
          </a:prstGeom>
          <a:solidFill>
            <a:srgbClr val="1540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70332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37960" y="1691640"/>
            <a:ext cx="2834640" cy="502920"/>
          </a:xfrm>
          <a:prstGeom prst="rect">
            <a:avLst/>
          </a:prstGeom>
          <a:solidFill>
            <a:srgbClr val="2C4A7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537960" y="1691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464040" y="1691640"/>
            <a:ext cx="2377440" cy="502920"/>
          </a:xfrm>
          <a:prstGeom prst="rect">
            <a:avLst/>
          </a:prstGeom>
          <a:solidFill>
            <a:srgbClr val="F2A54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946404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306324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58368" y="219456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 primero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03320" y="2194560"/>
            <a:ext cx="274320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813048" y="219456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Intérprete 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2194560"/>
            <a:ext cx="283464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647688" y="2194560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(Microsoft OpenJDK)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64040" y="2194560"/>
            <a:ext cx="237744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9573768" y="219456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SDK (LTS)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3063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58368" y="297180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en VS Code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03320" y="297180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3813048" y="297180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2971800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647688" y="2971800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Pack for Java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464040" y="2971800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9573768" y="29718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Dev Kit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749040"/>
            <a:ext cx="306324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658368" y="374904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de verificación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703320" y="3749040"/>
            <a:ext cx="274320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3813048" y="374904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--version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37960" y="3749040"/>
            <a:ext cx="283464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6647688" y="3749040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-version / javac -version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464040" y="3749040"/>
            <a:ext cx="237744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9573768" y="37490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--version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526280"/>
            <a:ext cx="3063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658368" y="452628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¿Requiere proyecto?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703320" y="452628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3813048" y="452628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un solo archivo .py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37960" y="4526280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6647688" y="4526280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(src/ + bin/)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464040" y="4526280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9573768" y="45262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(dotnet new console)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303520"/>
            <a:ext cx="306324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658368" y="530352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atoran más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703320" y="5303520"/>
            <a:ext cx="274320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/>
          <p:nvPr/>
        </p:nvSpPr>
        <p:spPr>
          <a:xfrm>
            <a:off x="3813048" y="530352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"Add to PATH"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37960" y="5303520"/>
            <a:ext cx="283464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/>
          <p:nvPr/>
        </p:nvSpPr>
        <p:spPr>
          <a:xfrm>
            <a:off x="6647688" y="5303520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vs. JRE, JAVA_HOME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464040" y="5303520"/>
            <a:ext cx="237744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/>
          <p:nvPr/>
        </p:nvSpPr>
        <p:spPr>
          <a:xfrm>
            <a:off x="9573768" y="530352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VS con VS Code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· Python / Java / C#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486400" cy="54864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94360" y="5029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SESIÓN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antes de la Práctica 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329184" cy="329184"/>
          </a:xfrm>
          <a:prstGeom prst="roundRect">
            <a:avLst>
              <a:gd name="adj" fmla="val 16667"/>
            </a:avLst>
          </a:prstGeom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282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comando de verificación (python / java + javac / dotnet) responde sin errores.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441448"/>
            <a:ext cx="329184" cy="329184"/>
          </a:xfrm>
          <a:prstGeom prst="roundRect">
            <a:avLst>
              <a:gd name="adj" fmla="val 16667"/>
            </a:avLst>
          </a:prstGeom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94360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38658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extensión correspondiente está instalada en VS Code.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099816"/>
            <a:ext cx="329184" cy="329184"/>
          </a:xfrm>
          <a:prstGeom prst="roundRect">
            <a:avLst>
              <a:gd name="adj" fmla="val 16667"/>
            </a:avLst>
          </a:prstGeom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94360" y="3099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0449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intérprete/JDK/SDK está seleccionado o detectado por VS Code.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758184"/>
            <a:ext cx="329184" cy="329184"/>
          </a:xfrm>
          <a:prstGeom prst="roundRect">
            <a:avLst>
              <a:gd name="adj" fmla="val 16667"/>
            </a:avLst>
          </a:prstGeom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94360" y="3758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programa ("Hola, mundo") corrió y respondió a la entrada de teclado.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416552"/>
            <a:ext cx="329184" cy="329184"/>
          </a:xfrm>
          <a:prstGeom prst="roundRect">
            <a:avLst>
              <a:gd name="adj" fmla="val 16667"/>
            </a:avLst>
          </a:prstGeom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94360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3616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colocó y probó al menos un breakpoint con F5.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868680" y="5440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Tema 1.2 – Conceptos básicos de programación (variables, tipos de datos, operadores).  ¿Dudas sobre la instalación?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ITD-TecNM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1611</Words>
  <Application>Microsoft Office PowerPoint</Application>
  <PresentationFormat>Panorámica</PresentationFormat>
  <Paragraphs>277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Sergio Valdez Hernandez</cp:lastModifiedBy>
  <cp:revision>5</cp:revision>
  <dcterms:created xsi:type="dcterms:W3CDTF">2026-07-17T16:29:57Z</dcterms:created>
  <dcterms:modified xsi:type="dcterms:W3CDTF">2026-07-20T15:47:03Z</dcterms:modified>
</cp:coreProperties>
</file>