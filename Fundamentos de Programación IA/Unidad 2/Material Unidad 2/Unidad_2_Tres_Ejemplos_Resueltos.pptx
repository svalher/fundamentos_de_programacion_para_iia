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463040"/>
            <a:ext cx="3840480" cy="384048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5120640"/>
            <a:ext cx="3291840" cy="329184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IAD-2413 · FUNDAMENTOS DE PROGRAMACIÓN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2011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 2: Tres Ejemplos Resueltos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 práctico del problema guía — la misma metodología de 7 pasos, aplicada a tres problemas distintos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3776A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9776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0" y="397764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9B4F96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39776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31920" y="397764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E76F00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39776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Tecnológico de Durango · TecNM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Inteligencia Artificial · Fundamentos de Programación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problemas, un mismo patrón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ejemplo repite los 7 subtemas de la unidad sobre un contexto distinto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21208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 que refuerza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dato principal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Contador de vocales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Recorrido de cadenas de texto, condicionales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/ str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Máxima y mínima temperatura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Recorrido de listas, comparación y actualización de variables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listas de números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Validador de contraseña segura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Funciones booleanas pequeñas combinadas con Y (&amp;&amp;)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+ lógica booleana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749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USAR ESTE MATERIAL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41148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documento de la Unidad 2 explicó los 7 subtemas usando un solo problema guía. Aquí se repite exactamente la misma metodología —análisis, definición de solución, diseño, implementación, pruebas, documentación y aplicación— sobre tres problemas nuevos, para que el patrón quede completamente interiorizado antes de la Práctica 2.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Tres Ejemplos Resueltos · ITD / TecNM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Contador de vocales en una palabra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Análisis del problema  ·  2.2 Definición de soluciones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685800"/>
          </a:xfrm>
          <a:prstGeom prst="roundRect">
            <a:avLst>
              <a:gd name="adj" fmla="val 933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34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Enunciado: leer una palabra (o frase) y contar cuántas vocales (a, e, i, o, u) contiene, sin importar mayúsculas o minúsculas.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6675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entra?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cadena de texto (palabra o frase)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debe salir?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número total de vocales encontradas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¿Restricciones?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Debe funcionar sin importar mayúsculas/minúsculas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¿Casos especiales?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Cadena vacía, sin vocales, letras acentuadas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¿Cómo verifico?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Contar manualmente y comparar contra el resultado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498080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ELEGIDO (2.2)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98080" y="2423160"/>
            <a:ext cx="411480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26680" y="260604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A (elegido): recorrer la palabra letra por letra y comparar cada una contra un conjunto de vocales. Explícito y refuerza bucles y condicionales.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B (alternativa): usar una función nativa de conteo del lenguaje. Más corto, pero oculta la lógica que esta unidad busca enseñar.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esta solución no cuenta letras acentuadas (á, é, í...) como vocales — es una limitación real, buen tema de discusión en clase.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Tres Ejemplos Resueltos · ITD / TecNM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Contador de vocales en una palabra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Diseño de algoritmos: pseudocódigo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20240" y="1417320"/>
            <a:ext cx="8321040" cy="4846320"/>
          </a:xfrm>
          <a:prstGeom prst="roundRect">
            <a:avLst>
              <a:gd name="adj" fmla="val 1132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21408" y="1581912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PSEUDOCÓDIGO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21408" y="1874520"/>
            <a:ext cx="7918704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PEDIR palabra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convertir palabra a minúsculas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contador ← 0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 cada letra en palabra: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SI letra está en {a, e, i, o, u} ENTONCES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contador ← contador + 1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FIN SI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MOSTRAR contador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Tres Ejemplos Resueltos · ITD / TecNM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Contador de vocales en una palabra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Implementación en Python, C# y Java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201168" cy="201168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916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057400"/>
            <a:ext cx="3209544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contar_vocales(palabra):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vocales = "aeiou"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contador = 0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letra in palabra.lower():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letra in vocales: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contador += 1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contador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palabra = input("Palabra: ")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print("Vocales:",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contar_vocales(palabra))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1688" y="160020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2856" y="1764792"/>
            <a:ext cx="201168" cy="201168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11" name="Text 9"/>
          <p:cNvSpPr/>
          <p:nvPr/>
        </p:nvSpPr>
        <p:spPr>
          <a:xfrm>
            <a:off x="4818888" y="16916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62856" y="2057400"/>
            <a:ext cx="3209544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ContarVocales(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palabra)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vocales = "aeiou";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contador = 0;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foreach (char letra in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palabra.ToLower())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(vocales.Contains(letra))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contador++;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contador;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174736" y="160020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75904" y="1764792"/>
            <a:ext cx="201168" cy="201168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5" name="Text 13"/>
          <p:cNvSpPr/>
          <p:nvPr/>
        </p:nvSpPr>
        <p:spPr>
          <a:xfrm>
            <a:off x="8631936" y="16916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75904" y="2057400"/>
            <a:ext cx="3209544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contarVocales(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palabra) {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vocales = "aeiou";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contador = 0;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(char letra : palabra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.toLowerCase()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.toCharArray()) {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(vocales.indexOf(letra)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&gt;= 0) contador++;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contador;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Tres Ejemplos Resueltos · ITD / TecNM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Contador de vocales en una palabra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Pruebas  ·  2.6 Documentación  ·  2.7 Aplicación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743200"/>
                <a:gridCol w="5029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esperado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caso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"Programación"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vocales (o, a, a, i, 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vocales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"xyz"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vocales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vocales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"AEIOU"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vocales (mayúsculas)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"murciélago"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vocales — la “é” no se cuenta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Límite / limitación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886200"/>
            <a:ext cx="11064240" cy="2103120"/>
          </a:xfrm>
          <a:prstGeom prst="roundRect">
            <a:avLst>
              <a:gd name="adj" fmla="val 3043"/>
            </a:avLst>
          </a:prstGeom>
          <a:solidFill>
            <a:srgbClr val="EDF0FA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9776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Documentación: nombres descriptivos (contador, vocales, palabra); la función solo cuenta, no imprime ni pide datos.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Aplicación: este patrón — recorrer un texto y contar coincidencias — es la base de problemas como contar palabras o validar formatos de texto.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Tres Ejemplos Resueltos · ITD / TecNM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4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Temperatura máxima y mínima de la semana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Análisis del problema  ·  2.2 Definición de soluciones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685800"/>
          </a:xfrm>
          <a:prstGeom prst="roundRect">
            <a:avLst>
              <a:gd name="adj" fmla="val 933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34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Enunciado: leer las temperaturas registradas durante los 7 días de la semana y determinar cuál fue la máxima y cuál la mínima.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6675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entra?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números (decimales o negativos)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debe salir?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valor máximo y el valor mínimo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¿Restricciones?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capturan exactamente 7 valores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¿Casos especiales?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 los valores iguales, temperaturas bajo cero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¿Cómo verifico?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máximo ≥ todos; el mínimo ≤ todos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498080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4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ELEGIDO (2.2)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98080" y="2423160"/>
            <a:ext cx="411480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26680" y="260604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A (elegido): inicializar máximo y mínimo con el primer valor leído, y comparar cada valor siguiente contra ellos. Un solo recorrido de la lista.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B (alternativa): ordenar la lista completa y tomar el primer y último elemento. Funciona, pero es menos eficiente: ordenar toma más pasos que un solo recorrido.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Tres Ejemplos Resueltos · ITD / TecNM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4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Temperatura máxima y mínima de la semana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Diseño de algoritmos: pseudocódigo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20240" y="1417320"/>
            <a:ext cx="8321040" cy="4846320"/>
          </a:xfrm>
          <a:prstGeom prst="roundRect">
            <a:avLst>
              <a:gd name="adj" fmla="val 1132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21408" y="1581912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PSEUDOCÓDIGO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21408" y="1874520"/>
            <a:ext cx="7918704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LEER primera temperatura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máximo ← primera temperatura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mínimo ← primera temperatura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 cada una de las 6 temperaturas restantes: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LEER temperatura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SI temperatura &gt; máximo ENTONCES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máximo ← temperatura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SI temperatura &lt; mínimo ENTONCES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mínimo ← temperatura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MOSTRAR “Máxima: ” máximo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MOSTRAR “Mínima: ” mínimo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Tres Ejemplos Resueltos · ITD / TecNM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4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Temperatura máxima y mínima de la semana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Implementación en Python, C# y Java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201168" cy="201168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916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057400"/>
            <a:ext cx="3209544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calcular_max_min(temps):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maximo = temps[0]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minimo = temps[0]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t in temps[1:]: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t &gt; maximo: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maximo = t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t &lt; minimo: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minimo = t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maximo, minimo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1688" y="160020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2856" y="1764792"/>
            <a:ext cx="201168" cy="201168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11" name="Text 9"/>
          <p:cNvSpPr/>
          <p:nvPr/>
        </p:nvSpPr>
        <p:spPr>
          <a:xfrm>
            <a:off x="4818888" y="16916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62856" y="2057400"/>
            <a:ext cx="3209544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(double max, double min)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CalcularMaxMin(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List&lt;double&gt; temps)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max = temps[0];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min = temps[0];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1;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i &lt; temps.Count; i++)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(temps[i] &gt; max)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max = temps[i];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(temps[i] &lt; min)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min = temps[i];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(max, min);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174736" y="160020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75904" y="1764792"/>
            <a:ext cx="201168" cy="201168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5" name="Text 13"/>
          <p:cNvSpPr/>
          <p:nvPr/>
        </p:nvSpPr>
        <p:spPr>
          <a:xfrm>
            <a:off x="8631936" y="16916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75904" y="2057400"/>
            <a:ext cx="3209544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double[] calcularMaxMin(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List&lt;Double&gt; temps) {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max = temps.get(0);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min = temps.get(0);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1;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i &lt; temps.size(); i++) {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double t = temps.get(i);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(t &gt; max) max = t;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(t &lt; min) min = t;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new double[]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max, min };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Tres Ejemplos Resueltos · ITD / TecNM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4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Temperatura máxima y mínima de la semana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Pruebas  ·  2.6 Documentación  ·  2.7 Aplicación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657600"/>
                <a:gridCol w="41148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 (7 valores)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esperado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caso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20, 22, 19, 25, 18, 21, 23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Máxima: 25, Mínima: 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20, 20, 20, 20, 20, 20, 20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Máxima: 20, Mínima: 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Límite (iguales)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-5, -2, 0, 3, -8, 1,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Máxima: 4, Mínima: -8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15.5, 15.5, 15.4, 15.6...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Máxima: 15.6, Mínima: 15.4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474720"/>
            <a:ext cx="11064240" cy="2514600"/>
          </a:xfrm>
          <a:prstGeom prst="roundRect">
            <a:avLst>
              <a:gd name="adj" fmla="val 2545"/>
            </a:avLst>
          </a:prstGeom>
          <a:solidFill>
            <a:srgbClr val="EDF0FA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566160"/>
            <a:ext cx="10515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Documentación: máximo/mínimo son más claros que a/b; calcularMaxMin no imprime nada, solo calcula — separa cálculo de presentación.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Aplicación: “inicializar con el primer valor y comparar contra el resto” es uno de los algoritmos más usados en programación (calificación más alta, producto más caro, etc.).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Tres Ejemplos Resueltos · ITD / TecNM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Validador de contraseña segura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Análisis del problema  ·  2.2 Definición de soluciones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685800"/>
          </a:xfrm>
          <a:prstGeom prst="roundRect">
            <a:avLst>
              <a:gd name="adj" fmla="val 933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34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Enunciado: leer una contraseña y determinar si es segura: al menos 8 caracteres, al menos una mayúscula y al menos un dígito.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6675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entra?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cadena de texto (la contraseña)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debe salir?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Mensaje indicando si es segura o 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¿Restricciones?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Tres reglas fijas: ≥ 8 caracteres, ≥ 1 mayúscula, ≥ 1 dígito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¿Casos especiales?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Cadena vacía, cumple solo una o dos reglas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¿Cómo verifico?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Probar cada regla por separado y una que cumpla todas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498080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ELEGIDO (2.2)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98080" y="2423160"/>
            <a:ext cx="411480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26680" y="260604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A (elegido): una función booleana pequeña por cada regla (tieneLongitudMinima, tieneMayuscula, tieneDigito) combinadas con Y (&amp;&amp;). Cada regla se prueba y lee por separado.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B (alternativa): un solo bloque con condicionales anidados. Funciona igual, pero es difícil de leer al agregar una cuarta regla.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Tres Ejemplos Resueltos · ITD / TecNM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Validador de contraseña segura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Diseño de algoritmos: pseudocódigo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20240" y="1417320"/>
            <a:ext cx="8321040" cy="4846320"/>
          </a:xfrm>
          <a:prstGeom prst="roundRect">
            <a:avLst>
              <a:gd name="adj" fmla="val 1132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21408" y="1581912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PSEUDOCÓDIGO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21408" y="1874520"/>
            <a:ext cx="7918704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PEDIR contraseña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longitudOK ← longitud(contraseña) &gt;= 8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mayusculaOK ← contiene alguna mayúscula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digitoOK ← contiene algún dígito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 longitudOK Y mayusculaOK Y digitoOK ENTONCES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MOSTRAR “Contraseña segura”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SINO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MOSTRAR “Contraseña insegura” + detalle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 SI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Tres Ejemplos Resueltos · ITD / TecNM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Validador de contraseña segura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Implementación en Python, C# y Java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201168" cy="201168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916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057400"/>
            <a:ext cx="3209544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tiene_longitud_minima(p):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len(p) &gt;= 8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tiene_mayuscula(p):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any(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c.isupper() for c in p)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tiene_digito(p):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any(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c.isdigit() for c in p)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es_segura(p):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(tiene_longitud_minima(p)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and tiene_mayuscula(p)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and tiene_digito(p))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1688" y="160020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2856" y="1764792"/>
            <a:ext cx="201168" cy="201168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11" name="Text 9"/>
          <p:cNvSpPr/>
          <p:nvPr/>
        </p:nvSpPr>
        <p:spPr>
          <a:xfrm>
            <a:off x="4818888" y="16916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62856" y="2057400"/>
            <a:ext cx="3209544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bool TieneLongitudMinima(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p) =&gt; p.Length &gt;= 8;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bool TieneMayuscula(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p) =&gt;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p.Any(char.IsUpper);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bool TieneDigito(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p) =&gt;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p.Any(char.IsDigit);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bool EsSegura(string p) =&gt;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TieneLongitudMinima(p) &amp;&amp;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TieneMayuscula(p) &amp;&amp;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TieneDigito(p);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174736" y="160020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75904" y="1764792"/>
            <a:ext cx="201168" cy="201168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5" name="Text 13"/>
          <p:cNvSpPr/>
          <p:nvPr/>
        </p:nvSpPr>
        <p:spPr>
          <a:xfrm>
            <a:off x="8631936" y="16916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75904" y="2057400"/>
            <a:ext cx="3209544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boolean tieneLongitudMinima(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p) {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p.length() &gt;= 8;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boolean tieneMayuscula(String p) {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p.chars().anyMatch(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Character::isUpperCase);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boolean tieneDigito(String p) {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p.chars().anyMatch(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Character::isDigit);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boolean esSegura(String p) {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tieneLongitudMinima(p)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&amp;&amp; tieneMayuscula(p)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&amp;&amp; tieneDigito(p);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Tres Ejemplos Resueltos · ITD / TecNM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Validador de contraseña segura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Pruebas  ·  2.6 Documentación  ·  2.7 Aplicación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00400"/>
                <a:gridCol w="18288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¿Segura?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 que falla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"Abcdefg1"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(cumple las tres reglas)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"abcdefg1"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mayúscula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"ABCDEFGH"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dígito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"Ab1"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Longitud menor a 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Falla las tres reglas a la vez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886200"/>
            <a:ext cx="11064240" cy="2103120"/>
          </a:xfrm>
          <a:prstGeom prst="roundRect">
            <a:avLst>
              <a:gd name="adj" fmla="val 3043"/>
            </a:avLst>
          </a:prstGeom>
          <a:solidFill>
            <a:srgbClr val="EDF0FA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9776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Documentación: cada función booleana es la pregunta que responde (tieneMayuscula) — el buen nombramiento reduce la necesidad de comentarios.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Aplicación: separar una regla compleja en funciones booleanas pequeñas combinadas con Y/O es exactamente lo que hacen los formularios de registro reales.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Tres Ejemplos Resueltos · ITD / TecNM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657600" cy="36576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estos tres ejemplos refuerzan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vuelta a los 7 subtemas de la Unidad 2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828800" cy="566928"/>
          </a:xfrm>
          <a:prstGeom prst="roundRect">
            <a:avLst>
              <a:gd name="adj" fmla="val 48387"/>
            </a:avLst>
          </a:prstGeom>
          <a:solidFill>
            <a:srgbClr val="3776A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– 2.2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97480" y="187452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mismas 5 preguntas de análisis y la comparación de enfoques, aplicadas a datos de distinta naturaleza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1828800" cy="566928"/>
          </a:xfrm>
          <a:prstGeom prst="roundRect">
            <a:avLst>
              <a:gd name="adj" fmla="val 48387"/>
            </a:avLst>
          </a:prstGeom>
          <a:solidFill>
            <a:srgbClr val="9B4F9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517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– 2.4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97480" y="265176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Pseudocódigo antes de código; la misma lógica traducida a Python, C# y Java sin cambiar el diseño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1828800" cy="566928"/>
          </a:xfrm>
          <a:prstGeom prst="roundRect">
            <a:avLst>
              <a:gd name="adj" fmla="val 48387"/>
            </a:avLst>
          </a:prstGeom>
          <a:solidFill>
            <a:srgbClr val="E76F0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290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– 2.6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34290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de prueba con casos normales, límite y de error; nombres descriptivos como forma de documentación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1828800" cy="566928"/>
          </a:xfrm>
          <a:prstGeom prst="roundRect">
            <a:avLst>
              <a:gd name="adj" fmla="val 48387"/>
            </a:avLst>
          </a:prstGeom>
          <a:solidFill>
            <a:srgbClr val="1F9D7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06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42062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patrón de solución reaparece en problemas distintos — reconocerlo es la meta de la metodología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Tecnológico de Durango · TecNM  ·  Ingeniería en Inteligencia Artificial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2026-07-21T16:06:04Z</dcterms:created>
  <dcterms:modified xsi:type="dcterms:W3CDTF">2026-07-21T16:06:04Z</dcterms:modified>
</cp:coreProperties>
</file>