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463040"/>
            <a:ext cx="3840480" cy="384048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5120640"/>
            <a:ext cx="3291840" cy="329184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IAD-2413 · FUNDAMENTOS DE PROGRAMACIÓN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Unidad 2: Análisis y Metodología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Resolución de Problemas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análisis del problema al código documentado y probado — ejemplos en Python, C# y Java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343400"/>
            <a:ext cx="1463040" cy="438912"/>
          </a:xfrm>
          <a:prstGeom prst="roundRect">
            <a:avLst>
              <a:gd name="adj" fmla="val 16667"/>
            </a:avLst>
          </a:prstGeom>
          <a:solidFill>
            <a:srgbClr val="3776A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34340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0" y="4343400"/>
            <a:ext cx="1463040" cy="438912"/>
          </a:xfrm>
          <a:prstGeom prst="roundRect">
            <a:avLst>
              <a:gd name="adj" fmla="val 16667"/>
            </a:avLst>
          </a:prstGeom>
          <a:solidFill>
            <a:srgbClr val="9B4F96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434340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931920" y="4343400"/>
            <a:ext cx="1463040" cy="438912"/>
          </a:xfrm>
          <a:prstGeom prst="roundRect">
            <a:avLst>
              <a:gd name="adj" fmla="val 16667"/>
            </a:avLst>
          </a:prstGeom>
          <a:solidFill>
            <a:srgbClr val="E76F00"/>
          </a:solidFill>
          <a:ln/>
        </p:spPr>
      </p:sp>
      <p:sp>
        <p:nvSpPr>
          <p:cNvPr id="12" name="Text 10"/>
          <p:cNvSpPr/>
          <p:nvPr/>
        </p:nvSpPr>
        <p:spPr>
          <a:xfrm>
            <a:off x="3931920" y="434340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Tecnológico de Durango · TecNM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6263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Inteligencia Artificial · Fundamentos de Programación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vamos a lograr en esta unidad?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metodología repetible: analizar, diseñar, implementar, depurar y documentar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12064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ESPECÍFICA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estudiantes aprenden a resolver problemas y comunicarse en programación mediante la metodología de resolución de problemas: desglosan problemas, definen soluciones, diseñan algoritmos, implementan código, depuran, prueban, documentan y aplican estas habilidades en situaciones prácticas.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3749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9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GUÍA DE LA UNIDAD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411480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"Leer una lista de números y clasificarlos en positivos, negativos y ceros" — el ejemplo de la Práctica 2 del temario, que avanzaremos un paso en cada subtema.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DE LA UNIDAD (7 SUBTEMAS)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691640"/>
            <a:ext cx="5669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89904" y="1810512"/>
            <a:ext cx="329184" cy="329184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12" name="Text 10"/>
          <p:cNvSpPr/>
          <p:nvPr/>
        </p:nvSpPr>
        <p:spPr>
          <a:xfrm>
            <a:off x="6089904" y="1801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169164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y análisis del problema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0" y="2350008"/>
            <a:ext cx="5669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9904" y="2468880"/>
            <a:ext cx="329184" cy="329184"/>
          </a:xfrm>
          <a:prstGeom prst="ellipse">
            <a:avLst/>
          </a:prstGeom>
          <a:solidFill>
            <a:srgbClr val="9B4F96"/>
          </a:solidFill>
          <a:ln/>
        </p:spPr>
      </p:sp>
      <p:sp>
        <p:nvSpPr>
          <p:cNvPr id="16" name="Text 14"/>
          <p:cNvSpPr/>
          <p:nvPr/>
        </p:nvSpPr>
        <p:spPr>
          <a:xfrm>
            <a:off x="6089904" y="2459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7960" y="235000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soluciones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0" y="3008376"/>
            <a:ext cx="5669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9904" y="3127248"/>
            <a:ext cx="329184" cy="329184"/>
          </a:xfrm>
          <a:prstGeom prst="ellipse">
            <a:avLst/>
          </a:prstGeom>
          <a:solidFill>
            <a:srgbClr val="E76F00"/>
          </a:solidFill>
          <a:ln/>
        </p:spPr>
      </p:sp>
      <p:sp>
        <p:nvSpPr>
          <p:cNvPr id="20" name="Text 18"/>
          <p:cNvSpPr/>
          <p:nvPr/>
        </p:nvSpPr>
        <p:spPr>
          <a:xfrm>
            <a:off x="6089904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37960" y="300837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algoritmos y soluciones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43600" y="3666744"/>
            <a:ext cx="5669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89904" y="3785616"/>
            <a:ext cx="329184" cy="329184"/>
          </a:xfrm>
          <a:prstGeom prst="ellipse">
            <a:avLst/>
          </a:prstGeom>
          <a:solidFill>
            <a:srgbClr val="1F9D74"/>
          </a:solidFill>
          <a:ln/>
        </p:spPr>
      </p:sp>
      <p:sp>
        <p:nvSpPr>
          <p:cNvPr id="24" name="Text 22"/>
          <p:cNvSpPr/>
          <p:nvPr/>
        </p:nvSpPr>
        <p:spPr>
          <a:xfrm>
            <a:off x="6089904" y="3776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37960" y="366674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soluciones en código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43600" y="4325112"/>
            <a:ext cx="5669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9904" y="4443984"/>
            <a:ext cx="329184" cy="329184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28" name="Text 26"/>
          <p:cNvSpPr/>
          <p:nvPr/>
        </p:nvSpPr>
        <p:spPr>
          <a:xfrm>
            <a:off x="6089904" y="4434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37960" y="432511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Depuración, pruebas y manejo de errores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943600" y="4983480"/>
            <a:ext cx="5669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9904" y="5102352"/>
            <a:ext cx="329184" cy="329184"/>
          </a:xfrm>
          <a:prstGeom prst="ellipse">
            <a:avLst/>
          </a:prstGeom>
          <a:solidFill>
            <a:srgbClr val="9B4F96"/>
          </a:solidFill>
          <a:ln/>
        </p:spPr>
      </p:sp>
      <p:sp>
        <p:nvSpPr>
          <p:cNvPr id="32" name="Text 30"/>
          <p:cNvSpPr/>
          <p:nvPr/>
        </p:nvSpPr>
        <p:spPr>
          <a:xfrm>
            <a:off x="6089904" y="5093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537960" y="498348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y buenas prácticas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943600" y="5641848"/>
            <a:ext cx="5669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89904" y="5760720"/>
            <a:ext cx="329184" cy="329184"/>
          </a:xfrm>
          <a:prstGeom prst="ellipse">
            <a:avLst/>
          </a:prstGeom>
          <a:solidFill>
            <a:srgbClr val="E76F00"/>
          </a:solidFill>
          <a:ln/>
        </p:spPr>
      </p:sp>
      <p:sp>
        <p:nvSpPr>
          <p:cNvPr id="36" name="Text 34"/>
          <p:cNvSpPr/>
          <p:nvPr/>
        </p:nvSpPr>
        <p:spPr>
          <a:xfrm>
            <a:off x="6089904" y="5751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537960" y="564184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de la metodología a problemas prácticos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864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Análisis y Metodología de Resolución de Problemas · ITD / TecNM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180015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  Descripción y análisis del problema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puede resolver bien un problema que no se entiende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36776"/>
            <a:ext cx="365760" cy="365760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499616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entra?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40680" y="1499616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entrada, su tipo y su origen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50008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569464"/>
            <a:ext cx="365760" cy="365760"/>
          </a:xfrm>
          <a:prstGeom prst="ellipse">
            <a:avLst/>
          </a:prstGeom>
          <a:solidFill>
            <a:srgbClr val="9B4F9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432304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debe salir?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40680" y="2432304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 y formato de salida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282696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502152"/>
            <a:ext cx="365760" cy="365760"/>
          </a:xfrm>
          <a:prstGeom prst="ellipse">
            <a:avLst/>
          </a:prstGeom>
          <a:solidFill>
            <a:srgbClr val="E76F0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36499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restricciones existen?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40680" y="3364992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de valores, cantidad de datos, tipo válido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215384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434840"/>
            <a:ext cx="365760" cy="365760"/>
          </a:xfrm>
          <a:prstGeom prst="ellipse">
            <a:avLst/>
          </a:prstGeom>
          <a:solidFill>
            <a:srgbClr val="1F9D74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425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429768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casos especiales hay?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40680" y="4297680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vacías, ceros, valores repetidos, datos inválidos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148072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536752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358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71600" y="523036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verifico el resultado?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40680" y="5230368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objetivo para saber si la salida es correcta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Análisis y Metodología de Resolución de Problemas · ITD / TecNM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180015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  Análisis aplicado al problema guía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una lista de números en positivos, negativos y ceros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7665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572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Pregunta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Respuesta para este problema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entra?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lista de números (enteros o decimales), de tamaño definido por el usuario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debe salir?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Tres conteos: cuántos positivos, negativos y ceros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¿Restricciones?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usuario decide cuántos números captura; deben aceptarse decimales y negativos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¿Casos especiales?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vacía, todos los números iguales, entrada no numérica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¿Cómo verifico?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suma de los tres conteos debe ser igual al total de números capturados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35240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9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DESCOMPOSICIÓN FUNCIONAL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635240" y="1691640"/>
            <a:ext cx="3977640" cy="566928"/>
          </a:xfrm>
          <a:prstGeom prst="roundRect">
            <a:avLst>
              <a:gd name="adj" fmla="val 9677"/>
            </a:avLst>
          </a:prstGeom>
          <a:solidFill>
            <a:srgbClr val="3776AB"/>
          </a:solidFill>
          <a:ln/>
        </p:spPr>
      </p:sp>
      <p:sp>
        <p:nvSpPr>
          <p:cNvPr id="7" name="Text 4"/>
          <p:cNvSpPr/>
          <p:nvPr/>
        </p:nvSpPr>
        <p:spPr>
          <a:xfrm>
            <a:off x="7818120" y="16916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Capturar N números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619488" y="2258568"/>
            <a:ext cx="0" cy="137160"/>
          </a:xfrm>
          <a:prstGeom prst="line">
            <a:avLst/>
          </a:prstGeom>
          <a:noFill/>
          <a:ln w="19050">
            <a:solidFill>
              <a:srgbClr val="9AA0B4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7635240" y="2395728"/>
            <a:ext cx="3977640" cy="566928"/>
          </a:xfrm>
          <a:prstGeom prst="roundRect">
            <a:avLst>
              <a:gd name="adj" fmla="val 9677"/>
            </a:avLst>
          </a:prstGeom>
          <a:solidFill>
            <a:srgbClr val="9B4F96"/>
          </a:solidFill>
          <a:ln/>
        </p:spPr>
      </p:sp>
      <p:sp>
        <p:nvSpPr>
          <p:cNvPr id="10" name="Text 7"/>
          <p:cNvSpPr/>
          <p:nvPr/>
        </p:nvSpPr>
        <p:spPr>
          <a:xfrm>
            <a:off x="7818120" y="239572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cada número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619488" y="2962656"/>
            <a:ext cx="0" cy="137160"/>
          </a:xfrm>
          <a:prstGeom prst="line">
            <a:avLst/>
          </a:prstGeom>
          <a:noFill/>
          <a:ln w="19050">
            <a:solidFill>
              <a:srgbClr val="9AA0B4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7635240" y="3099816"/>
            <a:ext cx="3977640" cy="566928"/>
          </a:xfrm>
          <a:prstGeom prst="roundRect">
            <a:avLst>
              <a:gd name="adj" fmla="val 9677"/>
            </a:avLst>
          </a:prstGeom>
          <a:solidFill>
            <a:srgbClr val="E76F00"/>
          </a:solidFill>
          <a:ln/>
        </p:spPr>
      </p:sp>
      <p:sp>
        <p:nvSpPr>
          <p:cNvPr id="13" name="Text 10"/>
          <p:cNvSpPr/>
          <p:nvPr/>
        </p:nvSpPr>
        <p:spPr>
          <a:xfrm>
            <a:off x="7818120" y="309981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Acumular los conteos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619488" y="3666744"/>
            <a:ext cx="0" cy="137160"/>
          </a:xfrm>
          <a:prstGeom prst="line">
            <a:avLst/>
          </a:prstGeom>
          <a:noFill/>
          <a:ln w="19050">
            <a:solidFill>
              <a:srgbClr val="9AA0B4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7635240" y="3803904"/>
            <a:ext cx="3977640" cy="566928"/>
          </a:xfrm>
          <a:prstGeom prst="roundRect">
            <a:avLst>
              <a:gd name="adj" fmla="val 9677"/>
            </a:avLst>
          </a:prstGeom>
          <a:solidFill>
            <a:srgbClr val="1F9D74"/>
          </a:solidFill>
          <a:ln/>
        </p:spPr>
      </p:sp>
      <p:sp>
        <p:nvSpPr>
          <p:cNvPr id="16" name="Text 13"/>
          <p:cNvSpPr/>
          <p:nvPr/>
        </p:nvSpPr>
        <p:spPr>
          <a:xfrm>
            <a:off x="7818120" y="380390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el resumen final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635240" y="4553712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subproblema se convierte, más adelante, en una función independiente (subtema 2.3–2.4).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4864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Análisis y Metodología de Resolución de Problemas · ITD / TecNM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180015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  Definición de soluciones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programar, comparamos alternativas: no siempre la primera idea es la mejor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55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Pregunta que responde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Correctitud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¿Produce el resultado correcto en todos los casos, incluyendo los extremos?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Simplicidad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tan fácil es de leer y explicar a otra persona?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Eficiencia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¿Cuántas operaciones o recorridos hace sobre los datos?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Escalabilidad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¿Sigue funcionando bien si la cantidad de datos crece mucho?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Mantenibilidad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tan fácil sería modificarlo si cambian los requisitos?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Análisis y Metodología de Resolución de Problemas · ITD / TecNM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180015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  Dos enfoques posibles para el problema guía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elige el Enfoque B: separar responsabilidades en funciones pequeñas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578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5257800" cy="502920"/>
          </a:xfrm>
          <a:prstGeom prst="roundRect">
            <a:avLst>
              <a:gd name="adj" fmla="val 14545"/>
            </a:avLst>
          </a:prstGeom>
          <a:solidFill>
            <a:srgbClr val="3776A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73352"/>
            <a:ext cx="5257800" cy="246888"/>
          </a:xfrm>
          <a:prstGeom prst="rect">
            <a:avLst/>
          </a:prstGeom>
          <a:solidFill>
            <a:srgbClr val="3776A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1732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Enfoque A — Conteo directo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lee cada número y, en el mismo paso, se decide su categoría y se incrementa un contador. Un solo bloque de código hace todo.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9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5661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 de escribir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39319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líneas de código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4343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Desventajas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46634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Mezcla “capturar” con “clasificar”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502920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de probar por partes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55080" y="1417320"/>
            <a:ext cx="52578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55080" y="1417320"/>
            <a:ext cx="5257800" cy="502920"/>
          </a:xfrm>
          <a:prstGeom prst="roundRect">
            <a:avLst>
              <a:gd name="adj" fmla="val 14545"/>
            </a:avLst>
          </a:prstGeom>
          <a:solidFill>
            <a:srgbClr val="1F9D74"/>
          </a:solidFill>
          <a:ln/>
        </p:spPr>
      </p:sp>
      <p:sp>
        <p:nvSpPr>
          <p:cNvPr id="17" name="Shape 15"/>
          <p:cNvSpPr/>
          <p:nvPr/>
        </p:nvSpPr>
        <p:spPr>
          <a:xfrm>
            <a:off x="6355080" y="1673352"/>
            <a:ext cx="5257800" cy="246888"/>
          </a:xfrm>
          <a:prstGeom prst="rect">
            <a:avLst/>
          </a:prstGeom>
          <a:solidFill>
            <a:srgbClr val="1F9D74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141732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Enfoque B — Funciones separadas  ✓ elegido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29400" y="210312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función captura los números, otra los clasifica y otra imprime el resumen. Cada una se puede probar por separado.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62940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9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629400" y="35661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función es fácil de probar y reutilizar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629400" y="39319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la depuración (2.5)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629400" y="4343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Desventajas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629400" y="46634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poco más de código que el Enfoque A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Análisis y Metodología de Resolución de Problemas · ITD / TecNM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180015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  Diseño de algoritmos: pseudocódigo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 traduce la solución elegida en pasos precisos, sin depender de un lenguaje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194560" y="1371600"/>
            <a:ext cx="7772400" cy="4892040"/>
          </a:xfrm>
          <a:prstGeom prst="roundRect">
            <a:avLst>
              <a:gd name="adj" fmla="val 1121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395728" y="1536192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2651760" y="146304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PSEUDOCÓDIGO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95728" y="1828800"/>
            <a:ext cx="7370064" cy="427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INICIO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positivos ← 0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negativos ← 0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ceros ← 0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PEDIR cuántos números se van a capturar (n)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MIENTRAS se hayan capturado menos de n números: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LEER número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SI número &gt; 0 ENTONCES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positivos ← positivos + 1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SINO SI número &lt; 0 ENTONCES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negativos ← negativos + 1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SINO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ceros ← ceros + 1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FIN SI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MOSTRAR “Positivos: ” positivos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MOSTRAR “Negativos: ” negativos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MOSTRAR “Ceros: ” ceros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Análisis y Metodología de Resolución de Problemas · ITD / TecNM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180015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  Diseño de algoritmos: diagrama de flujo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lógica del pseudocódigo, representada gráficamente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651760" y="1371600"/>
            <a:ext cx="1828800" cy="457200"/>
          </a:xfrm>
          <a:prstGeom prst="ellipse">
            <a:avLst/>
          </a:prstGeom>
          <a:solidFill>
            <a:srgbClr val="2B2B33"/>
          </a:solidFill>
          <a:ln/>
        </p:spPr>
      </p:sp>
      <p:sp>
        <p:nvSpPr>
          <p:cNvPr id="5" name="Text 3"/>
          <p:cNvSpPr/>
          <p:nvPr/>
        </p:nvSpPr>
        <p:spPr>
          <a:xfrm>
            <a:off x="265176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566160" y="1828800"/>
            <a:ext cx="0" cy="256032"/>
          </a:xfrm>
          <a:prstGeom prst="line">
            <a:avLst/>
          </a:prstGeom>
          <a:noFill/>
          <a:ln w="19050">
            <a:solidFill>
              <a:srgbClr val="9AA0B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011680" y="2084832"/>
            <a:ext cx="3108960" cy="502920"/>
          </a:xfrm>
          <a:prstGeom prst="roundRect">
            <a:avLst>
              <a:gd name="adj" fmla="val 9091"/>
            </a:avLst>
          </a:prstGeom>
          <a:solidFill>
            <a:srgbClr val="3776AB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20848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Inicializar contadores en 0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66160" y="2587752"/>
            <a:ext cx="0" cy="228600"/>
          </a:xfrm>
          <a:prstGeom prst="line">
            <a:avLst/>
          </a:prstGeom>
          <a:noFill/>
          <a:ln w="19050">
            <a:solidFill>
              <a:srgbClr val="9AA0B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011680" y="2816352"/>
            <a:ext cx="3108960" cy="502920"/>
          </a:xfrm>
          <a:prstGeom prst="roundRect">
            <a:avLst>
              <a:gd name="adj" fmla="val 9091"/>
            </a:avLst>
          </a:prstGeom>
          <a:solidFill>
            <a:srgbClr val="9B4F96"/>
          </a:solidFill>
          <a:ln/>
        </p:spPr>
      </p:sp>
      <p:sp>
        <p:nvSpPr>
          <p:cNvPr id="11" name="Text 9"/>
          <p:cNvSpPr/>
          <p:nvPr/>
        </p:nvSpPr>
        <p:spPr>
          <a:xfrm>
            <a:off x="2148840" y="28163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cantidad de números (N)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566160" y="3319272"/>
            <a:ext cx="0" cy="201168"/>
          </a:xfrm>
          <a:prstGeom prst="line">
            <a:avLst/>
          </a:prstGeom>
          <a:noFill/>
          <a:ln w="19050">
            <a:solidFill>
              <a:srgbClr val="9AA0B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828800" y="3520440"/>
            <a:ext cx="3474720" cy="868680"/>
          </a:xfrm>
          <a:prstGeom prst="diamond">
            <a:avLst/>
          </a:prstGeom>
          <a:solidFill>
            <a:srgbClr val="E76F00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0" y="35204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¿Quedan números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leer?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566160" y="4389120"/>
            <a:ext cx="0" cy="228600"/>
          </a:xfrm>
          <a:prstGeom prst="line">
            <a:avLst/>
          </a:prstGeom>
          <a:noFill/>
          <a:ln w="19050">
            <a:solidFill>
              <a:srgbClr val="9AA0B4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611880" y="44074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28800" y="4617720"/>
            <a:ext cx="3474720" cy="594360"/>
          </a:xfrm>
          <a:prstGeom prst="roundRect">
            <a:avLst>
              <a:gd name="adj" fmla="val 7692"/>
            </a:avLst>
          </a:prstGeom>
          <a:solidFill>
            <a:srgbClr val="1F9D74"/>
          </a:solidFill>
          <a:ln/>
        </p:spPr>
      </p:sp>
      <p:sp>
        <p:nvSpPr>
          <p:cNvPr id="18" name="Text 16"/>
          <p:cNvSpPr/>
          <p:nvPr/>
        </p:nvSpPr>
        <p:spPr>
          <a:xfrm>
            <a:off x="1965960" y="46177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número y clasificar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(positivo, negativo o cero)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4910328"/>
            <a:ext cx="-502920" cy="0"/>
          </a:xfrm>
          <a:prstGeom prst="line">
            <a:avLst/>
          </a:prstGeom>
          <a:noFill/>
          <a:ln w="19050">
            <a:solidFill>
              <a:srgbClr val="9AA0B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25880" y="3950208"/>
            <a:ext cx="0" cy="960120"/>
          </a:xfrm>
          <a:prstGeom prst="line">
            <a:avLst/>
          </a:prstGeom>
          <a:noFill/>
          <a:ln w="19050">
            <a:solidFill>
              <a:srgbClr val="9AA0B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25880" y="3950208"/>
            <a:ext cx="502920" cy="0"/>
          </a:xfrm>
          <a:prstGeom prst="line">
            <a:avLst/>
          </a:prstGeom>
          <a:noFill/>
          <a:ln w="19050">
            <a:solidFill>
              <a:srgbClr val="9AA0B4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320040" y="416052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vuelve a evaluar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303520" y="3950208"/>
            <a:ext cx="1554480" cy="0"/>
          </a:xfrm>
          <a:prstGeom prst="line">
            <a:avLst/>
          </a:prstGeom>
          <a:noFill/>
          <a:ln w="19050">
            <a:solidFill>
              <a:srgbClr val="9AA0B4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669280" y="3657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0" y="3703320"/>
            <a:ext cx="2651760" cy="502920"/>
          </a:xfrm>
          <a:prstGeom prst="roundRect">
            <a:avLst>
              <a:gd name="adj" fmla="val 9091"/>
            </a:avLst>
          </a:prstGeom>
          <a:solidFill>
            <a:srgbClr val="1F9D74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0" y="3703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resumen final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183880" y="4206240"/>
            <a:ext cx="0" cy="228600"/>
          </a:xfrm>
          <a:prstGeom prst="line">
            <a:avLst/>
          </a:prstGeom>
          <a:noFill/>
          <a:ln w="19050">
            <a:solidFill>
              <a:srgbClr val="9AA0B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269480" y="4434840"/>
            <a:ext cx="1828800" cy="457200"/>
          </a:xfrm>
          <a:prstGeom prst="ellipse">
            <a:avLst/>
          </a:prstGeom>
          <a:solidFill>
            <a:srgbClr val="2B2B33"/>
          </a:solidFill>
          <a:ln/>
        </p:spPr>
      </p:sp>
      <p:sp>
        <p:nvSpPr>
          <p:cNvPr id="29" name="Text 27"/>
          <p:cNvSpPr/>
          <p:nvPr/>
        </p:nvSpPr>
        <p:spPr>
          <a:xfrm>
            <a:off x="7269480" y="4434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440680"/>
            <a:ext cx="11064240" cy="822960"/>
          </a:xfrm>
          <a:prstGeom prst="roundRect">
            <a:avLst>
              <a:gd name="adj" fmla="val 7778"/>
            </a:avLst>
          </a:prstGeom>
          <a:solidFill>
            <a:srgbClr val="EDF0FA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5440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del bucle, cada número se compara contra 0 usando if / elif / else (Python) o if / else if / else (C#, Java) para incrementar el contador correspondiente. El bucle se repite hasta capturar los N números indicados.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4864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Análisis y Metodología de Resolución de Problemas · ITD / TecNM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180015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  Del diseño al código: mapeo de funciones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mapeo es exactamente lo que se implementa en el subtema 2.4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286000"/>
                <a:gridCol w="22860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Salida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Responsabilidad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capturarNumeros(n)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cantidad 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de n números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Leer n números del usuario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clasificar(lista)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de números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tres conteos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Recorrer la lista y contar por categoría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mostrarResumen(pos, neg, cer)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tres conteos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(imprime)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Presentar el resultado final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Análisis y Metodología de Resolución de Problemas · ITD / TecNM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180015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  Implementación de la función clasificar()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lógica de diseño, traducida a la sintaxis de cada lenguaje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11880" cy="4846320"/>
          </a:xfrm>
          <a:prstGeom prst="roundRect">
            <a:avLst>
              <a:gd name="adj" fmla="val 1519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581912"/>
            <a:ext cx="201168" cy="201168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50876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1874520"/>
            <a:ext cx="3209544" cy="422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clasificar(numeros):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positivos = 0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negativos = 0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ceros = 0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numero in numeros: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numero &gt; 0: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positivos += 1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elif numero &lt; 0: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negativos += 1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else: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ceros += 1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positivos, negativos, ceros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4361688" y="1417320"/>
            <a:ext cx="3611880" cy="4846320"/>
          </a:xfrm>
          <a:prstGeom prst="roundRect">
            <a:avLst>
              <a:gd name="adj" fmla="val 1519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62856" y="1581912"/>
            <a:ext cx="201168" cy="201168"/>
          </a:xfrm>
          <a:prstGeom prst="ellipse">
            <a:avLst/>
          </a:prstGeom>
          <a:solidFill>
            <a:srgbClr val="9B4F96"/>
          </a:solidFill>
          <a:ln/>
        </p:spPr>
      </p:sp>
      <p:sp>
        <p:nvSpPr>
          <p:cNvPr id="10" name="Text 8"/>
          <p:cNvSpPr/>
          <p:nvPr/>
        </p:nvSpPr>
        <p:spPr>
          <a:xfrm>
            <a:off x="4818888" y="150876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62856" y="1874520"/>
            <a:ext cx="3209544" cy="422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(int pos, int neg, int cer)</a:t>
            </a:r>
            <a:endParaRPr lang="en-US" sz="10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Clasificar(List&lt;double&gt; numeros)</a:t>
            </a:r>
            <a:endParaRPr lang="en-US" sz="10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pos = 0, neg = 0, cer = 0;</a:t>
            </a:r>
            <a:endParaRPr lang="en-US" sz="10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foreach (double n in numeros)</a:t>
            </a:r>
            <a:endParaRPr lang="en-US" sz="10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(n &gt; 0) pos++;</a:t>
            </a:r>
            <a:endParaRPr lang="en-US" sz="10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 if (n &lt; 0) neg++;</a:t>
            </a:r>
            <a:endParaRPr lang="en-US" sz="10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 cer++;</a:t>
            </a:r>
            <a:endParaRPr lang="en-US" sz="10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(pos, neg, cer);</a:t>
            </a:r>
            <a:endParaRPr lang="en-US" sz="10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8174736" y="1417320"/>
            <a:ext cx="3611880" cy="4846320"/>
          </a:xfrm>
          <a:prstGeom prst="roundRect">
            <a:avLst>
              <a:gd name="adj" fmla="val 1519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75904" y="1581912"/>
            <a:ext cx="201168" cy="201168"/>
          </a:xfrm>
          <a:prstGeom prst="ellipse">
            <a:avLst/>
          </a:prstGeom>
          <a:solidFill>
            <a:srgbClr val="E76F00"/>
          </a:solidFill>
          <a:ln/>
        </p:spPr>
      </p:sp>
      <p:sp>
        <p:nvSpPr>
          <p:cNvPr id="14" name="Text 12"/>
          <p:cNvSpPr/>
          <p:nvPr/>
        </p:nvSpPr>
        <p:spPr>
          <a:xfrm>
            <a:off x="8631936" y="150876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75904" y="1874520"/>
            <a:ext cx="3209544" cy="422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int[] clasificar(</a:t>
            </a:r>
            <a:endParaRPr lang="en-US" sz="10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List&lt;Double&gt; numeros) {</a:t>
            </a:r>
            <a:endParaRPr lang="en-US" sz="10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pos = 0, neg = 0, cer = 0;</a:t>
            </a:r>
            <a:endParaRPr lang="en-US" sz="10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(double n : numeros) {</a:t>
            </a:r>
            <a:endParaRPr lang="en-US" sz="10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(n &gt; 0) pos++;</a:t>
            </a:r>
            <a:endParaRPr lang="en-US" sz="10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 if (n &lt; 0) neg++;</a:t>
            </a:r>
            <a:endParaRPr lang="en-US" sz="10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 cer++;</a:t>
            </a:r>
            <a:endParaRPr lang="en-US" sz="10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new int[]</a:t>
            </a:r>
            <a:endParaRPr lang="en-US" sz="10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 pos, neg, cer };</a:t>
            </a:r>
            <a:endParaRPr lang="en-US" sz="10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6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Análisis y Metodología de Resolución de Problemas · ITD / TecNM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180015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  Comparación de la implementación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versiones implementan exactamente el mismo diseño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76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4F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6F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Estructura de datos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List&lt;double&gt;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List&lt;Double&gt;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Retorno de varios valores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tupla (a, b, c)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tupla nombrada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arreglo int[]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 → número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float(input(...))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double.Parse(...)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Double.parseDouble(...)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Punto de entrada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__name__ == "__main__"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static void Main()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public static void main(String[] args)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Análisis y Metodología de Resolución de Problemas · ITD / TecNM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180015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  Depuración, pruebas y manejo de errores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tipos de error y cómo cada lenguaje atrapa una entrada inválida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114800"/>
                <a:gridCol w="4572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error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 en este problema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Sintaxis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código no cumple las reglas del lenguaje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Olvidar : en Python o ; en C#/Java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Ejecución (runtime)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código es válido pero falla con ciertos datos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usuario escribe "abc" en vez de un número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Lógico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programa corre, pero el resultado es incorrecto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Usar &gt;= en vez de &gt; y contar el cero como positivo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246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9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LA ENTRADA INVÁLIDA POR LENGUAJE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3566160"/>
            <a:ext cx="3611880" cy="2651760"/>
          </a:xfrm>
          <a:prstGeom prst="roundRect">
            <a:avLst>
              <a:gd name="adj" fmla="val 2069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" y="3730752"/>
            <a:ext cx="201168" cy="201168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365760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49808" y="4023360"/>
            <a:ext cx="3209544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valor = float(input(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"Número: "))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ValueError: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print("Entrada inválida")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61688" y="3566160"/>
            <a:ext cx="3611880" cy="2651760"/>
          </a:xfrm>
          <a:prstGeom prst="roundRect">
            <a:avLst>
              <a:gd name="adj" fmla="val 2069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62856" y="3730752"/>
            <a:ext cx="201168" cy="201168"/>
          </a:xfrm>
          <a:prstGeom prst="ellipse">
            <a:avLst/>
          </a:prstGeom>
          <a:solidFill>
            <a:srgbClr val="9B4F96"/>
          </a:solidFill>
          <a:ln/>
        </p:spPr>
      </p:sp>
      <p:sp>
        <p:nvSpPr>
          <p:cNvPr id="12" name="Text 9"/>
          <p:cNvSpPr/>
          <p:nvPr/>
        </p:nvSpPr>
        <p:spPr>
          <a:xfrm>
            <a:off x="4818888" y="365760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62856" y="4023360"/>
            <a:ext cx="3209544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endParaRPr lang="en-US" sz="10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valor =</a:t>
            </a:r>
            <a:endParaRPr lang="en-US" sz="10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double.Parse(</a:t>
            </a:r>
            <a:endParaRPr lang="en-US" sz="10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Console.ReadLine());</a:t>
            </a:r>
            <a:endParaRPr lang="en-US" sz="10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(FormatException)</a:t>
            </a:r>
            <a:endParaRPr lang="en-US" sz="10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Console.WriteLine("Inválida");</a:t>
            </a:r>
            <a:endParaRPr lang="en-US" sz="10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30" dirty="0"/>
          </a:p>
        </p:txBody>
      </p:sp>
      <p:sp>
        <p:nvSpPr>
          <p:cNvPr id="14" name="Shape 11"/>
          <p:cNvSpPr/>
          <p:nvPr/>
        </p:nvSpPr>
        <p:spPr>
          <a:xfrm>
            <a:off x="8174736" y="3566160"/>
            <a:ext cx="3611880" cy="2651760"/>
          </a:xfrm>
          <a:prstGeom prst="roundRect">
            <a:avLst>
              <a:gd name="adj" fmla="val 2069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75904" y="3730752"/>
            <a:ext cx="201168" cy="201168"/>
          </a:xfrm>
          <a:prstGeom prst="ellipse">
            <a:avLst/>
          </a:prstGeom>
          <a:solidFill>
            <a:srgbClr val="E76F00"/>
          </a:solidFill>
          <a:ln/>
        </p:spPr>
      </p:sp>
      <p:sp>
        <p:nvSpPr>
          <p:cNvPr id="16" name="Text 13"/>
          <p:cNvSpPr/>
          <p:nvPr/>
        </p:nvSpPr>
        <p:spPr>
          <a:xfrm>
            <a:off x="8631936" y="365760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375904" y="4023360"/>
            <a:ext cx="3209544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10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valor =</a:t>
            </a:r>
            <a:endParaRPr lang="en-US" sz="10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Double.parseDouble(</a:t>
            </a:r>
            <a:endParaRPr lang="en-US" sz="10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sc.nextLine());</a:t>
            </a:r>
            <a:endParaRPr lang="en-US" sz="10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</a:t>
            </a:r>
            <a:endParaRPr lang="en-US" sz="10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NumberFormatException e) {</a:t>
            </a:r>
            <a:endParaRPr lang="en-US" sz="10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</a:t>
            </a:r>
            <a:endParaRPr lang="en-US" sz="10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"Inválida");</a:t>
            </a:r>
            <a:endParaRPr lang="en-US" sz="10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30" dirty="0"/>
          </a:p>
        </p:txBody>
      </p:sp>
      <p:sp>
        <p:nvSpPr>
          <p:cNvPr id="18" name="Text 15"/>
          <p:cNvSpPr/>
          <p:nvPr/>
        </p:nvSpPr>
        <p:spPr>
          <a:xfrm>
            <a:off x="54864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Análisis y Metodología de Resolución de Problemas · ITD / TecNM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180015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  Diseño de casos de prueba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buen conjunto de pruebas busca romper el programa a propósito, no solo confirmar que funciona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2377440"/>
                <a:gridCol w="3291840"/>
                <a:gridCol w="2651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esperado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 típico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 -3, 0, 10, -1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pos, 2 neg, 1 cero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 positivos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1, 2, 3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pos, 0 neg, 0 ceros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 ceros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0, 0, 0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pos, 0 neg, 3 ceros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Límite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solo número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pos, 1 neg, 0 ceros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Límite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Cero elementos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 0, 0 sin pedir números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Extremo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 negativo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pos, 1 neg, 0 ceros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dato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 no numérica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"abc"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Mensaje de error, no se rompe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Manejo de errores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Análisis y Metodología de Resolución de Problemas · ITD / TecNM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180015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2.6  Documentación y buenas prácticas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se escribe una vez, pero se lee muchas veces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9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ANTES DE ENTREGAR CÓDIGO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856232"/>
            <a:ext cx="329184" cy="329184"/>
          </a:xfrm>
          <a:prstGeom prst="ellipse">
            <a:avLst/>
          </a:prstGeom>
          <a:solidFill>
            <a:srgbClr val="1F9D74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73736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¿Los nombres explican su propósito sin leer el cuerpo?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95728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514600"/>
            <a:ext cx="329184" cy="329184"/>
          </a:xfrm>
          <a:prstGeom prst="ellipse">
            <a:avLst/>
          </a:prstGeom>
          <a:solidFill>
            <a:srgbClr val="1F9D74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505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39572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¿Cada función hace una sola cosa y está documentada?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054096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172968"/>
            <a:ext cx="329184" cy="329184"/>
          </a:xfrm>
          <a:prstGeom prst="ellipse">
            <a:avLst/>
          </a:prstGeom>
          <a:solidFill>
            <a:srgbClr val="1F9D74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3163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3054096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eliminaron los print/Console usados solo para depurar?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712464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3232" y="3831336"/>
            <a:ext cx="329184" cy="329184"/>
          </a:xfrm>
          <a:prstGeom prst="ellipse">
            <a:avLst/>
          </a:prstGeom>
          <a:solidFill>
            <a:srgbClr val="1F9D74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3822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371246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manejan los errores de entrada más obvios?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370832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3232" y="4489704"/>
            <a:ext cx="329184" cy="329184"/>
          </a:xfrm>
          <a:prstGeom prst="ellipse">
            <a:avLst/>
          </a:prstGeom>
          <a:solidFill>
            <a:srgbClr val="1F9D74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4480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437083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estilo de nombres es consistente con el lenguaje usado?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936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CONVENCIÓN DE NOMBRES POR LENGUAJE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737360"/>
          <a:ext cx="5349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03120"/>
                <a:gridCol w="1783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Lenguaje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snake_case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capturar_numeros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PascalCase (métodos)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CapturarNumeros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camelCase (métodos)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capturarNumeros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6309360" y="3794760"/>
            <a:ext cx="5349240" cy="2286000"/>
          </a:xfrm>
          <a:prstGeom prst="roundRect">
            <a:avLst>
              <a:gd name="adj" fmla="val 2400"/>
            </a:avLst>
          </a:prstGeom>
          <a:solidFill>
            <a:srgbClr val="1B1D2A"/>
          </a:solidFill>
          <a:ln/>
          <a:effectLst>
            <a:outerShdw sx="100000" sy="100000" kx="0" ky="0" algn="bl" rotWithShape="0" blurRad="63500" dist="25400" dir="5400000">
              <a:srgbClr val="000000">
                <a:alpha val="2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510528" y="3950208"/>
            <a:ext cx="201168" cy="201168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29" name="Text 26"/>
          <p:cNvSpPr/>
          <p:nvPr/>
        </p:nvSpPr>
        <p:spPr>
          <a:xfrm>
            <a:off x="6784848" y="38862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 (Python)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6510528" y="425196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clasificar(numeros):</a:t>
            </a:r>
            <a:endParaRPr lang="en-US" sz="103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</a:t>
            </a:r>
            <a:endParaRPr lang="en-US" sz="103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Clasifica números en positivos,</a:t>
            </a:r>
            <a:endParaRPr lang="en-US" sz="103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negativos y ceros.</a:t>
            </a:r>
            <a:endParaRPr lang="en-US" sz="1030" dirty="0"/>
          </a:p>
          <a:p>
            <a:pPr indent="0" marL="0">
              <a:lnSpc>
                <a:spcPct val="110000"/>
              </a:lnSpc>
              <a:buNone/>
            </a:pPr>
            <a:endParaRPr lang="en-US" sz="103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Parámetros:</a:t>
            </a:r>
            <a:endParaRPr lang="en-US" sz="103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numeros (list[float])</a:t>
            </a:r>
            <a:endParaRPr lang="en-US" sz="103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Retorna:</a:t>
            </a:r>
            <a:endParaRPr lang="en-US" sz="103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tuple: (pos, neg, cer)</a:t>
            </a:r>
            <a:endParaRPr lang="en-US" sz="103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</a:t>
            </a:r>
            <a:endParaRPr lang="en-US" sz="1030" dirty="0"/>
          </a:p>
        </p:txBody>
      </p:sp>
      <p:sp>
        <p:nvSpPr>
          <p:cNvPr id="31" name="Text 28"/>
          <p:cNvSpPr/>
          <p:nvPr/>
        </p:nvSpPr>
        <p:spPr>
          <a:xfrm>
            <a:off x="54864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Análisis y Metodología de Resolución de Problemas · ITD / TecNM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0180015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  Aplicación de la metodología completa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problema nuevo, la misma secuencia de pasos, aplicada en equipo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3258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propuesto: un profesor quiere calcular el promedio de calificaciones de un grupo y saber cuántos alumnos aprobaron (≥ 6) y cuántos reprobaron.</a:t>
            </a:r>
            <a:endParaRPr lang="en-US" sz="14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8046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que el equipo debe entregar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 Análisis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Responder las 5 preguntas del análisis para este problema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 Definición de solución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Proponer al menos dos enfoques y justificar cuál eligen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 Diseño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Pseudocódigo y diagrama de flujo del enfoque elegido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 Implementación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en Python, C# o Java (el equipo elige uno)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 Pruebas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 de al menos 5 casos de prueba, incluyendo casos límite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 Documentación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Comentarios/docstrings y nombres según la convención del lenguaje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Análisis y Metodología de Resolución de Problemas · ITD / TecNM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180015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3657600" cy="36576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943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Conexión con la Práctica 2 del temario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de problemas de clasificación de números — siguiendo los 7 pasos de esta unidad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80760" y="1828800"/>
            <a:ext cx="0" cy="4206240"/>
          </a:xfrm>
          <a:prstGeom prst="line">
            <a:avLst/>
          </a:prstGeom>
          <a:noFill/>
          <a:ln w="19050">
            <a:solidFill>
              <a:srgbClr val="3D4A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74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329184" cy="329184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768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" y="22402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fuente del programa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108960"/>
            <a:ext cx="329184" cy="329184"/>
          </a:xfrm>
          <a:prstGeom prst="ellipse">
            <a:avLst/>
          </a:prstGeom>
          <a:solidFill>
            <a:srgbClr val="9B4F9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998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15568" y="30632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del análisis, diseño, implementación y pruebas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931920"/>
            <a:ext cx="329184" cy="329184"/>
          </a:xfrm>
          <a:prstGeom prst="ellipse">
            <a:avLst/>
          </a:prstGeom>
          <a:solidFill>
            <a:srgbClr val="E76F0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22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15568" y="3886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de datos utilizados y resultados obtenidos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1874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EVALUACIÓN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0" y="2286000"/>
            <a:ext cx="310896" cy="310896"/>
          </a:xfrm>
          <a:prstGeom prst="ellipse">
            <a:avLst/>
          </a:prstGeom>
          <a:solidFill>
            <a:srgbClr val="1F9D7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2276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0" y="22402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del problema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0" y="2944368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935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0" y="28986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del algoritmo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0" y="3602736"/>
            <a:ext cx="310896" cy="310896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3593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0" y="355701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la implementación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0" y="4261104"/>
            <a:ext cx="310896" cy="310896"/>
          </a:xfrm>
          <a:prstGeom prst="ellipse">
            <a:avLst/>
          </a:prstGeom>
          <a:solidFill>
            <a:srgbClr val="9B4F96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4251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58000" y="421538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y depuración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0" y="4919472"/>
            <a:ext cx="310896" cy="310896"/>
          </a:xfrm>
          <a:prstGeom prst="ellipse">
            <a:avLst/>
          </a:prstGeom>
          <a:solidFill>
            <a:srgbClr val="E76F0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4910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58000" y="4873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Tecnológico de Durango · TecNM  ·  Ingeniería en Inteligencia Artificial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2026-07-21T15:41:39Z</dcterms:created>
  <dcterms:modified xsi:type="dcterms:W3CDTF">2026-07-21T15:41:39Z</dcterms:modified>
</cp:coreProperties>
</file>