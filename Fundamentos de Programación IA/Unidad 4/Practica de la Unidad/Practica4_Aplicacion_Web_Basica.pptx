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387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73580"/>
          </a:solidFill>
          <a:ln/>
        </p:spPr>
        <p:txBody>
          <a:bodyPr/>
          <a:lstStyle/>
          <a:p>
            <a:endParaRPr lang="es-MX"/>
          </a:p>
        </p:txBody>
      </p:sp>
      <p:sp>
        <p:nvSpPr>
          <p:cNvPr id="3" name="Shape 1"/>
          <p:cNvSpPr/>
          <p:nvPr/>
        </p:nvSpPr>
        <p:spPr>
          <a:xfrm>
            <a:off x="-1645920" y="4937760"/>
            <a:ext cx="3840480" cy="3840480"/>
          </a:xfrm>
          <a:prstGeom prst="ellipse">
            <a:avLst/>
          </a:prstGeom>
          <a:solidFill>
            <a:srgbClr val="273580"/>
          </a:solidFill>
          <a:ln/>
        </p:spPr>
        <p:txBody>
          <a:bodyPr/>
          <a:lstStyle/>
          <a:p>
            <a:endParaRPr lang="es-MX"/>
          </a:p>
        </p:txBody>
      </p:sp>
      <p:sp>
        <p:nvSpPr>
          <p:cNvPr id="4" name="Text 2"/>
          <p:cNvSpPr/>
          <p:nvPr/>
        </p:nvSpPr>
        <p:spPr>
          <a:xfrm>
            <a:off x="640080" y="1280160"/>
            <a:ext cx="9144000" cy="365760"/>
          </a:xfrm>
          <a:prstGeom prst="rect">
            <a:avLst/>
          </a:prstGeom>
          <a:noFill/>
          <a:ln/>
        </p:spPr>
        <p:txBody>
          <a:bodyPr wrap="square" rtlCol="0" anchor="ctr"/>
          <a:lstStyle/>
          <a:p>
            <a:pPr marL="0" indent="0">
              <a:buNone/>
            </a:pPr>
            <a:r>
              <a:rPr lang="en-US" sz="1500" b="1" kern="0" spc="300" dirty="0">
                <a:solidFill>
                  <a:srgbClr val="CADCFC"/>
                </a:solidFill>
                <a:latin typeface="Calibri" pitchFamily="34" charset="0"/>
                <a:ea typeface="Calibri" pitchFamily="34" charset="-122"/>
                <a:cs typeface="Calibri" pitchFamily="34" charset="-120"/>
              </a:rPr>
              <a:t>FUNDAMENTOS DE PROGRAMACIÓN · IAD-2413</a:t>
            </a:r>
            <a:endParaRPr lang="en-US" sz="1500" dirty="0"/>
          </a:p>
        </p:txBody>
      </p:sp>
      <p:sp>
        <p:nvSpPr>
          <p:cNvPr id="5" name="Text 3"/>
          <p:cNvSpPr/>
          <p:nvPr/>
        </p:nvSpPr>
        <p:spPr>
          <a:xfrm>
            <a:off x="640080" y="1737360"/>
            <a:ext cx="9144000" cy="73152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Práctica 4</a:t>
            </a:r>
            <a:endParaRPr lang="en-US" sz="4400" dirty="0"/>
          </a:p>
        </p:txBody>
      </p:sp>
      <p:sp>
        <p:nvSpPr>
          <p:cNvPr id="6" name="Text 4"/>
          <p:cNvSpPr/>
          <p:nvPr/>
        </p:nvSpPr>
        <p:spPr>
          <a:xfrm>
            <a:off x="640080" y="2423160"/>
            <a:ext cx="987552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Desarrollo de una aplicación web básica</a:t>
            </a:r>
            <a:endParaRPr lang="en-US" sz="2800" dirty="0"/>
          </a:p>
        </p:txBody>
      </p:sp>
      <p:sp>
        <p:nvSpPr>
          <p:cNvPr id="7" name="Text 5"/>
          <p:cNvSpPr/>
          <p:nvPr/>
        </p:nvSpPr>
        <p:spPr>
          <a:xfrm>
            <a:off x="640080" y="3063240"/>
            <a:ext cx="9601200" cy="457200"/>
          </a:xfrm>
          <a:prstGeom prst="rect">
            <a:avLst/>
          </a:prstGeom>
          <a:noFill/>
          <a:ln/>
        </p:spPr>
        <p:txBody>
          <a:bodyPr wrap="square" rtlCol="0" anchor="ctr"/>
          <a:lstStyle/>
          <a:p>
            <a:pPr marL="0" indent="0">
              <a:buNone/>
            </a:pPr>
            <a:r>
              <a:rPr lang="en-US" sz="1700" i="1" dirty="0">
                <a:solidFill>
                  <a:srgbClr val="CADCFC"/>
                </a:solidFill>
                <a:latin typeface="Calibri" pitchFamily="34" charset="0"/>
                <a:ea typeface="Calibri" pitchFamily="34" charset="-122"/>
                <a:cs typeface="Calibri" pitchFamily="34" charset="-120"/>
              </a:rPr>
              <a:t>De cero a una app funcional: registro de usuario y página de perfil con Flask</a:t>
            </a:r>
            <a:endParaRPr lang="en-US" sz="1700" dirty="0"/>
          </a:p>
        </p:txBody>
      </p:sp>
      <p:sp>
        <p:nvSpPr>
          <p:cNvPr id="8" name="Shape 6"/>
          <p:cNvSpPr/>
          <p:nvPr/>
        </p:nvSpPr>
        <p:spPr>
          <a:xfrm>
            <a:off x="640080" y="3840480"/>
            <a:ext cx="1737360" cy="411480"/>
          </a:xfrm>
          <a:prstGeom prst="roundRect">
            <a:avLst>
              <a:gd name="adj" fmla="val 17778"/>
            </a:avLst>
          </a:prstGeom>
          <a:solidFill>
            <a:srgbClr val="3776AB"/>
          </a:solidFill>
          <a:ln/>
        </p:spPr>
        <p:txBody>
          <a:bodyPr/>
          <a:lstStyle/>
          <a:p>
            <a:endParaRPr lang="es-MX"/>
          </a:p>
        </p:txBody>
      </p:sp>
      <p:sp>
        <p:nvSpPr>
          <p:cNvPr id="9" name="Text 7"/>
          <p:cNvSpPr/>
          <p:nvPr/>
        </p:nvSpPr>
        <p:spPr>
          <a:xfrm>
            <a:off x="640080" y="3840480"/>
            <a:ext cx="1737360" cy="41148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PYTHON + FLASK</a:t>
            </a:r>
            <a:endParaRPr lang="en-US" sz="1250" dirty="0"/>
          </a:p>
        </p:txBody>
      </p:sp>
      <p:sp>
        <p:nvSpPr>
          <p:cNvPr id="10" name="Shape 8"/>
          <p:cNvSpPr/>
          <p:nvPr/>
        </p:nvSpPr>
        <p:spPr>
          <a:xfrm>
            <a:off x="2606040" y="3840480"/>
            <a:ext cx="1737360" cy="411480"/>
          </a:xfrm>
          <a:prstGeom prst="roundRect">
            <a:avLst>
              <a:gd name="adj" fmla="val 17778"/>
            </a:avLst>
          </a:prstGeom>
          <a:solidFill>
            <a:srgbClr val="1F9D74"/>
          </a:solidFill>
          <a:ln/>
        </p:spPr>
        <p:txBody>
          <a:bodyPr/>
          <a:lstStyle/>
          <a:p>
            <a:endParaRPr lang="es-MX"/>
          </a:p>
        </p:txBody>
      </p:sp>
      <p:sp>
        <p:nvSpPr>
          <p:cNvPr id="11" name="Text 9"/>
          <p:cNvSpPr/>
          <p:nvPr/>
        </p:nvSpPr>
        <p:spPr>
          <a:xfrm>
            <a:off x="2606040" y="3840480"/>
            <a:ext cx="1737360" cy="41148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HTML + CSS</a:t>
            </a:r>
            <a:endParaRPr lang="en-US" sz="1250" dirty="0"/>
          </a:p>
        </p:txBody>
      </p:sp>
      <p:sp>
        <p:nvSpPr>
          <p:cNvPr id="12" name="Text 10"/>
          <p:cNvSpPr/>
          <p:nvPr/>
        </p:nvSpPr>
        <p:spPr>
          <a:xfrm>
            <a:off x="640080" y="6035040"/>
            <a:ext cx="7315200" cy="274320"/>
          </a:xfrm>
          <a:prstGeom prst="rect">
            <a:avLst/>
          </a:prstGeom>
          <a:noFill/>
          <a:ln/>
        </p:spPr>
        <p:txBody>
          <a:bodyPr wrap="square" rtlCol="0" anchor="ctr"/>
          <a:lstStyle/>
          <a:p>
            <a:pPr marL="0" indent="0">
              <a:buNone/>
            </a:pPr>
            <a:r>
              <a:rPr lang="en-US" sz="1200" dirty="0">
                <a:solidFill>
                  <a:srgbClr val="9AAAD8"/>
                </a:solidFill>
                <a:latin typeface="Calibri" pitchFamily="34" charset="0"/>
                <a:ea typeface="Calibri" pitchFamily="34" charset="-122"/>
                <a:cs typeface="Calibri" pitchFamily="34" charset="-120"/>
              </a:rPr>
              <a:t>Instituto Tecnológico de Durango · TecNM</a:t>
            </a:r>
            <a:endParaRPr lang="en-US" sz="1200" dirty="0"/>
          </a:p>
        </p:txBody>
      </p:sp>
      <p:sp>
        <p:nvSpPr>
          <p:cNvPr id="13" name="Text 11"/>
          <p:cNvSpPr/>
          <p:nvPr/>
        </p:nvSpPr>
        <p:spPr>
          <a:xfrm>
            <a:off x="640080" y="6291072"/>
            <a:ext cx="7315200" cy="274320"/>
          </a:xfrm>
          <a:prstGeom prst="rect">
            <a:avLst/>
          </a:prstGeom>
          <a:noFill/>
          <a:ln/>
        </p:spPr>
        <p:txBody>
          <a:bodyPr wrap="square" rtlCol="0" anchor="ctr"/>
          <a:lstStyle/>
          <a:p>
            <a:pPr marL="0" indent="0">
              <a:buNone/>
            </a:pPr>
            <a:r>
              <a:rPr lang="en-US" sz="1200" dirty="0">
                <a:solidFill>
                  <a:srgbClr val="9AAAD8"/>
                </a:solidFill>
                <a:latin typeface="Calibri" pitchFamily="34" charset="0"/>
                <a:ea typeface="Calibri" pitchFamily="34" charset="-122"/>
                <a:cs typeface="Calibri" pitchFamily="34" charset="-120"/>
              </a:rPr>
              <a:t>Ingeniería en Inteligencia Artificial · Fundamentos de Programación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Objetivo de la práctica</a:t>
            </a:r>
            <a:endParaRPr lang="en-US" sz="28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Qué vamos a construir y qué habrás aprendido al terminar</a:t>
            </a:r>
            <a:endParaRPr lang="en-US" sz="1400" dirty="0"/>
          </a:p>
        </p:txBody>
      </p:sp>
      <p:sp>
        <p:nvSpPr>
          <p:cNvPr id="4" name="Text 2"/>
          <p:cNvSpPr/>
          <p:nvPr/>
        </p:nvSpPr>
        <p:spPr>
          <a:xfrm>
            <a:off x="548640" y="1371600"/>
            <a:ext cx="11064240" cy="822960"/>
          </a:xfrm>
          <a:prstGeom prst="rect">
            <a:avLst/>
          </a:prstGeom>
          <a:noFill/>
          <a:ln/>
        </p:spPr>
        <p:txBody>
          <a:bodyPr wrap="square" rtlCol="0" anchor="ctr"/>
          <a:lstStyle/>
          <a:p>
            <a:pPr marL="0" indent="0">
              <a:buNone/>
            </a:pPr>
            <a:r>
              <a:rPr lang="en-US" sz="1600" i="1" dirty="0">
                <a:solidFill>
                  <a:srgbClr val="2B2B33"/>
                </a:solidFill>
                <a:latin typeface="Calibri" pitchFamily="34" charset="0"/>
                <a:ea typeface="Calibri" pitchFamily="34" charset="-122"/>
                <a:cs typeface="Calibri" pitchFamily="34" charset="-120"/>
              </a:rPr>
              <a:t>Desarrollar una aplicación web básica que permita registrar los datos de un usuario y visualizarlos en una página de perfil, usando Python con Flask para el backend y HTML/CSS para la interfaz.</a:t>
            </a:r>
            <a:endParaRPr lang="en-US" sz="1600" dirty="0"/>
          </a:p>
        </p:txBody>
      </p:sp>
      <p:sp>
        <p:nvSpPr>
          <p:cNvPr id="5" name="Shape 3"/>
          <p:cNvSpPr/>
          <p:nvPr/>
        </p:nvSpPr>
        <p:spPr>
          <a:xfrm>
            <a:off x="548640" y="2468880"/>
            <a:ext cx="2697480" cy="2926080"/>
          </a:xfrm>
          <a:prstGeom prst="roundRect">
            <a:avLst>
              <a:gd name="adj" fmla="val 2712"/>
            </a:avLst>
          </a:prstGeom>
          <a:solidFill>
            <a:srgbClr val="FFFFFF"/>
          </a:solidFill>
          <a:ln w="12700">
            <a:solidFill>
              <a:srgbClr val="DDE1EF"/>
            </a:solidFill>
            <a:prstDash val="solid"/>
          </a:ln>
          <a:effectLst>
            <a:outerShdw blurRad="76200" dist="25400" dir="5400000" algn="bl" rotWithShape="0">
              <a:srgbClr val="5B6494">
                <a:alpha val="18000"/>
              </a:srgbClr>
            </a:outerShdw>
          </a:effectLst>
        </p:spPr>
        <p:txBody>
          <a:bodyPr/>
          <a:lstStyle/>
          <a:p>
            <a:endParaRPr lang="es-MX"/>
          </a:p>
        </p:txBody>
      </p:sp>
      <p:sp>
        <p:nvSpPr>
          <p:cNvPr id="6" name="Shape 4"/>
          <p:cNvSpPr/>
          <p:nvPr/>
        </p:nvSpPr>
        <p:spPr>
          <a:xfrm>
            <a:off x="777240" y="2697480"/>
            <a:ext cx="457200" cy="457200"/>
          </a:xfrm>
          <a:prstGeom prst="ellipse">
            <a:avLst/>
          </a:prstGeom>
          <a:solidFill>
            <a:srgbClr val="3776AB"/>
          </a:solidFill>
          <a:ln/>
        </p:spPr>
        <p:txBody>
          <a:bodyPr/>
          <a:lstStyle/>
          <a:p>
            <a:endParaRPr lang="es-MX"/>
          </a:p>
        </p:txBody>
      </p:sp>
      <p:sp>
        <p:nvSpPr>
          <p:cNvPr id="7" name="Text 5"/>
          <p:cNvSpPr/>
          <p:nvPr/>
        </p:nvSpPr>
        <p:spPr>
          <a:xfrm>
            <a:off x="777240" y="2697480"/>
            <a:ext cx="457200" cy="45720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777240" y="3291840"/>
            <a:ext cx="2240280" cy="54864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Instalar el entorno</a:t>
            </a:r>
            <a:endParaRPr lang="en-US" sz="1500" dirty="0"/>
          </a:p>
        </p:txBody>
      </p:sp>
      <p:sp>
        <p:nvSpPr>
          <p:cNvPr id="9" name="Text 7"/>
          <p:cNvSpPr/>
          <p:nvPr/>
        </p:nvSpPr>
        <p:spPr>
          <a:xfrm>
            <a:off x="777240" y="3840480"/>
            <a:ext cx="2240280" cy="1371600"/>
          </a:xfrm>
          <a:prstGeom prst="rect">
            <a:avLst/>
          </a:prstGeom>
          <a:noFill/>
          <a:ln/>
        </p:spPr>
        <p:txBody>
          <a:bodyPr wrap="square" rtlCol="0" anchor="t"/>
          <a:lstStyle/>
          <a:p>
            <a:pPr marL="0" indent="0">
              <a:buNone/>
            </a:pPr>
            <a:r>
              <a:rPr lang="en-US" sz="1200" dirty="0">
                <a:solidFill>
                  <a:srgbClr val="4A4A55"/>
                </a:solidFill>
                <a:latin typeface="Calibri" pitchFamily="34" charset="0"/>
                <a:ea typeface="Calibri" pitchFamily="34" charset="-122"/>
                <a:cs typeface="Calibri" pitchFamily="34" charset="-120"/>
              </a:rPr>
              <a:t>Python, VS Code y un entorno virtual — desde cero.</a:t>
            </a:r>
            <a:endParaRPr lang="en-US" sz="1200" dirty="0"/>
          </a:p>
        </p:txBody>
      </p:sp>
      <p:sp>
        <p:nvSpPr>
          <p:cNvPr id="10" name="Shape 8"/>
          <p:cNvSpPr/>
          <p:nvPr/>
        </p:nvSpPr>
        <p:spPr>
          <a:xfrm>
            <a:off x="3474720" y="2468880"/>
            <a:ext cx="2697480" cy="2926080"/>
          </a:xfrm>
          <a:prstGeom prst="roundRect">
            <a:avLst>
              <a:gd name="adj" fmla="val 2712"/>
            </a:avLst>
          </a:prstGeom>
          <a:solidFill>
            <a:srgbClr val="FFFFFF"/>
          </a:solidFill>
          <a:ln w="12700">
            <a:solidFill>
              <a:srgbClr val="DDE1EF"/>
            </a:solidFill>
            <a:prstDash val="solid"/>
          </a:ln>
          <a:effectLst>
            <a:outerShdw blurRad="76200" dist="25400" dir="5400000" algn="bl" rotWithShape="0">
              <a:srgbClr val="5B6494">
                <a:alpha val="18000"/>
              </a:srgbClr>
            </a:outerShdw>
          </a:effectLst>
        </p:spPr>
        <p:txBody>
          <a:bodyPr/>
          <a:lstStyle/>
          <a:p>
            <a:endParaRPr lang="es-MX"/>
          </a:p>
        </p:txBody>
      </p:sp>
      <p:sp>
        <p:nvSpPr>
          <p:cNvPr id="11" name="Shape 9"/>
          <p:cNvSpPr/>
          <p:nvPr/>
        </p:nvSpPr>
        <p:spPr>
          <a:xfrm>
            <a:off x="3703320" y="2697480"/>
            <a:ext cx="457200" cy="457200"/>
          </a:xfrm>
          <a:prstGeom prst="ellipse">
            <a:avLst/>
          </a:prstGeom>
          <a:solidFill>
            <a:srgbClr val="1F9D74"/>
          </a:solidFill>
          <a:ln/>
        </p:spPr>
        <p:txBody>
          <a:bodyPr/>
          <a:lstStyle/>
          <a:p>
            <a:endParaRPr lang="es-MX"/>
          </a:p>
        </p:txBody>
      </p:sp>
      <p:sp>
        <p:nvSpPr>
          <p:cNvPr id="12" name="Text 10"/>
          <p:cNvSpPr/>
          <p:nvPr/>
        </p:nvSpPr>
        <p:spPr>
          <a:xfrm>
            <a:off x="3703320" y="2697480"/>
            <a:ext cx="457200" cy="45720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3703320" y="3291840"/>
            <a:ext cx="2240280" cy="54864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Construir la interfaz</a:t>
            </a:r>
            <a:endParaRPr lang="en-US" sz="1500" dirty="0"/>
          </a:p>
        </p:txBody>
      </p:sp>
      <p:sp>
        <p:nvSpPr>
          <p:cNvPr id="14" name="Text 12"/>
          <p:cNvSpPr/>
          <p:nvPr/>
        </p:nvSpPr>
        <p:spPr>
          <a:xfrm>
            <a:off x="3703320" y="3840480"/>
            <a:ext cx="2240280" cy="1371600"/>
          </a:xfrm>
          <a:prstGeom prst="rect">
            <a:avLst/>
          </a:prstGeom>
          <a:noFill/>
          <a:ln/>
        </p:spPr>
        <p:txBody>
          <a:bodyPr wrap="square" rtlCol="0" anchor="t"/>
          <a:lstStyle/>
          <a:p>
            <a:pPr marL="0" indent="0">
              <a:buNone/>
            </a:pPr>
            <a:r>
              <a:rPr lang="en-US" sz="1200" dirty="0">
                <a:solidFill>
                  <a:srgbClr val="4A4A55"/>
                </a:solidFill>
                <a:latin typeface="Calibri" pitchFamily="34" charset="0"/>
                <a:ea typeface="Calibri" pitchFamily="34" charset="-122"/>
                <a:cs typeface="Calibri" pitchFamily="34" charset="-120"/>
              </a:rPr>
              <a:t>Formulario en HTML, estilizado con CSS.</a:t>
            </a:r>
            <a:endParaRPr lang="en-US" sz="1200" dirty="0"/>
          </a:p>
        </p:txBody>
      </p:sp>
      <p:sp>
        <p:nvSpPr>
          <p:cNvPr id="15" name="Shape 13"/>
          <p:cNvSpPr/>
          <p:nvPr/>
        </p:nvSpPr>
        <p:spPr>
          <a:xfrm>
            <a:off x="6400800" y="2468880"/>
            <a:ext cx="2697480" cy="2926080"/>
          </a:xfrm>
          <a:prstGeom prst="roundRect">
            <a:avLst>
              <a:gd name="adj" fmla="val 2712"/>
            </a:avLst>
          </a:prstGeom>
          <a:solidFill>
            <a:srgbClr val="FFFFFF"/>
          </a:solidFill>
          <a:ln w="12700">
            <a:solidFill>
              <a:srgbClr val="DDE1EF"/>
            </a:solidFill>
            <a:prstDash val="solid"/>
          </a:ln>
          <a:effectLst>
            <a:outerShdw blurRad="76200" dist="25400" dir="5400000" algn="bl" rotWithShape="0">
              <a:srgbClr val="5B6494">
                <a:alpha val="18000"/>
              </a:srgbClr>
            </a:outerShdw>
          </a:effectLst>
        </p:spPr>
        <p:txBody>
          <a:bodyPr/>
          <a:lstStyle/>
          <a:p>
            <a:endParaRPr lang="es-MX"/>
          </a:p>
        </p:txBody>
      </p:sp>
      <p:sp>
        <p:nvSpPr>
          <p:cNvPr id="16" name="Shape 14"/>
          <p:cNvSpPr/>
          <p:nvPr/>
        </p:nvSpPr>
        <p:spPr>
          <a:xfrm>
            <a:off x="6629400" y="2697480"/>
            <a:ext cx="457200" cy="457200"/>
          </a:xfrm>
          <a:prstGeom prst="ellipse">
            <a:avLst/>
          </a:prstGeom>
          <a:solidFill>
            <a:srgbClr val="9B4F96"/>
          </a:solidFill>
          <a:ln/>
        </p:spPr>
        <p:txBody>
          <a:bodyPr/>
          <a:lstStyle/>
          <a:p>
            <a:endParaRPr lang="es-MX"/>
          </a:p>
        </p:txBody>
      </p:sp>
      <p:sp>
        <p:nvSpPr>
          <p:cNvPr id="17" name="Text 15"/>
          <p:cNvSpPr/>
          <p:nvPr/>
        </p:nvSpPr>
        <p:spPr>
          <a:xfrm>
            <a:off x="6629400" y="2697480"/>
            <a:ext cx="457200" cy="45720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8" name="Text 16"/>
          <p:cNvSpPr/>
          <p:nvPr/>
        </p:nvSpPr>
        <p:spPr>
          <a:xfrm>
            <a:off x="6629400" y="3291840"/>
            <a:ext cx="2240280" cy="54864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Programar el backend</a:t>
            </a:r>
            <a:endParaRPr lang="en-US" sz="1500" dirty="0"/>
          </a:p>
        </p:txBody>
      </p:sp>
      <p:sp>
        <p:nvSpPr>
          <p:cNvPr id="19" name="Text 17"/>
          <p:cNvSpPr/>
          <p:nvPr/>
        </p:nvSpPr>
        <p:spPr>
          <a:xfrm>
            <a:off x="6629400" y="3840480"/>
            <a:ext cx="2240280" cy="1371600"/>
          </a:xfrm>
          <a:prstGeom prst="rect">
            <a:avLst/>
          </a:prstGeom>
          <a:noFill/>
          <a:ln/>
        </p:spPr>
        <p:txBody>
          <a:bodyPr wrap="square" rtlCol="0" anchor="t"/>
          <a:lstStyle/>
          <a:p>
            <a:pPr marL="0" indent="0">
              <a:buNone/>
            </a:pPr>
            <a:r>
              <a:rPr lang="en-US" sz="1200" dirty="0">
                <a:solidFill>
                  <a:srgbClr val="4A4A55"/>
                </a:solidFill>
                <a:latin typeface="Calibri" pitchFamily="34" charset="0"/>
                <a:ea typeface="Calibri" pitchFamily="34" charset="-122"/>
                <a:cs typeface="Calibri" pitchFamily="34" charset="-120"/>
              </a:rPr>
              <a:t>Rutas Flask que reciben y muestran datos.</a:t>
            </a:r>
            <a:endParaRPr lang="en-US" sz="1200" dirty="0"/>
          </a:p>
        </p:txBody>
      </p:sp>
      <p:sp>
        <p:nvSpPr>
          <p:cNvPr id="20" name="Shape 18"/>
          <p:cNvSpPr/>
          <p:nvPr/>
        </p:nvSpPr>
        <p:spPr>
          <a:xfrm>
            <a:off x="9326880" y="2468880"/>
            <a:ext cx="2697480" cy="2926080"/>
          </a:xfrm>
          <a:prstGeom prst="roundRect">
            <a:avLst>
              <a:gd name="adj" fmla="val 2712"/>
            </a:avLst>
          </a:prstGeom>
          <a:solidFill>
            <a:srgbClr val="FFFFFF"/>
          </a:solidFill>
          <a:ln w="12700">
            <a:solidFill>
              <a:srgbClr val="DDE1EF"/>
            </a:solidFill>
            <a:prstDash val="solid"/>
          </a:ln>
          <a:effectLst>
            <a:outerShdw blurRad="76200" dist="25400" dir="5400000" algn="bl" rotWithShape="0">
              <a:srgbClr val="5B6494">
                <a:alpha val="18000"/>
              </a:srgbClr>
            </a:outerShdw>
          </a:effectLst>
        </p:spPr>
        <p:txBody>
          <a:bodyPr/>
          <a:lstStyle/>
          <a:p>
            <a:endParaRPr lang="es-MX"/>
          </a:p>
        </p:txBody>
      </p:sp>
      <p:sp>
        <p:nvSpPr>
          <p:cNvPr id="21" name="Shape 19"/>
          <p:cNvSpPr/>
          <p:nvPr/>
        </p:nvSpPr>
        <p:spPr>
          <a:xfrm>
            <a:off x="9555480" y="2697480"/>
            <a:ext cx="457200" cy="457200"/>
          </a:xfrm>
          <a:prstGeom prst="ellipse">
            <a:avLst/>
          </a:prstGeom>
          <a:solidFill>
            <a:srgbClr val="E76F00"/>
          </a:solidFill>
          <a:ln/>
        </p:spPr>
        <p:txBody>
          <a:bodyPr/>
          <a:lstStyle/>
          <a:p>
            <a:endParaRPr lang="es-MX"/>
          </a:p>
        </p:txBody>
      </p:sp>
      <p:sp>
        <p:nvSpPr>
          <p:cNvPr id="22" name="Text 20"/>
          <p:cNvSpPr/>
          <p:nvPr/>
        </p:nvSpPr>
        <p:spPr>
          <a:xfrm>
            <a:off x="9555480" y="2697480"/>
            <a:ext cx="457200" cy="45720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3" name="Text 21"/>
          <p:cNvSpPr/>
          <p:nvPr/>
        </p:nvSpPr>
        <p:spPr>
          <a:xfrm>
            <a:off x="9555480" y="3291840"/>
            <a:ext cx="2240280" cy="54864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Probar y documentar</a:t>
            </a:r>
            <a:endParaRPr lang="en-US" sz="1500" dirty="0"/>
          </a:p>
        </p:txBody>
      </p:sp>
      <p:sp>
        <p:nvSpPr>
          <p:cNvPr id="24" name="Text 22"/>
          <p:cNvSpPr/>
          <p:nvPr/>
        </p:nvSpPr>
        <p:spPr>
          <a:xfrm>
            <a:off x="9555480" y="3840480"/>
            <a:ext cx="2240280" cy="1371600"/>
          </a:xfrm>
          <a:prstGeom prst="rect">
            <a:avLst/>
          </a:prstGeom>
          <a:noFill/>
          <a:ln/>
        </p:spPr>
        <p:txBody>
          <a:bodyPr wrap="square" rtlCol="0" anchor="t"/>
          <a:lstStyle/>
          <a:p>
            <a:pPr marL="0" indent="0">
              <a:buNone/>
            </a:pPr>
            <a:r>
              <a:rPr lang="en-US" sz="1200" dirty="0">
                <a:solidFill>
                  <a:srgbClr val="4A4A55"/>
                </a:solidFill>
                <a:latin typeface="Calibri" pitchFamily="34" charset="0"/>
                <a:ea typeface="Calibri" pitchFamily="34" charset="-122"/>
                <a:cs typeface="Calibri" pitchFamily="34" charset="-120"/>
              </a:rPr>
              <a:t>Ejecutar, probar casos y entregar evidencias.</a:t>
            </a:r>
            <a:endParaRPr lang="en-US" sz="1200" dirty="0"/>
          </a:p>
        </p:txBody>
      </p:sp>
      <p:sp>
        <p:nvSpPr>
          <p:cNvPr id="25" name="Text 23"/>
          <p:cNvSpPr/>
          <p:nvPr/>
        </p:nvSpPr>
        <p:spPr>
          <a:xfrm>
            <a:off x="548640" y="6537960"/>
            <a:ext cx="7315200" cy="274320"/>
          </a:xfrm>
          <a:prstGeom prst="rect">
            <a:avLst/>
          </a:prstGeom>
          <a:noFill/>
          <a:ln/>
        </p:spPr>
        <p:txBody>
          <a:bodyPr wrap="square" rtlCol="0" anchor="ctr"/>
          <a:lstStyle/>
          <a:p>
            <a:pPr marL="0" indent="0">
              <a:buNone/>
            </a:pPr>
            <a:r>
              <a:rPr lang="en-US" sz="1000" dirty="0">
                <a:solidFill>
                  <a:srgbClr val="9AA0B4"/>
                </a:solidFill>
                <a:latin typeface="Calibri" pitchFamily="34" charset="0"/>
                <a:ea typeface="Calibri" pitchFamily="34" charset="-122"/>
                <a:cs typeface="Calibri" pitchFamily="34" charset="-120"/>
              </a:rPr>
              <a:t>Práctica 4 · Aplicación web básica · IAD-2413 · ITD</a:t>
            </a:r>
            <a:endParaRPr lang="en-US" sz="1000" dirty="0"/>
          </a:p>
        </p:txBody>
      </p:sp>
      <p:sp>
        <p:nvSpPr>
          <p:cNvPr id="26" name="Text 24"/>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9AA0B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Paso 1 · Instalar el entorno de desarrollo</a:t>
            </a:r>
            <a:endParaRPr lang="en-US" sz="28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Antes de escribir código, preparamos las herramientas</a:t>
            </a:r>
            <a:endParaRPr lang="en-US" sz="1400" dirty="0"/>
          </a:p>
        </p:txBody>
      </p:sp>
      <p:sp>
        <p:nvSpPr>
          <p:cNvPr id="4" name="Shape 2"/>
          <p:cNvSpPr/>
          <p:nvPr/>
        </p:nvSpPr>
        <p:spPr>
          <a:xfrm>
            <a:off x="548640" y="1417320"/>
            <a:ext cx="3611880" cy="4206240"/>
          </a:xfrm>
          <a:prstGeom prst="roundRect">
            <a:avLst>
              <a:gd name="adj" fmla="val 2025"/>
            </a:avLst>
          </a:prstGeom>
          <a:solidFill>
            <a:srgbClr val="FFFFFF"/>
          </a:solidFill>
          <a:ln w="12700">
            <a:solidFill>
              <a:srgbClr val="DDE1EF"/>
            </a:solidFill>
            <a:prstDash val="solid"/>
          </a:ln>
          <a:effectLst>
            <a:outerShdw blurRad="76200" dist="25400" dir="5400000" algn="bl" rotWithShape="0">
              <a:srgbClr val="5B6494">
                <a:alpha val="18000"/>
              </a:srgbClr>
            </a:outerShdw>
          </a:effectLst>
        </p:spPr>
        <p:txBody>
          <a:bodyPr/>
          <a:lstStyle/>
          <a:p>
            <a:endParaRPr lang="es-MX"/>
          </a:p>
        </p:txBody>
      </p:sp>
      <p:sp>
        <p:nvSpPr>
          <p:cNvPr id="5" name="Shape 3"/>
          <p:cNvSpPr/>
          <p:nvPr/>
        </p:nvSpPr>
        <p:spPr>
          <a:xfrm>
            <a:off x="777240" y="1645920"/>
            <a:ext cx="3154680" cy="502920"/>
          </a:xfrm>
          <a:prstGeom prst="roundRect">
            <a:avLst>
              <a:gd name="adj" fmla="val 10909"/>
            </a:avLst>
          </a:prstGeom>
          <a:solidFill>
            <a:srgbClr val="3776AB"/>
          </a:solidFill>
          <a:ln/>
        </p:spPr>
        <p:txBody>
          <a:bodyPr/>
          <a:lstStyle/>
          <a:p>
            <a:endParaRPr lang="es-MX"/>
          </a:p>
        </p:txBody>
      </p:sp>
      <p:sp>
        <p:nvSpPr>
          <p:cNvPr id="6" name="Text 4"/>
          <p:cNvSpPr/>
          <p:nvPr/>
        </p:nvSpPr>
        <p:spPr>
          <a:xfrm>
            <a:off x="777240" y="1645920"/>
            <a:ext cx="3154680" cy="502920"/>
          </a:xfrm>
          <a:prstGeom prst="rect">
            <a:avLst/>
          </a:prstGeom>
          <a:noFill/>
          <a:ln/>
        </p:spPr>
        <p:txBody>
          <a:bodyPr wrap="square" rtlCol="0" anchor="ctr"/>
          <a:lstStyle/>
          <a:p>
            <a:pPr marL="0" indent="0" algn="ctr">
              <a:buNone/>
            </a:pPr>
            <a:r>
              <a:rPr lang="en-US" sz="1450" b="1" dirty="0">
                <a:solidFill>
                  <a:srgbClr val="FFFFFF"/>
                </a:solidFill>
                <a:latin typeface="Cambria" pitchFamily="34" charset="0"/>
                <a:ea typeface="Cambria" pitchFamily="34" charset="-122"/>
                <a:cs typeface="Cambria" pitchFamily="34" charset="-120"/>
              </a:rPr>
              <a:t>Python 3</a:t>
            </a:r>
            <a:endParaRPr lang="en-US" sz="1450" dirty="0"/>
          </a:p>
        </p:txBody>
      </p:sp>
      <p:sp>
        <p:nvSpPr>
          <p:cNvPr id="7" name="Text 5"/>
          <p:cNvSpPr/>
          <p:nvPr/>
        </p:nvSpPr>
        <p:spPr>
          <a:xfrm>
            <a:off x="822960" y="2377440"/>
            <a:ext cx="3063240" cy="3108960"/>
          </a:xfrm>
          <a:prstGeom prst="rect">
            <a:avLst/>
          </a:prstGeom>
          <a:noFill/>
          <a:ln/>
        </p:spPr>
        <p:txBody>
          <a:bodyPr wrap="square" rtlCol="0" anchor="t"/>
          <a:lstStyle/>
          <a:p>
            <a:pPr marL="342900" indent="-342900">
              <a:spcAft>
                <a:spcPts val="1200"/>
              </a:spcAft>
              <a:buSzPct val="100000"/>
              <a:buChar char="●"/>
            </a:pPr>
            <a:r>
              <a:rPr lang="en-US" sz="1250" dirty="0">
                <a:solidFill>
                  <a:srgbClr val="2B2B33"/>
                </a:solidFill>
                <a:latin typeface="Calibri" pitchFamily="34" charset="0"/>
                <a:ea typeface="Calibri" pitchFamily="34" charset="-122"/>
                <a:cs typeface="Calibri" pitchFamily="34" charset="-120"/>
              </a:rPr>
              <a:t>python.org/downloads</a:t>
            </a:r>
            <a:endParaRPr lang="en-US" sz="1250" dirty="0"/>
          </a:p>
          <a:p>
            <a:pPr marL="342900" indent="-342900">
              <a:spcAft>
                <a:spcPts val="1200"/>
              </a:spcAft>
              <a:buSzPct val="100000"/>
              <a:buChar char="●"/>
            </a:pPr>
            <a:r>
              <a:rPr lang="en-US" sz="1250" dirty="0">
                <a:solidFill>
                  <a:srgbClr val="2B2B33"/>
                </a:solidFill>
                <a:latin typeface="Calibri" pitchFamily="34" charset="0"/>
                <a:ea typeface="Calibri" pitchFamily="34" charset="-122"/>
                <a:cs typeface="Calibri" pitchFamily="34" charset="-120"/>
              </a:rPr>
              <a:t>Windows: marcar "Add python.exe to PATH"</a:t>
            </a:r>
            <a:endParaRPr lang="en-US" sz="1250" dirty="0"/>
          </a:p>
          <a:p>
            <a:pPr marL="342900" indent="-342900">
              <a:spcAft>
                <a:spcPts val="1200"/>
              </a:spcAft>
              <a:buSzPct val="100000"/>
              <a:buChar char="●"/>
            </a:pPr>
            <a:r>
              <a:rPr lang="en-US" sz="1250" dirty="0">
                <a:solidFill>
                  <a:srgbClr val="2B2B33"/>
                </a:solidFill>
                <a:latin typeface="Calibri" pitchFamily="34" charset="0"/>
                <a:ea typeface="Calibri" pitchFamily="34" charset="-122"/>
                <a:cs typeface="Calibri" pitchFamily="34" charset="-120"/>
              </a:rPr>
              <a:t>macOS: ejecutar el instalador .pkg</a:t>
            </a:r>
            <a:endParaRPr lang="en-US" sz="1250" dirty="0"/>
          </a:p>
          <a:p>
            <a:pPr marL="342900" indent="-342900">
              <a:spcAft>
                <a:spcPts val="1200"/>
              </a:spcAft>
              <a:buSzPct val="100000"/>
              <a:buChar char="●"/>
            </a:pPr>
            <a:r>
              <a:rPr lang="en-US" sz="1250" dirty="0">
                <a:solidFill>
                  <a:srgbClr val="2B2B33"/>
                </a:solidFill>
                <a:latin typeface="Calibri" pitchFamily="34" charset="0"/>
                <a:ea typeface="Calibri" pitchFamily="34" charset="-122"/>
                <a:cs typeface="Calibri" pitchFamily="34" charset="-120"/>
              </a:rPr>
              <a:t>Linux: sudo apt install python3 python3-venv</a:t>
            </a:r>
            <a:endParaRPr lang="en-US" sz="1250" dirty="0"/>
          </a:p>
        </p:txBody>
      </p:sp>
      <p:sp>
        <p:nvSpPr>
          <p:cNvPr id="8" name="Shape 6"/>
          <p:cNvSpPr/>
          <p:nvPr/>
        </p:nvSpPr>
        <p:spPr>
          <a:xfrm>
            <a:off x="4389120" y="1417320"/>
            <a:ext cx="3611880" cy="4206240"/>
          </a:xfrm>
          <a:prstGeom prst="roundRect">
            <a:avLst>
              <a:gd name="adj" fmla="val 2025"/>
            </a:avLst>
          </a:prstGeom>
          <a:solidFill>
            <a:srgbClr val="FFFFFF"/>
          </a:solidFill>
          <a:ln w="12700">
            <a:solidFill>
              <a:srgbClr val="DDE1EF"/>
            </a:solidFill>
            <a:prstDash val="solid"/>
          </a:ln>
          <a:effectLst>
            <a:outerShdw blurRad="76200" dist="25400" dir="5400000" algn="bl" rotWithShape="0">
              <a:srgbClr val="5B6494">
                <a:alpha val="18000"/>
              </a:srgbClr>
            </a:outerShdw>
          </a:effectLst>
        </p:spPr>
        <p:txBody>
          <a:bodyPr/>
          <a:lstStyle/>
          <a:p>
            <a:endParaRPr lang="es-MX"/>
          </a:p>
        </p:txBody>
      </p:sp>
      <p:sp>
        <p:nvSpPr>
          <p:cNvPr id="9" name="Shape 7"/>
          <p:cNvSpPr/>
          <p:nvPr/>
        </p:nvSpPr>
        <p:spPr>
          <a:xfrm>
            <a:off x="4617720" y="1645920"/>
            <a:ext cx="3154680" cy="502920"/>
          </a:xfrm>
          <a:prstGeom prst="roundRect">
            <a:avLst>
              <a:gd name="adj" fmla="val 10909"/>
            </a:avLst>
          </a:prstGeom>
          <a:solidFill>
            <a:srgbClr val="273580"/>
          </a:solidFill>
          <a:ln/>
        </p:spPr>
        <p:txBody>
          <a:bodyPr/>
          <a:lstStyle/>
          <a:p>
            <a:endParaRPr lang="es-MX"/>
          </a:p>
        </p:txBody>
      </p:sp>
      <p:sp>
        <p:nvSpPr>
          <p:cNvPr id="10" name="Text 8"/>
          <p:cNvSpPr/>
          <p:nvPr/>
        </p:nvSpPr>
        <p:spPr>
          <a:xfrm>
            <a:off x="4617720" y="1645920"/>
            <a:ext cx="3154680" cy="502920"/>
          </a:xfrm>
          <a:prstGeom prst="rect">
            <a:avLst/>
          </a:prstGeom>
          <a:noFill/>
          <a:ln/>
        </p:spPr>
        <p:txBody>
          <a:bodyPr wrap="square" rtlCol="0" anchor="ctr"/>
          <a:lstStyle/>
          <a:p>
            <a:pPr marL="0" indent="0" algn="ctr">
              <a:buNone/>
            </a:pPr>
            <a:r>
              <a:rPr lang="en-US" sz="1450" b="1" dirty="0">
                <a:solidFill>
                  <a:srgbClr val="FFFFFF"/>
                </a:solidFill>
                <a:latin typeface="Cambria" pitchFamily="34" charset="0"/>
                <a:ea typeface="Cambria" pitchFamily="34" charset="-122"/>
                <a:cs typeface="Cambria" pitchFamily="34" charset="-120"/>
              </a:rPr>
              <a:t>Visual Studio Code</a:t>
            </a:r>
            <a:endParaRPr lang="en-US" sz="1450" dirty="0"/>
          </a:p>
        </p:txBody>
      </p:sp>
      <p:sp>
        <p:nvSpPr>
          <p:cNvPr id="11" name="Text 9"/>
          <p:cNvSpPr/>
          <p:nvPr/>
        </p:nvSpPr>
        <p:spPr>
          <a:xfrm>
            <a:off x="4663440" y="2377440"/>
            <a:ext cx="3063240" cy="3108960"/>
          </a:xfrm>
          <a:prstGeom prst="rect">
            <a:avLst/>
          </a:prstGeom>
          <a:noFill/>
          <a:ln/>
        </p:spPr>
        <p:txBody>
          <a:bodyPr wrap="square" rtlCol="0" anchor="t"/>
          <a:lstStyle/>
          <a:p>
            <a:pPr marL="342900" indent="-342900">
              <a:spcAft>
                <a:spcPts val="1200"/>
              </a:spcAft>
              <a:buSzPct val="100000"/>
              <a:buChar char="●"/>
            </a:pPr>
            <a:r>
              <a:rPr lang="en-US" sz="1250" dirty="0">
                <a:solidFill>
                  <a:srgbClr val="2B2B33"/>
                </a:solidFill>
                <a:latin typeface="Calibri" pitchFamily="34" charset="0"/>
                <a:ea typeface="Calibri" pitchFamily="34" charset="-122"/>
                <a:cs typeface="Calibri" pitchFamily="34" charset="-120"/>
              </a:rPr>
              <a:t>code.visualstudio.com</a:t>
            </a:r>
            <a:endParaRPr lang="en-US" sz="1250" dirty="0"/>
          </a:p>
          <a:p>
            <a:pPr marL="342900" indent="-342900">
              <a:spcAft>
                <a:spcPts val="1200"/>
              </a:spcAft>
              <a:buSzPct val="100000"/>
              <a:buChar char="●"/>
            </a:pPr>
            <a:r>
              <a:rPr lang="en-US" sz="1250" dirty="0">
                <a:solidFill>
                  <a:srgbClr val="2B2B33"/>
                </a:solidFill>
                <a:latin typeface="Calibri" pitchFamily="34" charset="0"/>
                <a:ea typeface="Calibri" pitchFamily="34" charset="-122"/>
                <a:cs typeface="Calibri" pitchFamily="34" charset="-120"/>
              </a:rPr>
              <a:t>Instalar con opciones por defecto</a:t>
            </a:r>
            <a:endParaRPr lang="en-US" sz="1250" dirty="0"/>
          </a:p>
          <a:p>
            <a:pPr marL="342900" indent="-342900">
              <a:spcAft>
                <a:spcPts val="1200"/>
              </a:spcAft>
              <a:buSzPct val="100000"/>
              <a:buChar char="●"/>
            </a:pPr>
            <a:r>
              <a:rPr lang="en-US" sz="1250" dirty="0">
                <a:solidFill>
                  <a:srgbClr val="2B2B33"/>
                </a:solidFill>
                <a:latin typeface="Calibri" pitchFamily="34" charset="0"/>
                <a:ea typeface="Calibri" pitchFamily="34" charset="-122"/>
                <a:cs typeface="Calibri" pitchFamily="34" charset="-120"/>
              </a:rPr>
              <a:t>Extensión recomendada: "Python" (Microsoft)</a:t>
            </a:r>
            <a:endParaRPr lang="en-US" sz="1250" dirty="0"/>
          </a:p>
        </p:txBody>
      </p:sp>
      <p:sp>
        <p:nvSpPr>
          <p:cNvPr id="12" name="Shape 10"/>
          <p:cNvSpPr/>
          <p:nvPr/>
        </p:nvSpPr>
        <p:spPr>
          <a:xfrm>
            <a:off x="8229600" y="1417320"/>
            <a:ext cx="3611880" cy="4206240"/>
          </a:xfrm>
          <a:prstGeom prst="roundRect">
            <a:avLst>
              <a:gd name="adj" fmla="val 2025"/>
            </a:avLst>
          </a:prstGeom>
          <a:solidFill>
            <a:srgbClr val="FFFFFF"/>
          </a:solidFill>
          <a:ln w="12700">
            <a:solidFill>
              <a:srgbClr val="DDE1EF"/>
            </a:solidFill>
            <a:prstDash val="solid"/>
          </a:ln>
          <a:effectLst>
            <a:outerShdw blurRad="76200" dist="25400" dir="5400000" algn="bl" rotWithShape="0">
              <a:srgbClr val="5B6494">
                <a:alpha val="18000"/>
              </a:srgbClr>
            </a:outerShdw>
          </a:effectLst>
        </p:spPr>
        <p:txBody>
          <a:bodyPr/>
          <a:lstStyle/>
          <a:p>
            <a:endParaRPr lang="es-MX"/>
          </a:p>
        </p:txBody>
      </p:sp>
      <p:sp>
        <p:nvSpPr>
          <p:cNvPr id="13" name="Shape 11"/>
          <p:cNvSpPr/>
          <p:nvPr/>
        </p:nvSpPr>
        <p:spPr>
          <a:xfrm>
            <a:off x="8458200" y="1645920"/>
            <a:ext cx="3154680" cy="502920"/>
          </a:xfrm>
          <a:prstGeom prst="roundRect">
            <a:avLst>
              <a:gd name="adj" fmla="val 10909"/>
            </a:avLst>
          </a:prstGeom>
          <a:solidFill>
            <a:srgbClr val="1F9D74"/>
          </a:solidFill>
          <a:ln/>
        </p:spPr>
        <p:txBody>
          <a:bodyPr/>
          <a:lstStyle/>
          <a:p>
            <a:endParaRPr lang="es-MX"/>
          </a:p>
        </p:txBody>
      </p:sp>
      <p:sp>
        <p:nvSpPr>
          <p:cNvPr id="14" name="Text 12"/>
          <p:cNvSpPr/>
          <p:nvPr/>
        </p:nvSpPr>
        <p:spPr>
          <a:xfrm>
            <a:off x="8458200" y="1645920"/>
            <a:ext cx="3154680" cy="502920"/>
          </a:xfrm>
          <a:prstGeom prst="rect">
            <a:avLst/>
          </a:prstGeom>
          <a:noFill/>
          <a:ln/>
        </p:spPr>
        <p:txBody>
          <a:bodyPr wrap="square" rtlCol="0" anchor="ctr"/>
          <a:lstStyle/>
          <a:p>
            <a:pPr marL="0" indent="0" algn="ctr">
              <a:buNone/>
            </a:pPr>
            <a:r>
              <a:rPr lang="en-US" sz="1450" b="1" dirty="0">
                <a:solidFill>
                  <a:srgbClr val="FFFFFF"/>
                </a:solidFill>
                <a:latin typeface="Cambria" pitchFamily="34" charset="0"/>
                <a:ea typeface="Cambria" pitchFamily="34" charset="-122"/>
                <a:cs typeface="Cambria" pitchFamily="34" charset="-120"/>
              </a:rPr>
              <a:t>Verificación</a:t>
            </a:r>
            <a:endParaRPr lang="en-US" sz="1450" dirty="0"/>
          </a:p>
        </p:txBody>
      </p:sp>
      <p:sp>
        <p:nvSpPr>
          <p:cNvPr id="15" name="Text 13"/>
          <p:cNvSpPr/>
          <p:nvPr/>
        </p:nvSpPr>
        <p:spPr>
          <a:xfrm>
            <a:off x="8503920" y="2377440"/>
            <a:ext cx="3063240" cy="3108960"/>
          </a:xfrm>
          <a:prstGeom prst="rect">
            <a:avLst/>
          </a:prstGeom>
          <a:noFill/>
          <a:ln/>
        </p:spPr>
        <p:txBody>
          <a:bodyPr wrap="square" rtlCol="0" anchor="t"/>
          <a:lstStyle/>
          <a:p>
            <a:pPr marL="342900" indent="-342900">
              <a:spcAft>
                <a:spcPts val="1200"/>
              </a:spcAft>
              <a:buSzPct val="100000"/>
              <a:buChar char="●"/>
            </a:pPr>
            <a:r>
              <a:rPr lang="en-US" sz="1250" dirty="0">
                <a:solidFill>
                  <a:srgbClr val="2B2B33"/>
                </a:solidFill>
                <a:latin typeface="Calibri" pitchFamily="34" charset="0"/>
                <a:ea typeface="Calibri" pitchFamily="34" charset="-122"/>
                <a:cs typeface="Calibri" pitchFamily="34" charset="-120"/>
              </a:rPr>
              <a:t>python --version</a:t>
            </a:r>
            <a:endParaRPr lang="en-US" sz="1250" dirty="0"/>
          </a:p>
          <a:p>
            <a:pPr marL="342900" indent="-342900">
              <a:spcAft>
                <a:spcPts val="1200"/>
              </a:spcAft>
              <a:buSzPct val="100000"/>
              <a:buChar char="●"/>
            </a:pPr>
            <a:r>
              <a:rPr lang="en-US" sz="1250" dirty="0">
                <a:solidFill>
                  <a:srgbClr val="2B2B33"/>
                </a:solidFill>
                <a:latin typeface="Calibri" pitchFamily="34" charset="0"/>
                <a:ea typeface="Calibri" pitchFamily="34" charset="-122"/>
                <a:cs typeface="Calibri" pitchFamily="34" charset="-120"/>
              </a:rPr>
              <a:t>pip --version</a:t>
            </a:r>
            <a:endParaRPr lang="en-US" sz="1250" dirty="0"/>
          </a:p>
          <a:p>
            <a:pPr marL="342900" indent="-342900">
              <a:spcAft>
                <a:spcPts val="1200"/>
              </a:spcAft>
              <a:buSzPct val="100000"/>
              <a:buChar char="●"/>
            </a:pPr>
            <a:r>
              <a:rPr lang="en-US" sz="1250" dirty="0">
                <a:solidFill>
                  <a:srgbClr val="2B2B33"/>
                </a:solidFill>
                <a:latin typeface="Calibri" pitchFamily="34" charset="0"/>
                <a:ea typeface="Calibri" pitchFamily="34" charset="-122"/>
                <a:cs typeface="Calibri" pitchFamily="34" charset="-120"/>
              </a:rPr>
              <a:t>Si falla, probar python3 / pip3</a:t>
            </a:r>
            <a:endParaRPr lang="en-US" sz="1250" dirty="0"/>
          </a:p>
        </p:txBody>
      </p:sp>
      <p:sp>
        <p:nvSpPr>
          <p:cNvPr id="16" name="Text 14"/>
          <p:cNvSpPr/>
          <p:nvPr/>
        </p:nvSpPr>
        <p:spPr>
          <a:xfrm>
            <a:off x="548640" y="6537960"/>
            <a:ext cx="7315200" cy="274320"/>
          </a:xfrm>
          <a:prstGeom prst="rect">
            <a:avLst/>
          </a:prstGeom>
          <a:noFill/>
          <a:ln/>
        </p:spPr>
        <p:txBody>
          <a:bodyPr wrap="square" rtlCol="0" anchor="ctr"/>
          <a:lstStyle/>
          <a:p>
            <a:pPr marL="0" indent="0">
              <a:buNone/>
            </a:pPr>
            <a:r>
              <a:rPr lang="en-US" sz="1000" dirty="0">
                <a:solidFill>
                  <a:srgbClr val="9AA0B4"/>
                </a:solidFill>
                <a:latin typeface="Calibri" pitchFamily="34" charset="0"/>
                <a:ea typeface="Calibri" pitchFamily="34" charset="-122"/>
                <a:cs typeface="Calibri" pitchFamily="34" charset="-120"/>
              </a:rPr>
              <a:t>Práctica 4 · Aplicación web básica · IAD-2413 · ITD</a:t>
            </a:r>
            <a:endParaRPr lang="en-US" sz="1000" dirty="0"/>
          </a:p>
        </p:txBody>
      </p:sp>
      <p:sp>
        <p:nvSpPr>
          <p:cNvPr id="17" name="Text 15"/>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9AA0B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Paso 2 · Estructura del proyecto</a:t>
            </a:r>
            <a:endParaRPr lang="en-US" sz="28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Flask busca automáticamente estas dos carpetas por convención</a:t>
            </a:r>
            <a:endParaRPr lang="en-US" sz="1400" dirty="0"/>
          </a:p>
        </p:txBody>
      </p:sp>
      <p:sp>
        <p:nvSpPr>
          <p:cNvPr id="4" name="Shape 2"/>
          <p:cNvSpPr/>
          <p:nvPr/>
        </p:nvSpPr>
        <p:spPr>
          <a:xfrm>
            <a:off x="548640" y="1371600"/>
            <a:ext cx="4846320" cy="3840480"/>
          </a:xfrm>
          <a:prstGeom prst="roundRect">
            <a:avLst>
              <a:gd name="adj" fmla="val 1429"/>
            </a:avLst>
          </a:prstGeom>
          <a:solidFill>
            <a:srgbClr val="1B1D2A"/>
          </a:solidFill>
          <a:ln/>
          <a:effectLst>
            <a:outerShdw blurRad="76200" dist="38100" dir="5400000" algn="bl" rotWithShape="0">
              <a:srgbClr val="000000">
                <a:alpha val="25000"/>
              </a:srgbClr>
            </a:outerShdw>
          </a:effectLst>
        </p:spPr>
        <p:txBody>
          <a:bodyPr/>
          <a:lstStyle/>
          <a:p>
            <a:endParaRPr lang="es-MX"/>
          </a:p>
        </p:txBody>
      </p:sp>
      <p:sp>
        <p:nvSpPr>
          <p:cNvPr id="5" name="Shape 3"/>
          <p:cNvSpPr/>
          <p:nvPr/>
        </p:nvSpPr>
        <p:spPr>
          <a:xfrm>
            <a:off x="713232" y="1517904"/>
            <a:ext cx="201168" cy="201168"/>
          </a:xfrm>
          <a:prstGeom prst="ellipse">
            <a:avLst/>
          </a:prstGeom>
          <a:solidFill>
            <a:srgbClr val="1F9D74"/>
          </a:solidFill>
          <a:ln/>
        </p:spPr>
        <p:txBody>
          <a:bodyPr/>
          <a:lstStyle/>
          <a:p>
            <a:endParaRPr lang="es-MX"/>
          </a:p>
        </p:txBody>
      </p:sp>
      <p:sp>
        <p:nvSpPr>
          <p:cNvPr id="6" name="Text 4"/>
          <p:cNvSpPr/>
          <p:nvPr/>
        </p:nvSpPr>
        <p:spPr>
          <a:xfrm>
            <a:off x="1005840" y="1472184"/>
            <a:ext cx="4206240"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ESTRUCTURA DE CARPETAS</a:t>
            </a:r>
            <a:endParaRPr lang="en-US" sz="1200" dirty="0"/>
          </a:p>
        </p:txBody>
      </p:sp>
      <p:sp>
        <p:nvSpPr>
          <p:cNvPr id="7" name="Text 5"/>
          <p:cNvSpPr/>
          <p:nvPr/>
        </p:nvSpPr>
        <p:spPr>
          <a:xfrm>
            <a:off x="731520" y="1874520"/>
            <a:ext cx="4480560" cy="3200400"/>
          </a:xfrm>
          <a:prstGeom prst="rect">
            <a:avLst/>
          </a:prstGeom>
          <a:noFill/>
          <a:ln/>
        </p:spPr>
        <p:txBody>
          <a:bodyPr wrap="square" rtlCol="0" anchor="t"/>
          <a:lstStyle/>
          <a:p>
            <a:pPr marL="0" indent="0">
              <a:lnSpc>
                <a:spcPct val="112000"/>
              </a:lnSpc>
              <a:buNone/>
            </a:pPr>
            <a:r>
              <a:rPr lang="en-US" sz="1400" dirty="0">
                <a:solidFill>
                  <a:srgbClr val="E8E8F0"/>
                </a:solidFill>
                <a:latin typeface="Courier New" pitchFamily="34" charset="0"/>
                <a:ea typeface="Courier New" pitchFamily="34" charset="-122"/>
                <a:cs typeface="Courier New" pitchFamily="34" charset="-120"/>
              </a:rPr>
              <a:t>practica4_registro/</a:t>
            </a:r>
            <a:endParaRPr lang="en-US" sz="1400" dirty="0"/>
          </a:p>
          <a:p>
            <a:pPr marL="0" indent="0">
              <a:lnSpc>
                <a:spcPct val="112000"/>
              </a:lnSpc>
              <a:buNone/>
            </a:pPr>
            <a:r>
              <a:rPr lang="en-US" sz="1400" dirty="0">
                <a:solidFill>
                  <a:srgbClr val="E8E8F0"/>
                </a:solidFill>
                <a:latin typeface="Courier New" pitchFamily="34" charset="0"/>
                <a:ea typeface="Courier New" pitchFamily="34" charset="-122"/>
                <a:cs typeface="Courier New" pitchFamily="34" charset="-120"/>
              </a:rPr>
              <a:t>│</a:t>
            </a:r>
            <a:endParaRPr lang="en-US" sz="1400" dirty="0"/>
          </a:p>
          <a:p>
            <a:pPr marL="0" indent="0">
              <a:lnSpc>
                <a:spcPct val="112000"/>
              </a:lnSpc>
              <a:buNone/>
            </a:pPr>
            <a:r>
              <a:rPr lang="en-US" sz="1400" dirty="0">
                <a:solidFill>
                  <a:srgbClr val="E8E8F0"/>
                </a:solidFill>
                <a:latin typeface="Courier New" pitchFamily="34" charset="0"/>
                <a:ea typeface="Courier New" pitchFamily="34" charset="-122"/>
                <a:cs typeface="Courier New" pitchFamily="34" charset="-120"/>
              </a:rPr>
              <a:t>├── app.py</a:t>
            </a:r>
            <a:endParaRPr lang="en-US" sz="1400" dirty="0"/>
          </a:p>
          <a:p>
            <a:pPr marL="0" indent="0">
              <a:lnSpc>
                <a:spcPct val="112000"/>
              </a:lnSpc>
              <a:buNone/>
            </a:pPr>
            <a:r>
              <a:rPr lang="en-US" sz="1400" dirty="0">
                <a:solidFill>
                  <a:srgbClr val="E8E8F0"/>
                </a:solidFill>
                <a:latin typeface="Courier New" pitchFamily="34" charset="0"/>
                <a:ea typeface="Courier New" pitchFamily="34" charset="-122"/>
                <a:cs typeface="Courier New" pitchFamily="34" charset="-120"/>
              </a:rPr>
              <a:t>├── requirements.txt</a:t>
            </a:r>
            <a:endParaRPr lang="en-US" sz="1400" dirty="0"/>
          </a:p>
          <a:p>
            <a:pPr marL="0" indent="0">
              <a:lnSpc>
                <a:spcPct val="112000"/>
              </a:lnSpc>
              <a:buNone/>
            </a:pPr>
            <a:r>
              <a:rPr lang="en-US" sz="1400" dirty="0">
                <a:solidFill>
                  <a:srgbClr val="E8E8F0"/>
                </a:solidFill>
                <a:latin typeface="Courier New" pitchFamily="34" charset="0"/>
                <a:ea typeface="Courier New" pitchFamily="34" charset="-122"/>
                <a:cs typeface="Courier New" pitchFamily="34" charset="-120"/>
              </a:rPr>
              <a:t>├── templates/</a:t>
            </a:r>
            <a:endParaRPr lang="en-US" sz="1400" dirty="0"/>
          </a:p>
          <a:p>
            <a:pPr marL="0" indent="0">
              <a:lnSpc>
                <a:spcPct val="112000"/>
              </a:lnSpc>
              <a:buNone/>
            </a:pPr>
            <a:r>
              <a:rPr lang="en-US" sz="1400" dirty="0">
                <a:solidFill>
                  <a:srgbClr val="E8E8F0"/>
                </a:solidFill>
                <a:latin typeface="Courier New" pitchFamily="34" charset="0"/>
                <a:ea typeface="Courier New" pitchFamily="34" charset="-122"/>
                <a:cs typeface="Courier New" pitchFamily="34" charset="-120"/>
              </a:rPr>
              <a:t>│   ├── formulario.html</a:t>
            </a:r>
            <a:endParaRPr lang="en-US" sz="1400" dirty="0"/>
          </a:p>
          <a:p>
            <a:pPr marL="0" indent="0">
              <a:lnSpc>
                <a:spcPct val="112000"/>
              </a:lnSpc>
              <a:buNone/>
            </a:pPr>
            <a:r>
              <a:rPr lang="en-US" sz="1400" dirty="0">
                <a:solidFill>
                  <a:srgbClr val="E8E8F0"/>
                </a:solidFill>
                <a:latin typeface="Courier New" pitchFamily="34" charset="0"/>
                <a:ea typeface="Courier New" pitchFamily="34" charset="-122"/>
                <a:cs typeface="Courier New" pitchFamily="34" charset="-120"/>
              </a:rPr>
              <a:t>│   └── perfil.html</a:t>
            </a:r>
            <a:endParaRPr lang="en-US" sz="1400" dirty="0"/>
          </a:p>
          <a:p>
            <a:pPr marL="0" indent="0">
              <a:lnSpc>
                <a:spcPct val="112000"/>
              </a:lnSpc>
              <a:buNone/>
            </a:pPr>
            <a:r>
              <a:rPr lang="en-US" sz="1400" dirty="0">
                <a:solidFill>
                  <a:srgbClr val="E8E8F0"/>
                </a:solidFill>
                <a:latin typeface="Courier New" pitchFamily="34" charset="0"/>
                <a:ea typeface="Courier New" pitchFamily="34" charset="-122"/>
                <a:cs typeface="Courier New" pitchFamily="34" charset="-120"/>
              </a:rPr>
              <a:t>└── static/</a:t>
            </a:r>
            <a:endParaRPr lang="en-US" sz="1400" dirty="0"/>
          </a:p>
          <a:p>
            <a:pPr marL="0" indent="0">
              <a:lnSpc>
                <a:spcPct val="112000"/>
              </a:lnSpc>
              <a:buNone/>
            </a:pPr>
            <a:r>
              <a:rPr lang="en-US" sz="1400" dirty="0">
                <a:solidFill>
                  <a:srgbClr val="E8E8F0"/>
                </a:solidFill>
                <a:latin typeface="Courier New" pitchFamily="34" charset="0"/>
                <a:ea typeface="Courier New" pitchFamily="34" charset="-122"/>
                <a:cs typeface="Courier New" pitchFamily="34" charset="-120"/>
              </a:rPr>
              <a:t>    └── estilo.css</a:t>
            </a:r>
            <a:endParaRPr lang="en-US" sz="1400" dirty="0"/>
          </a:p>
        </p:txBody>
      </p:sp>
      <p:sp>
        <p:nvSpPr>
          <p:cNvPr id="8" name="Shape 6"/>
          <p:cNvSpPr/>
          <p:nvPr/>
        </p:nvSpPr>
        <p:spPr>
          <a:xfrm>
            <a:off x="5760720" y="1554480"/>
            <a:ext cx="274320" cy="274320"/>
          </a:xfrm>
          <a:prstGeom prst="ellipse">
            <a:avLst/>
          </a:prstGeom>
          <a:solidFill>
            <a:srgbClr val="3776AB"/>
          </a:solidFill>
          <a:ln/>
        </p:spPr>
        <p:txBody>
          <a:bodyPr/>
          <a:lstStyle/>
          <a:p>
            <a:endParaRPr lang="es-MX"/>
          </a:p>
        </p:txBody>
      </p:sp>
      <p:sp>
        <p:nvSpPr>
          <p:cNvPr id="9" name="Text 7"/>
          <p:cNvSpPr/>
          <p:nvPr/>
        </p:nvSpPr>
        <p:spPr>
          <a:xfrm>
            <a:off x="6172200" y="1508760"/>
            <a:ext cx="5303520" cy="320040"/>
          </a:xfrm>
          <a:prstGeom prst="rect">
            <a:avLst/>
          </a:prstGeom>
          <a:noFill/>
          <a:ln/>
        </p:spPr>
        <p:txBody>
          <a:bodyPr wrap="square"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templates/</a:t>
            </a:r>
            <a:endParaRPr lang="en-US" sz="1400" dirty="0"/>
          </a:p>
        </p:txBody>
      </p:sp>
      <p:sp>
        <p:nvSpPr>
          <p:cNvPr id="10" name="Text 8"/>
          <p:cNvSpPr/>
          <p:nvPr/>
        </p:nvSpPr>
        <p:spPr>
          <a:xfrm>
            <a:off x="6172200" y="1847088"/>
            <a:ext cx="5303520" cy="640080"/>
          </a:xfrm>
          <a:prstGeom prst="rect">
            <a:avLst/>
          </a:prstGeom>
          <a:noFill/>
          <a:ln/>
        </p:spPr>
        <p:txBody>
          <a:bodyPr wrap="square" rtlCol="0" anchor="t"/>
          <a:lstStyle/>
          <a:p>
            <a:pPr marL="0" indent="0">
              <a:buNone/>
            </a:pPr>
            <a:r>
              <a:rPr lang="en-US" sz="1200" dirty="0">
                <a:solidFill>
                  <a:srgbClr val="4A4A55"/>
                </a:solidFill>
                <a:latin typeface="Calibri" pitchFamily="34" charset="0"/>
                <a:ea typeface="Calibri" pitchFamily="34" charset="-122"/>
                <a:cs typeface="Calibri" pitchFamily="34" charset="-120"/>
              </a:rPr>
              <a:t>Flask busca aquí automáticamente los archivos .html que se renderizan con render_template().</a:t>
            </a:r>
            <a:endParaRPr lang="en-US" sz="1200" dirty="0"/>
          </a:p>
        </p:txBody>
      </p:sp>
      <p:sp>
        <p:nvSpPr>
          <p:cNvPr id="11" name="Shape 9"/>
          <p:cNvSpPr/>
          <p:nvPr/>
        </p:nvSpPr>
        <p:spPr>
          <a:xfrm>
            <a:off x="5760720" y="2606040"/>
            <a:ext cx="274320" cy="274320"/>
          </a:xfrm>
          <a:prstGeom prst="ellipse">
            <a:avLst/>
          </a:prstGeom>
          <a:solidFill>
            <a:srgbClr val="9B4F96"/>
          </a:solidFill>
          <a:ln/>
        </p:spPr>
        <p:txBody>
          <a:bodyPr/>
          <a:lstStyle/>
          <a:p>
            <a:endParaRPr lang="es-MX"/>
          </a:p>
        </p:txBody>
      </p:sp>
      <p:sp>
        <p:nvSpPr>
          <p:cNvPr id="12" name="Text 10"/>
          <p:cNvSpPr/>
          <p:nvPr/>
        </p:nvSpPr>
        <p:spPr>
          <a:xfrm>
            <a:off x="6172200" y="2560320"/>
            <a:ext cx="5303520" cy="320040"/>
          </a:xfrm>
          <a:prstGeom prst="rect">
            <a:avLst/>
          </a:prstGeom>
          <a:noFill/>
          <a:ln/>
        </p:spPr>
        <p:txBody>
          <a:bodyPr wrap="square"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static/</a:t>
            </a:r>
            <a:endParaRPr lang="en-US" sz="1400" dirty="0"/>
          </a:p>
        </p:txBody>
      </p:sp>
      <p:sp>
        <p:nvSpPr>
          <p:cNvPr id="13" name="Text 11"/>
          <p:cNvSpPr/>
          <p:nvPr/>
        </p:nvSpPr>
        <p:spPr>
          <a:xfrm>
            <a:off x="6172200" y="2898648"/>
            <a:ext cx="5303520" cy="640080"/>
          </a:xfrm>
          <a:prstGeom prst="rect">
            <a:avLst/>
          </a:prstGeom>
          <a:noFill/>
          <a:ln/>
        </p:spPr>
        <p:txBody>
          <a:bodyPr wrap="square" rtlCol="0" anchor="t"/>
          <a:lstStyle/>
          <a:p>
            <a:pPr marL="0" indent="0">
              <a:buNone/>
            </a:pPr>
            <a:r>
              <a:rPr lang="en-US" sz="1200" dirty="0">
                <a:solidFill>
                  <a:srgbClr val="4A4A55"/>
                </a:solidFill>
                <a:latin typeface="Calibri" pitchFamily="34" charset="0"/>
                <a:ea typeface="Calibri" pitchFamily="34" charset="-122"/>
                <a:cs typeface="Calibri" pitchFamily="34" charset="-120"/>
              </a:rPr>
              <a:t>Aquí van CSS, imágenes y JavaScript. Se referencian con url_for('static', ...).</a:t>
            </a:r>
            <a:endParaRPr lang="en-US" sz="1200" dirty="0"/>
          </a:p>
        </p:txBody>
      </p:sp>
      <p:sp>
        <p:nvSpPr>
          <p:cNvPr id="14" name="Shape 12"/>
          <p:cNvSpPr/>
          <p:nvPr/>
        </p:nvSpPr>
        <p:spPr>
          <a:xfrm>
            <a:off x="5760720" y="3657600"/>
            <a:ext cx="274320" cy="274320"/>
          </a:xfrm>
          <a:prstGeom prst="ellipse">
            <a:avLst/>
          </a:prstGeom>
          <a:solidFill>
            <a:srgbClr val="E76F00"/>
          </a:solidFill>
          <a:ln/>
        </p:spPr>
        <p:txBody>
          <a:bodyPr/>
          <a:lstStyle/>
          <a:p>
            <a:endParaRPr lang="es-MX"/>
          </a:p>
        </p:txBody>
      </p:sp>
      <p:sp>
        <p:nvSpPr>
          <p:cNvPr id="15" name="Text 13"/>
          <p:cNvSpPr/>
          <p:nvPr/>
        </p:nvSpPr>
        <p:spPr>
          <a:xfrm>
            <a:off x="6172200" y="3611880"/>
            <a:ext cx="5303520" cy="320040"/>
          </a:xfrm>
          <a:prstGeom prst="rect">
            <a:avLst/>
          </a:prstGeom>
          <a:noFill/>
          <a:ln/>
        </p:spPr>
        <p:txBody>
          <a:bodyPr wrap="square"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app.py</a:t>
            </a:r>
            <a:endParaRPr lang="en-US" sz="1400" dirty="0"/>
          </a:p>
        </p:txBody>
      </p:sp>
      <p:sp>
        <p:nvSpPr>
          <p:cNvPr id="16" name="Text 14"/>
          <p:cNvSpPr/>
          <p:nvPr/>
        </p:nvSpPr>
        <p:spPr>
          <a:xfrm>
            <a:off x="6172200" y="3950208"/>
            <a:ext cx="5303520" cy="640080"/>
          </a:xfrm>
          <a:prstGeom prst="rect">
            <a:avLst/>
          </a:prstGeom>
          <a:noFill/>
          <a:ln/>
        </p:spPr>
        <p:txBody>
          <a:bodyPr wrap="square" rtlCol="0" anchor="t"/>
          <a:lstStyle/>
          <a:p>
            <a:pPr marL="0" indent="0">
              <a:buNone/>
            </a:pPr>
            <a:r>
              <a:rPr lang="en-US" sz="1200" dirty="0">
                <a:solidFill>
                  <a:srgbClr val="4A4A55"/>
                </a:solidFill>
                <a:latin typeface="Calibri" pitchFamily="34" charset="0"/>
                <a:ea typeface="Calibri" pitchFamily="34" charset="-122"/>
                <a:cs typeface="Calibri" pitchFamily="34" charset="-120"/>
              </a:rPr>
              <a:t>El punto de entrada: aquí vive toda la lógica del servidor Flask.</a:t>
            </a:r>
            <a:endParaRPr lang="en-US" sz="1200" dirty="0"/>
          </a:p>
        </p:txBody>
      </p:sp>
      <p:sp>
        <p:nvSpPr>
          <p:cNvPr id="17" name="Text 15"/>
          <p:cNvSpPr/>
          <p:nvPr/>
        </p:nvSpPr>
        <p:spPr>
          <a:xfrm>
            <a:off x="548640" y="6537960"/>
            <a:ext cx="7315200" cy="274320"/>
          </a:xfrm>
          <a:prstGeom prst="rect">
            <a:avLst/>
          </a:prstGeom>
          <a:noFill/>
          <a:ln/>
        </p:spPr>
        <p:txBody>
          <a:bodyPr wrap="square" rtlCol="0" anchor="ctr"/>
          <a:lstStyle/>
          <a:p>
            <a:pPr marL="0" indent="0">
              <a:buNone/>
            </a:pPr>
            <a:r>
              <a:rPr lang="en-US" sz="1000" dirty="0">
                <a:solidFill>
                  <a:srgbClr val="9AA0B4"/>
                </a:solidFill>
                <a:latin typeface="Calibri" pitchFamily="34" charset="0"/>
                <a:ea typeface="Calibri" pitchFamily="34" charset="-122"/>
                <a:cs typeface="Calibri" pitchFamily="34" charset="-120"/>
              </a:rPr>
              <a:t>Práctica 4 · Aplicación web básica · IAD-2413 · ITD</a:t>
            </a:r>
            <a:endParaRPr lang="en-US" sz="1000" dirty="0"/>
          </a:p>
        </p:txBody>
      </p:sp>
      <p:sp>
        <p:nvSpPr>
          <p:cNvPr id="18" name="Text 16"/>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9AA0B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Paso 3 · Entorno virtual e instalación de Flask</a:t>
            </a:r>
            <a:endParaRPr lang="en-US" sz="28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Un espacio aislado para las dependencias de este proyecto</a:t>
            </a:r>
            <a:endParaRPr lang="en-US" sz="1400" dirty="0"/>
          </a:p>
        </p:txBody>
      </p:sp>
      <p:sp>
        <p:nvSpPr>
          <p:cNvPr id="4" name="Shape 2"/>
          <p:cNvSpPr/>
          <p:nvPr/>
        </p:nvSpPr>
        <p:spPr>
          <a:xfrm>
            <a:off x="548640" y="1371600"/>
            <a:ext cx="2697480" cy="2103120"/>
          </a:xfrm>
          <a:prstGeom prst="roundRect">
            <a:avLst>
              <a:gd name="adj" fmla="val 2609"/>
            </a:avLst>
          </a:prstGeom>
          <a:solidFill>
            <a:srgbClr val="FFFFFF"/>
          </a:solidFill>
          <a:ln w="12700">
            <a:solidFill>
              <a:srgbClr val="DDE1EF"/>
            </a:solidFill>
            <a:prstDash val="solid"/>
          </a:ln>
          <a:effectLst>
            <a:outerShdw blurRad="63500" dist="25400" dir="5400000" algn="bl" rotWithShape="0">
              <a:srgbClr val="5B6494">
                <a:alpha val="18000"/>
              </a:srgbClr>
            </a:outerShdw>
          </a:effectLst>
        </p:spPr>
        <p:txBody>
          <a:bodyPr/>
          <a:lstStyle/>
          <a:p>
            <a:endParaRPr lang="es-MX"/>
          </a:p>
        </p:txBody>
      </p:sp>
      <p:sp>
        <p:nvSpPr>
          <p:cNvPr id="5" name="Shape 3"/>
          <p:cNvSpPr/>
          <p:nvPr/>
        </p:nvSpPr>
        <p:spPr>
          <a:xfrm>
            <a:off x="694944" y="1517904"/>
            <a:ext cx="310896" cy="310896"/>
          </a:xfrm>
          <a:prstGeom prst="ellipse">
            <a:avLst/>
          </a:prstGeom>
          <a:solidFill>
            <a:srgbClr val="3776AB"/>
          </a:solidFill>
          <a:ln/>
        </p:spPr>
        <p:txBody>
          <a:bodyPr/>
          <a:lstStyle/>
          <a:p>
            <a:endParaRPr lang="es-MX"/>
          </a:p>
        </p:txBody>
      </p:sp>
      <p:sp>
        <p:nvSpPr>
          <p:cNvPr id="6" name="Text 4"/>
          <p:cNvSpPr/>
          <p:nvPr/>
        </p:nvSpPr>
        <p:spPr>
          <a:xfrm>
            <a:off x="694944" y="1517904"/>
            <a:ext cx="310896" cy="310896"/>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115568" y="1490472"/>
            <a:ext cx="1984248" cy="36576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Crear el entorno</a:t>
            </a:r>
            <a:endParaRPr lang="en-US" sz="1350" dirty="0"/>
          </a:p>
        </p:txBody>
      </p:sp>
      <p:sp>
        <p:nvSpPr>
          <p:cNvPr id="8" name="Text 6"/>
          <p:cNvSpPr/>
          <p:nvPr/>
        </p:nvSpPr>
        <p:spPr>
          <a:xfrm>
            <a:off x="731520" y="1938528"/>
            <a:ext cx="2331720" cy="1417320"/>
          </a:xfrm>
          <a:prstGeom prst="rect">
            <a:avLst/>
          </a:prstGeom>
          <a:noFill/>
          <a:ln/>
        </p:spPr>
        <p:txBody>
          <a:bodyPr wrap="square" rtlCol="0" anchor="t"/>
          <a:lstStyle/>
          <a:p>
            <a:pPr marL="0" indent="0">
              <a:buNone/>
            </a:pPr>
            <a:endParaRPr lang="en-US" sz="1100" dirty="0"/>
          </a:p>
        </p:txBody>
      </p:sp>
      <p:sp>
        <p:nvSpPr>
          <p:cNvPr id="9" name="Shape 7"/>
          <p:cNvSpPr/>
          <p:nvPr/>
        </p:nvSpPr>
        <p:spPr>
          <a:xfrm>
            <a:off x="731520" y="2011680"/>
            <a:ext cx="2331720" cy="1280160"/>
          </a:xfrm>
          <a:prstGeom prst="roundRect">
            <a:avLst>
              <a:gd name="adj" fmla="val 3571"/>
            </a:avLst>
          </a:prstGeom>
          <a:solidFill>
            <a:srgbClr val="1B1D2A"/>
          </a:solidFill>
          <a:ln/>
        </p:spPr>
        <p:txBody>
          <a:bodyPr/>
          <a:lstStyle/>
          <a:p>
            <a:endParaRPr lang="es-MX"/>
          </a:p>
        </p:txBody>
      </p:sp>
      <p:sp>
        <p:nvSpPr>
          <p:cNvPr id="10" name="Text 8"/>
          <p:cNvSpPr/>
          <p:nvPr/>
        </p:nvSpPr>
        <p:spPr>
          <a:xfrm>
            <a:off x="822960" y="2103120"/>
            <a:ext cx="2148840" cy="1097280"/>
          </a:xfrm>
          <a:prstGeom prst="rect">
            <a:avLst/>
          </a:prstGeom>
          <a:noFill/>
          <a:ln/>
        </p:spPr>
        <p:txBody>
          <a:bodyPr wrap="square" rtlCol="0" anchor="t"/>
          <a:lstStyle/>
          <a:p>
            <a:pPr marL="0" indent="0">
              <a:lnSpc>
                <a:spcPct val="115000"/>
              </a:lnSpc>
              <a:buNone/>
            </a:pPr>
            <a:r>
              <a:rPr lang="en-US" sz="900" dirty="0">
                <a:solidFill>
                  <a:srgbClr val="E8E8F0"/>
                </a:solidFill>
                <a:latin typeface="Courier New" pitchFamily="34" charset="0"/>
                <a:ea typeface="Courier New" pitchFamily="34" charset="-122"/>
                <a:cs typeface="Courier New" pitchFamily="34" charset="-120"/>
              </a:rPr>
              <a:t>python -m venv venv</a:t>
            </a:r>
            <a:endParaRPr lang="en-US" sz="900" dirty="0"/>
          </a:p>
        </p:txBody>
      </p:sp>
      <p:sp>
        <p:nvSpPr>
          <p:cNvPr id="11" name="Shape 9"/>
          <p:cNvSpPr/>
          <p:nvPr/>
        </p:nvSpPr>
        <p:spPr>
          <a:xfrm>
            <a:off x="3474720" y="1371600"/>
            <a:ext cx="2697480" cy="2103120"/>
          </a:xfrm>
          <a:prstGeom prst="roundRect">
            <a:avLst>
              <a:gd name="adj" fmla="val 2609"/>
            </a:avLst>
          </a:prstGeom>
          <a:solidFill>
            <a:srgbClr val="FFFFFF"/>
          </a:solidFill>
          <a:ln w="12700">
            <a:solidFill>
              <a:srgbClr val="DDE1EF"/>
            </a:solidFill>
            <a:prstDash val="solid"/>
          </a:ln>
          <a:effectLst>
            <a:outerShdw blurRad="63500" dist="25400" dir="5400000" algn="bl" rotWithShape="0">
              <a:srgbClr val="5B6494">
                <a:alpha val="18000"/>
              </a:srgbClr>
            </a:outerShdw>
          </a:effectLst>
        </p:spPr>
        <p:txBody>
          <a:bodyPr/>
          <a:lstStyle/>
          <a:p>
            <a:endParaRPr lang="es-MX"/>
          </a:p>
        </p:txBody>
      </p:sp>
      <p:sp>
        <p:nvSpPr>
          <p:cNvPr id="12" name="Shape 10"/>
          <p:cNvSpPr/>
          <p:nvPr/>
        </p:nvSpPr>
        <p:spPr>
          <a:xfrm>
            <a:off x="3621024" y="1517904"/>
            <a:ext cx="310896" cy="310896"/>
          </a:xfrm>
          <a:prstGeom prst="ellipse">
            <a:avLst/>
          </a:prstGeom>
          <a:solidFill>
            <a:srgbClr val="9B4F96"/>
          </a:solidFill>
          <a:ln/>
        </p:spPr>
        <p:txBody>
          <a:bodyPr/>
          <a:lstStyle/>
          <a:p>
            <a:endParaRPr lang="es-MX"/>
          </a:p>
        </p:txBody>
      </p:sp>
      <p:sp>
        <p:nvSpPr>
          <p:cNvPr id="13" name="Text 11"/>
          <p:cNvSpPr/>
          <p:nvPr/>
        </p:nvSpPr>
        <p:spPr>
          <a:xfrm>
            <a:off x="3621024" y="1517904"/>
            <a:ext cx="310896" cy="310896"/>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4041648" y="1490472"/>
            <a:ext cx="1984248" cy="36576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Activarlo</a:t>
            </a:r>
            <a:endParaRPr lang="en-US" sz="1350" dirty="0"/>
          </a:p>
        </p:txBody>
      </p:sp>
      <p:sp>
        <p:nvSpPr>
          <p:cNvPr id="15" name="Text 13"/>
          <p:cNvSpPr/>
          <p:nvPr/>
        </p:nvSpPr>
        <p:spPr>
          <a:xfrm>
            <a:off x="3657600" y="1938528"/>
            <a:ext cx="2331720" cy="1417320"/>
          </a:xfrm>
          <a:prstGeom prst="rect">
            <a:avLst/>
          </a:prstGeom>
          <a:noFill/>
          <a:ln/>
        </p:spPr>
        <p:txBody>
          <a:bodyPr wrap="square" rtlCol="0" anchor="t"/>
          <a:lstStyle/>
          <a:p>
            <a:pPr marL="0" indent="0">
              <a:buNone/>
            </a:pPr>
            <a:endParaRPr lang="en-US" sz="1100" dirty="0"/>
          </a:p>
        </p:txBody>
      </p:sp>
      <p:sp>
        <p:nvSpPr>
          <p:cNvPr id="16" name="Shape 14"/>
          <p:cNvSpPr/>
          <p:nvPr/>
        </p:nvSpPr>
        <p:spPr>
          <a:xfrm>
            <a:off x="3657600" y="2011680"/>
            <a:ext cx="2331720" cy="1280160"/>
          </a:xfrm>
          <a:prstGeom prst="roundRect">
            <a:avLst>
              <a:gd name="adj" fmla="val 3571"/>
            </a:avLst>
          </a:prstGeom>
          <a:solidFill>
            <a:srgbClr val="1B1D2A"/>
          </a:solidFill>
          <a:ln/>
        </p:spPr>
        <p:txBody>
          <a:bodyPr/>
          <a:lstStyle/>
          <a:p>
            <a:endParaRPr lang="es-MX"/>
          </a:p>
        </p:txBody>
      </p:sp>
      <p:sp>
        <p:nvSpPr>
          <p:cNvPr id="17" name="Text 15"/>
          <p:cNvSpPr/>
          <p:nvPr/>
        </p:nvSpPr>
        <p:spPr>
          <a:xfrm>
            <a:off x="3749040" y="2103120"/>
            <a:ext cx="2148840" cy="1097280"/>
          </a:xfrm>
          <a:prstGeom prst="rect">
            <a:avLst/>
          </a:prstGeom>
          <a:noFill/>
          <a:ln/>
        </p:spPr>
        <p:txBody>
          <a:bodyPr wrap="square" rtlCol="0" anchor="t"/>
          <a:lstStyle/>
          <a:p>
            <a:pPr marL="0" indent="0">
              <a:lnSpc>
                <a:spcPct val="115000"/>
              </a:lnSpc>
              <a:buNone/>
            </a:pPr>
            <a:r>
              <a:rPr lang="en-US" sz="900" dirty="0">
                <a:solidFill>
                  <a:srgbClr val="E8E8F0"/>
                </a:solidFill>
                <a:latin typeface="Courier New" pitchFamily="34" charset="0"/>
                <a:ea typeface="Courier New" pitchFamily="34" charset="-122"/>
                <a:cs typeface="Courier New" pitchFamily="34" charset="-120"/>
              </a:rPr>
              <a:t>Win: venv\Scripts\activate</a:t>
            </a:r>
            <a:endParaRPr lang="en-US" sz="900" dirty="0"/>
          </a:p>
          <a:p>
            <a:pPr marL="0" indent="0">
              <a:lnSpc>
                <a:spcPct val="115000"/>
              </a:lnSpc>
              <a:buNone/>
            </a:pPr>
            <a:r>
              <a:rPr lang="en-US" sz="900" dirty="0">
                <a:solidFill>
                  <a:srgbClr val="E8E8F0"/>
                </a:solidFill>
                <a:latin typeface="Courier New" pitchFamily="34" charset="0"/>
                <a:ea typeface="Courier New" pitchFamily="34" charset="-122"/>
                <a:cs typeface="Courier New" pitchFamily="34" charset="-120"/>
              </a:rPr>
              <a:t>mac/Linux: source venv/bin/activate</a:t>
            </a:r>
            <a:endParaRPr lang="en-US" sz="900" dirty="0"/>
          </a:p>
        </p:txBody>
      </p:sp>
      <p:sp>
        <p:nvSpPr>
          <p:cNvPr id="18" name="Shape 16"/>
          <p:cNvSpPr/>
          <p:nvPr/>
        </p:nvSpPr>
        <p:spPr>
          <a:xfrm>
            <a:off x="6400800" y="1371600"/>
            <a:ext cx="2697480" cy="2103120"/>
          </a:xfrm>
          <a:prstGeom prst="roundRect">
            <a:avLst>
              <a:gd name="adj" fmla="val 2609"/>
            </a:avLst>
          </a:prstGeom>
          <a:solidFill>
            <a:srgbClr val="FFFFFF"/>
          </a:solidFill>
          <a:ln w="12700">
            <a:solidFill>
              <a:srgbClr val="DDE1EF"/>
            </a:solidFill>
            <a:prstDash val="solid"/>
          </a:ln>
          <a:effectLst>
            <a:outerShdw blurRad="63500" dist="25400" dir="5400000" algn="bl" rotWithShape="0">
              <a:srgbClr val="5B6494">
                <a:alpha val="18000"/>
              </a:srgbClr>
            </a:outerShdw>
          </a:effectLst>
        </p:spPr>
        <p:txBody>
          <a:bodyPr/>
          <a:lstStyle/>
          <a:p>
            <a:endParaRPr lang="es-MX"/>
          </a:p>
        </p:txBody>
      </p:sp>
      <p:sp>
        <p:nvSpPr>
          <p:cNvPr id="19" name="Shape 17"/>
          <p:cNvSpPr/>
          <p:nvPr/>
        </p:nvSpPr>
        <p:spPr>
          <a:xfrm>
            <a:off x="6547104" y="1517904"/>
            <a:ext cx="310896" cy="310896"/>
          </a:xfrm>
          <a:prstGeom prst="ellipse">
            <a:avLst/>
          </a:prstGeom>
          <a:solidFill>
            <a:srgbClr val="E76F00"/>
          </a:solidFill>
          <a:ln/>
        </p:spPr>
        <p:txBody>
          <a:bodyPr/>
          <a:lstStyle/>
          <a:p>
            <a:endParaRPr lang="es-MX"/>
          </a:p>
        </p:txBody>
      </p:sp>
      <p:sp>
        <p:nvSpPr>
          <p:cNvPr id="20" name="Text 18"/>
          <p:cNvSpPr/>
          <p:nvPr/>
        </p:nvSpPr>
        <p:spPr>
          <a:xfrm>
            <a:off x="6547104" y="1517904"/>
            <a:ext cx="310896" cy="310896"/>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p:nvPr/>
        </p:nvSpPr>
        <p:spPr>
          <a:xfrm>
            <a:off x="6967728" y="1490472"/>
            <a:ext cx="1984248" cy="36576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Instalar Flask</a:t>
            </a:r>
            <a:endParaRPr lang="en-US" sz="1350" dirty="0"/>
          </a:p>
        </p:txBody>
      </p:sp>
      <p:sp>
        <p:nvSpPr>
          <p:cNvPr id="22" name="Text 20"/>
          <p:cNvSpPr/>
          <p:nvPr/>
        </p:nvSpPr>
        <p:spPr>
          <a:xfrm>
            <a:off x="6583680" y="1938528"/>
            <a:ext cx="2331720" cy="1417320"/>
          </a:xfrm>
          <a:prstGeom prst="rect">
            <a:avLst/>
          </a:prstGeom>
          <a:noFill/>
          <a:ln/>
        </p:spPr>
        <p:txBody>
          <a:bodyPr wrap="square" rtlCol="0" anchor="t"/>
          <a:lstStyle/>
          <a:p>
            <a:pPr marL="0" indent="0">
              <a:buNone/>
            </a:pPr>
            <a:endParaRPr lang="en-US" sz="1100" dirty="0"/>
          </a:p>
        </p:txBody>
      </p:sp>
      <p:sp>
        <p:nvSpPr>
          <p:cNvPr id="23" name="Shape 21"/>
          <p:cNvSpPr/>
          <p:nvPr/>
        </p:nvSpPr>
        <p:spPr>
          <a:xfrm>
            <a:off x="6583680" y="2011680"/>
            <a:ext cx="2331720" cy="1280160"/>
          </a:xfrm>
          <a:prstGeom prst="roundRect">
            <a:avLst>
              <a:gd name="adj" fmla="val 3571"/>
            </a:avLst>
          </a:prstGeom>
          <a:solidFill>
            <a:srgbClr val="1B1D2A"/>
          </a:solidFill>
          <a:ln/>
        </p:spPr>
        <p:txBody>
          <a:bodyPr/>
          <a:lstStyle/>
          <a:p>
            <a:endParaRPr lang="es-MX"/>
          </a:p>
        </p:txBody>
      </p:sp>
      <p:sp>
        <p:nvSpPr>
          <p:cNvPr id="24" name="Text 22"/>
          <p:cNvSpPr/>
          <p:nvPr/>
        </p:nvSpPr>
        <p:spPr>
          <a:xfrm>
            <a:off x="6675120" y="2103120"/>
            <a:ext cx="2148840" cy="1097280"/>
          </a:xfrm>
          <a:prstGeom prst="rect">
            <a:avLst/>
          </a:prstGeom>
          <a:noFill/>
          <a:ln/>
        </p:spPr>
        <p:txBody>
          <a:bodyPr wrap="square" rtlCol="0" anchor="t"/>
          <a:lstStyle/>
          <a:p>
            <a:pPr marL="0" indent="0">
              <a:lnSpc>
                <a:spcPct val="115000"/>
              </a:lnSpc>
              <a:buNone/>
            </a:pPr>
            <a:r>
              <a:rPr lang="en-US" sz="900" dirty="0">
                <a:solidFill>
                  <a:srgbClr val="E8E8F0"/>
                </a:solidFill>
                <a:latin typeface="Courier New" pitchFamily="34" charset="0"/>
                <a:ea typeface="Courier New" pitchFamily="34" charset="-122"/>
                <a:cs typeface="Courier New" pitchFamily="34" charset="-120"/>
              </a:rPr>
              <a:t>pip install flask</a:t>
            </a:r>
            <a:endParaRPr lang="en-US" sz="900" dirty="0"/>
          </a:p>
        </p:txBody>
      </p:sp>
      <p:sp>
        <p:nvSpPr>
          <p:cNvPr id="25" name="Shape 23"/>
          <p:cNvSpPr/>
          <p:nvPr/>
        </p:nvSpPr>
        <p:spPr>
          <a:xfrm>
            <a:off x="9326880" y="1371600"/>
            <a:ext cx="2697480" cy="2103120"/>
          </a:xfrm>
          <a:prstGeom prst="roundRect">
            <a:avLst>
              <a:gd name="adj" fmla="val 2609"/>
            </a:avLst>
          </a:prstGeom>
          <a:solidFill>
            <a:srgbClr val="FFFFFF"/>
          </a:solidFill>
          <a:ln w="12700">
            <a:solidFill>
              <a:srgbClr val="DDE1EF"/>
            </a:solidFill>
            <a:prstDash val="solid"/>
          </a:ln>
          <a:effectLst>
            <a:outerShdw blurRad="63500" dist="25400" dir="5400000" algn="bl" rotWithShape="0">
              <a:srgbClr val="5B6494">
                <a:alpha val="18000"/>
              </a:srgbClr>
            </a:outerShdw>
          </a:effectLst>
        </p:spPr>
        <p:txBody>
          <a:bodyPr/>
          <a:lstStyle/>
          <a:p>
            <a:endParaRPr lang="es-MX"/>
          </a:p>
        </p:txBody>
      </p:sp>
      <p:sp>
        <p:nvSpPr>
          <p:cNvPr id="26" name="Shape 24"/>
          <p:cNvSpPr/>
          <p:nvPr/>
        </p:nvSpPr>
        <p:spPr>
          <a:xfrm>
            <a:off x="9473184" y="1517904"/>
            <a:ext cx="310896" cy="310896"/>
          </a:xfrm>
          <a:prstGeom prst="ellipse">
            <a:avLst/>
          </a:prstGeom>
          <a:solidFill>
            <a:srgbClr val="1F9D74"/>
          </a:solidFill>
          <a:ln/>
        </p:spPr>
        <p:txBody>
          <a:bodyPr/>
          <a:lstStyle/>
          <a:p>
            <a:endParaRPr lang="es-MX"/>
          </a:p>
        </p:txBody>
      </p:sp>
      <p:sp>
        <p:nvSpPr>
          <p:cNvPr id="27" name="Text 25"/>
          <p:cNvSpPr/>
          <p:nvPr/>
        </p:nvSpPr>
        <p:spPr>
          <a:xfrm>
            <a:off x="9473184" y="1517904"/>
            <a:ext cx="310896" cy="310896"/>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8" name="Text 26"/>
          <p:cNvSpPr/>
          <p:nvPr/>
        </p:nvSpPr>
        <p:spPr>
          <a:xfrm>
            <a:off x="9893808" y="1490472"/>
            <a:ext cx="1984248" cy="36576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Guardar dependencias</a:t>
            </a:r>
            <a:endParaRPr lang="en-US" sz="1350" dirty="0"/>
          </a:p>
        </p:txBody>
      </p:sp>
      <p:sp>
        <p:nvSpPr>
          <p:cNvPr id="29" name="Text 27"/>
          <p:cNvSpPr/>
          <p:nvPr/>
        </p:nvSpPr>
        <p:spPr>
          <a:xfrm>
            <a:off x="9509760" y="1938528"/>
            <a:ext cx="2331720" cy="1417320"/>
          </a:xfrm>
          <a:prstGeom prst="rect">
            <a:avLst/>
          </a:prstGeom>
          <a:noFill/>
          <a:ln/>
        </p:spPr>
        <p:txBody>
          <a:bodyPr wrap="square" rtlCol="0" anchor="t"/>
          <a:lstStyle/>
          <a:p>
            <a:pPr marL="0" indent="0">
              <a:buNone/>
            </a:pPr>
            <a:endParaRPr lang="en-US" sz="1100" dirty="0"/>
          </a:p>
        </p:txBody>
      </p:sp>
      <p:sp>
        <p:nvSpPr>
          <p:cNvPr id="30" name="Shape 28"/>
          <p:cNvSpPr/>
          <p:nvPr/>
        </p:nvSpPr>
        <p:spPr>
          <a:xfrm>
            <a:off x="9509760" y="2011680"/>
            <a:ext cx="2331720" cy="1280160"/>
          </a:xfrm>
          <a:prstGeom prst="roundRect">
            <a:avLst>
              <a:gd name="adj" fmla="val 3571"/>
            </a:avLst>
          </a:prstGeom>
          <a:solidFill>
            <a:srgbClr val="1B1D2A"/>
          </a:solidFill>
          <a:ln/>
        </p:spPr>
        <p:txBody>
          <a:bodyPr/>
          <a:lstStyle/>
          <a:p>
            <a:endParaRPr lang="es-MX"/>
          </a:p>
        </p:txBody>
      </p:sp>
      <p:sp>
        <p:nvSpPr>
          <p:cNvPr id="31" name="Text 29"/>
          <p:cNvSpPr/>
          <p:nvPr/>
        </p:nvSpPr>
        <p:spPr>
          <a:xfrm>
            <a:off x="9601200" y="2103120"/>
            <a:ext cx="2148840" cy="1097280"/>
          </a:xfrm>
          <a:prstGeom prst="rect">
            <a:avLst/>
          </a:prstGeom>
          <a:noFill/>
          <a:ln/>
        </p:spPr>
        <p:txBody>
          <a:bodyPr wrap="square" rtlCol="0" anchor="t"/>
          <a:lstStyle/>
          <a:p>
            <a:pPr marL="0" indent="0">
              <a:lnSpc>
                <a:spcPct val="115000"/>
              </a:lnSpc>
              <a:buNone/>
            </a:pPr>
            <a:r>
              <a:rPr lang="en-US" sz="900" dirty="0">
                <a:solidFill>
                  <a:srgbClr val="E8E8F0"/>
                </a:solidFill>
                <a:latin typeface="Courier New" pitchFamily="34" charset="0"/>
                <a:ea typeface="Courier New" pitchFamily="34" charset="-122"/>
                <a:cs typeface="Courier New" pitchFamily="34" charset="-120"/>
              </a:rPr>
              <a:t>pip freeze &gt; requirements.txt</a:t>
            </a:r>
            <a:endParaRPr lang="en-US" sz="900" dirty="0"/>
          </a:p>
        </p:txBody>
      </p:sp>
      <p:sp>
        <p:nvSpPr>
          <p:cNvPr id="32" name="Shape 30"/>
          <p:cNvSpPr/>
          <p:nvPr/>
        </p:nvSpPr>
        <p:spPr>
          <a:xfrm>
            <a:off x="548640" y="3794760"/>
            <a:ext cx="11064240" cy="1097280"/>
          </a:xfrm>
          <a:prstGeom prst="roundRect">
            <a:avLst>
              <a:gd name="adj" fmla="val 6667"/>
            </a:avLst>
          </a:prstGeom>
          <a:solidFill>
            <a:srgbClr val="EDF0FA"/>
          </a:solidFill>
          <a:ln/>
        </p:spPr>
        <p:txBody>
          <a:bodyPr/>
          <a:lstStyle/>
          <a:p>
            <a:endParaRPr lang="es-MX"/>
          </a:p>
        </p:txBody>
      </p:sp>
      <p:sp>
        <p:nvSpPr>
          <p:cNvPr id="33" name="Text 31"/>
          <p:cNvSpPr/>
          <p:nvPr/>
        </p:nvSpPr>
        <p:spPr>
          <a:xfrm>
            <a:off x="777240" y="3931920"/>
            <a:ext cx="10607040" cy="822960"/>
          </a:xfrm>
          <a:prstGeom prst="rect">
            <a:avLst/>
          </a:prstGeom>
          <a:noFill/>
          <a:ln/>
        </p:spPr>
        <p:txBody>
          <a:bodyPr wrap="square" rtlCol="0" anchor="ctr"/>
          <a:lstStyle/>
          <a:p>
            <a:pPr marL="0" indent="0">
              <a:buNone/>
            </a:pPr>
            <a:r>
              <a:rPr lang="en-US" sz="1300" i="1" dirty="0">
                <a:solidFill>
                  <a:srgbClr val="1E2761"/>
                </a:solidFill>
                <a:latin typeface="Calibri" pitchFamily="34" charset="0"/>
                <a:ea typeface="Calibri" pitchFamily="34" charset="-122"/>
                <a:cs typeface="Calibri" pitchFamily="34" charset="-120"/>
              </a:rPr>
              <a:t>El entorno activo se identifica porque el nombre (venv) aparece al inicio de la línea de la terminal. Debe activarse cada vez que se abre una nueva terminal para trabajar en el proyecto.</a:t>
            </a:r>
            <a:endParaRPr lang="en-US" sz="1300" dirty="0"/>
          </a:p>
        </p:txBody>
      </p:sp>
      <p:sp>
        <p:nvSpPr>
          <p:cNvPr id="34" name="Shape 32"/>
          <p:cNvSpPr/>
          <p:nvPr/>
        </p:nvSpPr>
        <p:spPr>
          <a:xfrm>
            <a:off x="548640" y="5074920"/>
            <a:ext cx="11064240" cy="1234440"/>
          </a:xfrm>
          <a:prstGeom prst="roundRect">
            <a:avLst>
              <a:gd name="adj" fmla="val 4444"/>
            </a:avLst>
          </a:prstGeom>
          <a:solidFill>
            <a:srgbClr val="1B1D2A"/>
          </a:solidFill>
          <a:ln/>
          <a:effectLst>
            <a:outerShdw blurRad="76200" dist="38100" dir="5400000" algn="bl" rotWithShape="0">
              <a:srgbClr val="000000">
                <a:alpha val="25000"/>
              </a:srgbClr>
            </a:outerShdw>
          </a:effectLst>
        </p:spPr>
        <p:txBody>
          <a:bodyPr/>
          <a:lstStyle/>
          <a:p>
            <a:endParaRPr lang="es-MX"/>
          </a:p>
        </p:txBody>
      </p:sp>
      <p:sp>
        <p:nvSpPr>
          <p:cNvPr id="35" name="Shape 33"/>
          <p:cNvSpPr/>
          <p:nvPr/>
        </p:nvSpPr>
        <p:spPr>
          <a:xfrm>
            <a:off x="713232" y="5221224"/>
            <a:ext cx="201168" cy="201168"/>
          </a:xfrm>
          <a:prstGeom prst="ellipse">
            <a:avLst/>
          </a:prstGeom>
          <a:solidFill>
            <a:srgbClr val="1F9D74"/>
          </a:solidFill>
          <a:ln/>
        </p:spPr>
        <p:txBody>
          <a:bodyPr/>
          <a:lstStyle/>
          <a:p>
            <a:endParaRPr lang="es-MX"/>
          </a:p>
        </p:txBody>
      </p:sp>
      <p:sp>
        <p:nvSpPr>
          <p:cNvPr id="36" name="Text 34"/>
          <p:cNvSpPr/>
          <p:nvPr/>
        </p:nvSpPr>
        <p:spPr>
          <a:xfrm>
            <a:off x="1005840" y="5175504"/>
            <a:ext cx="10424160"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TERMINAL — entorno activo</a:t>
            </a:r>
            <a:endParaRPr lang="en-US" sz="1200" dirty="0"/>
          </a:p>
        </p:txBody>
      </p:sp>
      <p:sp>
        <p:nvSpPr>
          <p:cNvPr id="37" name="Text 35"/>
          <p:cNvSpPr/>
          <p:nvPr/>
        </p:nvSpPr>
        <p:spPr>
          <a:xfrm>
            <a:off x="731520" y="5577840"/>
            <a:ext cx="10698480" cy="594360"/>
          </a:xfrm>
          <a:prstGeom prst="rect">
            <a:avLst/>
          </a:prstGeom>
          <a:noFill/>
          <a:ln/>
        </p:spPr>
        <p:txBody>
          <a:bodyPr wrap="square" rtlCol="0" anchor="t"/>
          <a:lstStyle/>
          <a:p>
            <a:pPr marL="0" indent="0">
              <a:lnSpc>
                <a:spcPct val="112000"/>
              </a:lnSpc>
              <a:buNone/>
            </a:pPr>
            <a:r>
              <a:rPr lang="en-US" sz="1200" dirty="0">
                <a:solidFill>
                  <a:srgbClr val="E8E8F0"/>
                </a:solidFill>
                <a:latin typeface="Courier New" pitchFamily="34" charset="0"/>
                <a:ea typeface="Courier New" pitchFamily="34" charset="-122"/>
                <a:cs typeface="Courier New" pitchFamily="34" charset="-120"/>
              </a:rPr>
              <a:t>(venv) C:\Documentos\IAD2413\practica4_registro&gt; pip show flask</a:t>
            </a:r>
            <a:endParaRPr lang="en-US" sz="1200" dirty="0"/>
          </a:p>
          <a:p>
            <a:pPr marL="0" indent="0">
              <a:lnSpc>
                <a:spcPct val="112000"/>
              </a:lnSpc>
              <a:buNone/>
            </a:pPr>
            <a:r>
              <a:rPr lang="en-US" sz="1200" dirty="0">
                <a:solidFill>
                  <a:srgbClr val="E8E8F0"/>
                </a:solidFill>
                <a:latin typeface="Courier New" pitchFamily="34" charset="0"/>
                <a:ea typeface="Courier New" pitchFamily="34" charset="-122"/>
                <a:cs typeface="Courier New" pitchFamily="34" charset="-120"/>
              </a:rPr>
              <a:t>Name: Flask   Version: 3.1.3   Location: .../venv/lib/site-packages</a:t>
            </a:r>
            <a:endParaRPr lang="en-US" sz="1200" dirty="0"/>
          </a:p>
        </p:txBody>
      </p:sp>
      <p:sp>
        <p:nvSpPr>
          <p:cNvPr id="38" name="Text 36"/>
          <p:cNvSpPr/>
          <p:nvPr/>
        </p:nvSpPr>
        <p:spPr>
          <a:xfrm>
            <a:off x="548640" y="6537960"/>
            <a:ext cx="7315200" cy="274320"/>
          </a:xfrm>
          <a:prstGeom prst="rect">
            <a:avLst/>
          </a:prstGeom>
          <a:noFill/>
          <a:ln/>
        </p:spPr>
        <p:txBody>
          <a:bodyPr wrap="square" rtlCol="0" anchor="ctr"/>
          <a:lstStyle/>
          <a:p>
            <a:pPr marL="0" indent="0">
              <a:buNone/>
            </a:pPr>
            <a:r>
              <a:rPr lang="en-US" sz="1000" dirty="0">
                <a:solidFill>
                  <a:srgbClr val="9AA0B4"/>
                </a:solidFill>
                <a:latin typeface="Calibri" pitchFamily="34" charset="0"/>
                <a:ea typeface="Calibri" pitchFamily="34" charset="-122"/>
                <a:cs typeface="Calibri" pitchFamily="34" charset="-120"/>
              </a:rPr>
              <a:t>Práctica 4 · Aplicación web básica · IAD-2413 · ITD</a:t>
            </a:r>
            <a:endParaRPr lang="en-US" sz="1000" dirty="0"/>
          </a:p>
        </p:txBody>
      </p:sp>
      <p:sp>
        <p:nvSpPr>
          <p:cNvPr id="39" name="Text 37"/>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9AA0B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Paso 4 · La interfaz — formulario.html</a:t>
            </a:r>
            <a:endParaRPr lang="en-US" sz="28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formulario que verá el usuario al entrar a la aplicación</a:t>
            </a:r>
            <a:endParaRPr lang="en-US" sz="1400" dirty="0"/>
          </a:p>
        </p:txBody>
      </p:sp>
      <p:sp>
        <p:nvSpPr>
          <p:cNvPr id="4" name="Shape 2"/>
          <p:cNvSpPr/>
          <p:nvPr/>
        </p:nvSpPr>
        <p:spPr>
          <a:xfrm>
            <a:off x="548640" y="1371600"/>
            <a:ext cx="6675120" cy="4892040"/>
          </a:xfrm>
          <a:prstGeom prst="roundRect">
            <a:avLst>
              <a:gd name="adj" fmla="val 1121"/>
            </a:avLst>
          </a:prstGeom>
          <a:solidFill>
            <a:srgbClr val="1B1D2A"/>
          </a:solidFill>
          <a:ln/>
          <a:effectLst>
            <a:outerShdw blurRad="76200" dist="38100" dir="5400000" algn="bl" rotWithShape="0">
              <a:srgbClr val="000000">
                <a:alpha val="25000"/>
              </a:srgbClr>
            </a:outerShdw>
          </a:effectLst>
        </p:spPr>
        <p:txBody>
          <a:bodyPr/>
          <a:lstStyle/>
          <a:p>
            <a:endParaRPr lang="es-MX"/>
          </a:p>
        </p:txBody>
      </p:sp>
      <p:sp>
        <p:nvSpPr>
          <p:cNvPr id="5" name="Shape 3"/>
          <p:cNvSpPr/>
          <p:nvPr/>
        </p:nvSpPr>
        <p:spPr>
          <a:xfrm>
            <a:off x="713232" y="1517904"/>
            <a:ext cx="201168" cy="201168"/>
          </a:xfrm>
          <a:prstGeom prst="ellipse">
            <a:avLst/>
          </a:prstGeom>
          <a:solidFill>
            <a:srgbClr val="1F9D74"/>
          </a:solidFill>
          <a:ln/>
        </p:spPr>
        <p:txBody>
          <a:bodyPr/>
          <a:lstStyle/>
          <a:p>
            <a:endParaRPr lang="es-MX"/>
          </a:p>
        </p:txBody>
      </p:sp>
      <p:sp>
        <p:nvSpPr>
          <p:cNvPr id="6" name="Text 4"/>
          <p:cNvSpPr/>
          <p:nvPr/>
        </p:nvSpPr>
        <p:spPr>
          <a:xfrm>
            <a:off x="1005840" y="1472184"/>
            <a:ext cx="6035040"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HTML — templates/formulario.html</a:t>
            </a:r>
            <a:endParaRPr lang="en-US" sz="1200" dirty="0"/>
          </a:p>
        </p:txBody>
      </p:sp>
      <p:sp>
        <p:nvSpPr>
          <p:cNvPr id="7" name="Text 5"/>
          <p:cNvSpPr/>
          <p:nvPr/>
        </p:nvSpPr>
        <p:spPr>
          <a:xfrm>
            <a:off x="731520" y="1874520"/>
            <a:ext cx="6309360" cy="4251960"/>
          </a:xfrm>
          <a:prstGeom prst="rect">
            <a:avLst/>
          </a:prstGeom>
          <a:noFill/>
          <a:ln/>
        </p:spPr>
        <p:txBody>
          <a:bodyPr wrap="square" rtlCol="0" anchor="t"/>
          <a:lstStyle/>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&lt;!DOCTYPE html&gt;</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&lt;html lang="es"&gt;</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&lt;head&gt;</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  &lt;meta charset="UTF-8"&gt;</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  &lt;title&gt;Registro de usuario&lt;/title&gt;</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  &lt;link rel="stylesheet"</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    href="{{ url_for('static',</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      filename='estilo.css') }}"&gt;</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&lt;/head&gt;</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&lt;body&gt;</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  &lt;main class="tarjeta"&gt;</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    &lt;h1&gt;Registro de usuario&lt;/h1&gt;</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    &lt;form action="/registro" method="POST"&gt;</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      &lt;label for="nombre"&gt;Nombre:&lt;/label&gt;</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      &lt;input type="text" id="nombre"</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        name="nombre" required&gt;</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      &lt;label for="correo"&gt;Correo:&lt;/label&gt;</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      &lt;input type="email" id="correo"</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        name="correo" required&gt;</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      &lt;button type="submit"&gt;</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        Registrarme&lt;/button&gt;</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    &lt;/form&gt;</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  &lt;/main&gt;</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&lt;/body&gt;</a:t>
            </a:r>
            <a:endParaRPr lang="en-US" sz="1000" dirty="0"/>
          </a:p>
          <a:p>
            <a:pPr marL="0" indent="0">
              <a:lnSpc>
                <a:spcPct val="112000"/>
              </a:lnSpc>
              <a:buNone/>
            </a:pPr>
            <a:r>
              <a:rPr lang="en-US" sz="1000" dirty="0">
                <a:solidFill>
                  <a:srgbClr val="E8E8F0"/>
                </a:solidFill>
                <a:latin typeface="Courier New" pitchFamily="34" charset="0"/>
                <a:ea typeface="Courier New" pitchFamily="34" charset="-122"/>
                <a:cs typeface="Courier New" pitchFamily="34" charset="-120"/>
              </a:rPr>
              <a:t>&lt;/html&gt;</a:t>
            </a:r>
            <a:endParaRPr lang="en-US" sz="1000" dirty="0"/>
          </a:p>
        </p:txBody>
      </p:sp>
      <p:sp>
        <p:nvSpPr>
          <p:cNvPr id="8" name="Shape 6"/>
          <p:cNvSpPr/>
          <p:nvPr/>
        </p:nvSpPr>
        <p:spPr>
          <a:xfrm>
            <a:off x="7452360" y="1463040"/>
            <a:ext cx="256032" cy="256032"/>
          </a:xfrm>
          <a:prstGeom prst="ellipse">
            <a:avLst/>
          </a:prstGeom>
          <a:solidFill>
            <a:srgbClr val="3776AB"/>
          </a:solidFill>
          <a:ln/>
        </p:spPr>
        <p:txBody>
          <a:bodyPr/>
          <a:lstStyle/>
          <a:p>
            <a:endParaRPr lang="es-MX"/>
          </a:p>
        </p:txBody>
      </p:sp>
      <p:sp>
        <p:nvSpPr>
          <p:cNvPr id="9" name="Text 7"/>
          <p:cNvSpPr/>
          <p:nvPr/>
        </p:nvSpPr>
        <p:spPr>
          <a:xfrm>
            <a:off x="7818120" y="1408176"/>
            <a:ext cx="3749040" cy="320040"/>
          </a:xfrm>
          <a:prstGeom prst="rect">
            <a:avLst/>
          </a:prstGeom>
          <a:noFill/>
          <a:ln/>
        </p:spPr>
        <p:txBody>
          <a:bodyPr wrap="square" rtlCol="0" anchor="ctr"/>
          <a:lstStyle/>
          <a:p>
            <a:pPr marL="0" indent="0">
              <a:buNone/>
            </a:pPr>
            <a:r>
              <a:rPr lang="en-US" sz="1150" b="1" dirty="0">
                <a:solidFill>
                  <a:srgbClr val="1E2761"/>
                </a:solidFill>
                <a:latin typeface="Courier New" pitchFamily="34" charset="0"/>
                <a:ea typeface="Courier New" pitchFamily="34" charset="-122"/>
                <a:cs typeface="Courier New" pitchFamily="34" charset="-120"/>
              </a:rPr>
              <a:t>url_for('static', ...)</a:t>
            </a:r>
            <a:endParaRPr lang="en-US" sz="1150" dirty="0"/>
          </a:p>
        </p:txBody>
      </p:sp>
      <p:sp>
        <p:nvSpPr>
          <p:cNvPr id="10" name="Text 8"/>
          <p:cNvSpPr/>
          <p:nvPr/>
        </p:nvSpPr>
        <p:spPr>
          <a:xfrm>
            <a:off x="7818120" y="1737360"/>
            <a:ext cx="3749040" cy="594360"/>
          </a:xfrm>
          <a:prstGeom prst="rect">
            <a:avLst/>
          </a:prstGeom>
          <a:noFill/>
          <a:ln/>
        </p:spPr>
        <p:txBody>
          <a:bodyPr wrap="square" rtlCol="0" anchor="t"/>
          <a:lstStyle/>
          <a:p>
            <a:pPr marL="0" indent="0">
              <a:buNone/>
            </a:pPr>
            <a:r>
              <a:rPr lang="en-US" sz="1100" dirty="0">
                <a:solidFill>
                  <a:srgbClr val="4A4A55"/>
                </a:solidFill>
                <a:latin typeface="Calibri" pitchFamily="34" charset="0"/>
                <a:ea typeface="Calibri" pitchFamily="34" charset="-122"/>
                <a:cs typeface="Calibri" pitchFamily="34" charset="-120"/>
              </a:rPr>
              <a:t>Genera automáticamente la ruta correcta al CSS.</a:t>
            </a:r>
            <a:endParaRPr lang="en-US" sz="1100" dirty="0"/>
          </a:p>
        </p:txBody>
      </p:sp>
      <p:sp>
        <p:nvSpPr>
          <p:cNvPr id="11" name="Shape 9"/>
          <p:cNvSpPr/>
          <p:nvPr/>
        </p:nvSpPr>
        <p:spPr>
          <a:xfrm>
            <a:off x="7452360" y="2514600"/>
            <a:ext cx="256032" cy="256032"/>
          </a:xfrm>
          <a:prstGeom prst="ellipse">
            <a:avLst/>
          </a:prstGeom>
          <a:solidFill>
            <a:srgbClr val="9B4F96"/>
          </a:solidFill>
          <a:ln/>
        </p:spPr>
        <p:txBody>
          <a:bodyPr/>
          <a:lstStyle/>
          <a:p>
            <a:endParaRPr lang="es-MX"/>
          </a:p>
        </p:txBody>
      </p:sp>
      <p:sp>
        <p:nvSpPr>
          <p:cNvPr id="12" name="Text 10"/>
          <p:cNvSpPr/>
          <p:nvPr/>
        </p:nvSpPr>
        <p:spPr>
          <a:xfrm>
            <a:off x="7818120" y="2459736"/>
            <a:ext cx="3749040" cy="320040"/>
          </a:xfrm>
          <a:prstGeom prst="rect">
            <a:avLst/>
          </a:prstGeom>
          <a:noFill/>
          <a:ln/>
        </p:spPr>
        <p:txBody>
          <a:bodyPr wrap="square" rtlCol="0" anchor="ctr"/>
          <a:lstStyle/>
          <a:p>
            <a:pPr marL="0" indent="0">
              <a:buNone/>
            </a:pPr>
            <a:r>
              <a:rPr lang="en-US" sz="1150" b="1" dirty="0">
                <a:solidFill>
                  <a:srgbClr val="1E2761"/>
                </a:solidFill>
                <a:latin typeface="Courier New" pitchFamily="34" charset="0"/>
                <a:ea typeface="Courier New" pitchFamily="34" charset="-122"/>
                <a:cs typeface="Courier New" pitchFamily="34" charset="-120"/>
              </a:rPr>
              <a:t>action="/registro" method="POST"</a:t>
            </a:r>
            <a:endParaRPr lang="en-US" sz="1150" dirty="0"/>
          </a:p>
        </p:txBody>
      </p:sp>
      <p:sp>
        <p:nvSpPr>
          <p:cNvPr id="13" name="Text 11"/>
          <p:cNvSpPr/>
          <p:nvPr/>
        </p:nvSpPr>
        <p:spPr>
          <a:xfrm>
            <a:off x="7818120" y="2788920"/>
            <a:ext cx="3749040" cy="594360"/>
          </a:xfrm>
          <a:prstGeom prst="rect">
            <a:avLst/>
          </a:prstGeom>
          <a:noFill/>
          <a:ln/>
        </p:spPr>
        <p:txBody>
          <a:bodyPr wrap="square" rtlCol="0" anchor="t"/>
          <a:lstStyle/>
          <a:p>
            <a:pPr marL="0" indent="0">
              <a:buNone/>
            </a:pPr>
            <a:r>
              <a:rPr lang="en-US" sz="1100" dirty="0">
                <a:solidFill>
                  <a:srgbClr val="4A4A55"/>
                </a:solidFill>
                <a:latin typeface="Calibri" pitchFamily="34" charset="0"/>
                <a:ea typeface="Calibri" pitchFamily="34" charset="-122"/>
                <a:cs typeface="Calibri" pitchFamily="34" charset="-120"/>
              </a:rPr>
              <a:t>Al enviar, el navegador hace POST a esa ruta de Flask.</a:t>
            </a:r>
            <a:endParaRPr lang="en-US" sz="1100" dirty="0"/>
          </a:p>
        </p:txBody>
      </p:sp>
      <p:sp>
        <p:nvSpPr>
          <p:cNvPr id="14" name="Shape 12"/>
          <p:cNvSpPr/>
          <p:nvPr/>
        </p:nvSpPr>
        <p:spPr>
          <a:xfrm>
            <a:off x="7452360" y="3566160"/>
            <a:ext cx="256032" cy="256032"/>
          </a:xfrm>
          <a:prstGeom prst="ellipse">
            <a:avLst/>
          </a:prstGeom>
          <a:solidFill>
            <a:srgbClr val="E76F00"/>
          </a:solidFill>
          <a:ln/>
        </p:spPr>
        <p:txBody>
          <a:bodyPr/>
          <a:lstStyle/>
          <a:p>
            <a:endParaRPr lang="es-MX"/>
          </a:p>
        </p:txBody>
      </p:sp>
      <p:sp>
        <p:nvSpPr>
          <p:cNvPr id="15" name="Text 13"/>
          <p:cNvSpPr/>
          <p:nvPr/>
        </p:nvSpPr>
        <p:spPr>
          <a:xfrm>
            <a:off x="7818120" y="3511296"/>
            <a:ext cx="3749040" cy="320040"/>
          </a:xfrm>
          <a:prstGeom prst="rect">
            <a:avLst/>
          </a:prstGeom>
          <a:noFill/>
          <a:ln/>
        </p:spPr>
        <p:txBody>
          <a:bodyPr wrap="square" rtlCol="0" anchor="ctr"/>
          <a:lstStyle/>
          <a:p>
            <a:pPr marL="0" indent="0">
              <a:buNone/>
            </a:pPr>
            <a:r>
              <a:rPr lang="en-US" sz="1150" b="1" dirty="0">
                <a:solidFill>
                  <a:srgbClr val="1E2761"/>
                </a:solidFill>
                <a:latin typeface="Courier New" pitchFamily="34" charset="0"/>
                <a:ea typeface="Courier New" pitchFamily="34" charset="-122"/>
                <a:cs typeface="Courier New" pitchFamily="34" charset="-120"/>
              </a:rPr>
              <a:t>name="nombre"</a:t>
            </a:r>
            <a:endParaRPr lang="en-US" sz="1150" dirty="0"/>
          </a:p>
        </p:txBody>
      </p:sp>
      <p:sp>
        <p:nvSpPr>
          <p:cNvPr id="16" name="Text 14"/>
          <p:cNvSpPr/>
          <p:nvPr/>
        </p:nvSpPr>
        <p:spPr>
          <a:xfrm>
            <a:off x="7818120" y="3840480"/>
            <a:ext cx="3749040" cy="594360"/>
          </a:xfrm>
          <a:prstGeom prst="rect">
            <a:avLst/>
          </a:prstGeom>
          <a:noFill/>
          <a:ln/>
        </p:spPr>
        <p:txBody>
          <a:bodyPr wrap="square" rtlCol="0" anchor="t"/>
          <a:lstStyle/>
          <a:p>
            <a:pPr marL="0" indent="0">
              <a:buNone/>
            </a:pPr>
            <a:r>
              <a:rPr lang="en-US" sz="1100" dirty="0">
                <a:solidFill>
                  <a:srgbClr val="4A4A55"/>
                </a:solidFill>
                <a:latin typeface="Calibri" pitchFamily="34" charset="0"/>
                <a:ea typeface="Calibri" pitchFamily="34" charset="-122"/>
                <a:cs typeface="Calibri" pitchFamily="34" charset="-120"/>
              </a:rPr>
              <a:t>Debe coincidir con lo que lee app.py con request.form.</a:t>
            </a:r>
            <a:endParaRPr lang="en-US" sz="1100" dirty="0"/>
          </a:p>
        </p:txBody>
      </p:sp>
      <p:sp>
        <p:nvSpPr>
          <p:cNvPr id="17" name="Shape 15"/>
          <p:cNvSpPr/>
          <p:nvPr/>
        </p:nvSpPr>
        <p:spPr>
          <a:xfrm>
            <a:off x="7452360" y="4617720"/>
            <a:ext cx="256032" cy="256032"/>
          </a:xfrm>
          <a:prstGeom prst="ellipse">
            <a:avLst/>
          </a:prstGeom>
          <a:solidFill>
            <a:srgbClr val="1F9D74"/>
          </a:solidFill>
          <a:ln/>
        </p:spPr>
        <p:txBody>
          <a:bodyPr/>
          <a:lstStyle/>
          <a:p>
            <a:endParaRPr lang="es-MX"/>
          </a:p>
        </p:txBody>
      </p:sp>
      <p:sp>
        <p:nvSpPr>
          <p:cNvPr id="18" name="Text 16"/>
          <p:cNvSpPr/>
          <p:nvPr/>
        </p:nvSpPr>
        <p:spPr>
          <a:xfrm>
            <a:off x="7818120" y="4562856"/>
            <a:ext cx="3749040" cy="320040"/>
          </a:xfrm>
          <a:prstGeom prst="rect">
            <a:avLst/>
          </a:prstGeom>
          <a:noFill/>
          <a:ln/>
        </p:spPr>
        <p:txBody>
          <a:bodyPr wrap="square" rtlCol="0" anchor="ctr"/>
          <a:lstStyle/>
          <a:p>
            <a:pPr marL="0" indent="0">
              <a:buNone/>
            </a:pPr>
            <a:r>
              <a:rPr lang="en-US" sz="1150" b="1" dirty="0">
                <a:solidFill>
                  <a:srgbClr val="1E2761"/>
                </a:solidFill>
                <a:latin typeface="Courier New" pitchFamily="34" charset="0"/>
                <a:ea typeface="Courier New" pitchFamily="34" charset="-122"/>
                <a:cs typeface="Courier New" pitchFamily="34" charset="-120"/>
              </a:rPr>
              <a:t>required</a:t>
            </a:r>
            <a:endParaRPr lang="en-US" sz="1150" dirty="0"/>
          </a:p>
        </p:txBody>
      </p:sp>
      <p:sp>
        <p:nvSpPr>
          <p:cNvPr id="19" name="Text 17"/>
          <p:cNvSpPr/>
          <p:nvPr/>
        </p:nvSpPr>
        <p:spPr>
          <a:xfrm>
            <a:off x="7818120" y="4892040"/>
            <a:ext cx="3749040" cy="594360"/>
          </a:xfrm>
          <a:prstGeom prst="rect">
            <a:avLst/>
          </a:prstGeom>
          <a:noFill/>
          <a:ln/>
        </p:spPr>
        <p:txBody>
          <a:bodyPr wrap="square" rtlCol="0" anchor="t"/>
          <a:lstStyle/>
          <a:p>
            <a:pPr marL="0" indent="0">
              <a:buNone/>
            </a:pPr>
            <a:r>
              <a:rPr lang="en-US" sz="1100" dirty="0">
                <a:solidFill>
                  <a:srgbClr val="4A4A55"/>
                </a:solidFill>
                <a:latin typeface="Calibri" pitchFamily="34" charset="0"/>
                <a:ea typeface="Calibri" pitchFamily="34" charset="-122"/>
                <a:cs typeface="Calibri" pitchFamily="34" charset="-120"/>
              </a:rPr>
              <a:t>Validación básica del navegador: no envía si está vacío.</a:t>
            </a:r>
            <a:endParaRPr lang="en-US" sz="1100" dirty="0"/>
          </a:p>
        </p:txBody>
      </p:sp>
      <p:sp>
        <p:nvSpPr>
          <p:cNvPr id="20" name="Text 18"/>
          <p:cNvSpPr/>
          <p:nvPr/>
        </p:nvSpPr>
        <p:spPr>
          <a:xfrm>
            <a:off x="548640" y="6537960"/>
            <a:ext cx="7315200" cy="274320"/>
          </a:xfrm>
          <a:prstGeom prst="rect">
            <a:avLst/>
          </a:prstGeom>
          <a:noFill/>
          <a:ln/>
        </p:spPr>
        <p:txBody>
          <a:bodyPr wrap="square" rtlCol="0" anchor="ctr"/>
          <a:lstStyle/>
          <a:p>
            <a:pPr marL="0" indent="0">
              <a:buNone/>
            </a:pPr>
            <a:r>
              <a:rPr lang="en-US" sz="1000" dirty="0">
                <a:solidFill>
                  <a:srgbClr val="9AA0B4"/>
                </a:solidFill>
                <a:latin typeface="Calibri" pitchFamily="34" charset="0"/>
                <a:ea typeface="Calibri" pitchFamily="34" charset="-122"/>
                <a:cs typeface="Calibri" pitchFamily="34" charset="-120"/>
              </a:rPr>
              <a:t>Práctica 4 · Aplicación web básica · IAD-2413 · ITD</a:t>
            </a:r>
            <a:endParaRPr lang="en-US" sz="1000" dirty="0"/>
          </a:p>
        </p:txBody>
      </p:sp>
      <p:sp>
        <p:nvSpPr>
          <p:cNvPr id="21" name="Text 19"/>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9AA0B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Paso 5 · El backend — app.py</a:t>
            </a:r>
            <a:endParaRPr lang="en-US" sz="28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Dos rutas: mostrar el formulario y procesar el registro</a:t>
            </a:r>
            <a:endParaRPr lang="en-US" sz="1400" dirty="0"/>
          </a:p>
        </p:txBody>
      </p:sp>
      <p:sp>
        <p:nvSpPr>
          <p:cNvPr id="4" name="Shape 2"/>
          <p:cNvSpPr/>
          <p:nvPr/>
        </p:nvSpPr>
        <p:spPr>
          <a:xfrm>
            <a:off x="548640" y="1371600"/>
            <a:ext cx="5943600" cy="5166360"/>
          </a:xfrm>
          <a:prstGeom prst="roundRect">
            <a:avLst>
              <a:gd name="adj" fmla="val 1121"/>
            </a:avLst>
          </a:prstGeom>
          <a:solidFill>
            <a:srgbClr val="1B1D2A"/>
          </a:solidFill>
          <a:ln/>
          <a:effectLst>
            <a:outerShdw blurRad="76200" dist="38100" dir="5400000" algn="bl" rotWithShape="0">
              <a:srgbClr val="000000">
                <a:alpha val="25000"/>
              </a:srgbClr>
            </a:outerShdw>
          </a:effectLst>
        </p:spPr>
        <p:txBody>
          <a:bodyPr/>
          <a:lstStyle/>
          <a:p>
            <a:endParaRPr lang="es-MX"/>
          </a:p>
        </p:txBody>
      </p:sp>
      <p:sp>
        <p:nvSpPr>
          <p:cNvPr id="5" name="Shape 3"/>
          <p:cNvSpPr/>
          <p:nvPr/>
        </p:nvSpPr>
        <p:spPr>
          <a:xfrm>
            <a:off x="713232" y="1517904"/>
            <a:ext cx="201168" cy="201168"/>
          </a:xfrm>
          <a:prstGeom prst="ellipse">
            <a:avLst/>
          </a:prstGeom>
          <a:solidFill>
            <a:srgbClr val="3776AB"/>
          </a:solidFill>
          <a:ln/>
        </p:spPr>
        <p:txBody>
          <a:bodyPr/>
          <a:lstStyle/>
          <a:p>
            <a:endParaRPr lang="es-MX"/>
          </a:p>
        </p:txBody>
      </p:sp>
      <p:sp>
        <p:nvSpPr>
          <p:cNvPr id="6" name="Text 4"/>
          <p:cNvSpPr/>
          <p:nvPr/>
        </p:nvSpPr>
        <p:spPr>
          <a:xfrm>
            <a:off x="1005840" y="1472184"/>
            <a:ext cx="5303520"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PYTHON — app.py</a:t>
            </a:r>
            <a:endParaRPr lang="en-US" sz="1200" dirty="0"/>
          </a:p>
        </p:txBody>
      </p:sp>
      <p:sp>
        <p:nvSpPr>
          <p:cNvPr id="7" name="Text 5"/>
          <p:cNvSpPr/>
          <p:nvPr/>
        </p:nvSpPr>
        <p:spPr>
          <a:xfrm>
            <a:off x="731520" y="1874520"/>
            <a:ext cx="5577840" cy="4251960"/>
          </a:xfrm>
          <a:prstGeom prst="rect">
            <a:avLst/>
          </a:prstGeom>
          <a:noFill/>
          <a:ln/>
        </p:spPr>
        <p:txBody>
          <a:bodyPr wrap="square" rtlCol="0" anchor="t"/>
          <a:lstStyle/>
          <a:p>
            <a:pPr marL="0" indent="0">
              <a:lnSpc>
                <a:spcPct val="112000"/>
              </a:lnSpc>
              <a:buNone/>
            </a:pPr>
            <a:r>
              <a:rPr lang="en-US" sz="1100" dirty="0">
                <a:solidFill>
                  <a:srgbClr val="E8E8F0"/>
                </a:solidFill>
                <a:latin typeface="Courier New" pitchFamily="34" charset="0"/>
                <a:ea typeface="Courier New" pitchFamily="34" charset="-122"/>
                <a:cs typeface="Courier New" pitchFamily="34" charset="-120"/>
              </a:rPr>
              <a:t>from flask import Flask, render_template</a:t>
            </a:r>
            <a:endParaRPr lang="en-US" sz="1100" dirty="0"/>
          </a:p>
          <a:p>
            <a:pPr marL="0" indent="0">
              <a:lnSpc>
                <a:spcPct val="112000"/>
              </a:lnSpc>
              <a:buNone/>
            </a:pPr>
            <a:r>
              <a:rPr lang="en-US" sz="1100" dirty="0">
                <a:solidFill>
                  <a:srgbClr val="E8E8F0"/>
                </a:solidFill>
                <a:latin typeface="Courier New" pitchFamily="34" charset="0"/>
                <a:ea typeface="Courier New" pitchFamily="34" charset="-122"/>
                <a:cs typeface="Courier New" pitchFamily="34" charset="-120"/>
              </a:rPr>
              <a:t>from flask import request</a:t>
            </a:r>
            <a:endParaRPr lang="en-US" sz="1100" dirty="0"/>
          </a:p>
          <a:p>
            <a:pPr marL="0" indent="0">
              <a:lnSpc>
                <a:spcPct val="112000"/>
              </a:lnSpc>
              <a:buNone/>
            </a:pPr>
            <a:endParaRPr lang="en-US" sz="1100" dirty="0"/>
          </a:p>
          <a:p>
            <a:pPr marL="0" indent="0">
              <a:lnSpc>
                <a:spcPct val="112000"/>
              </a:lnSpc>
              <a:buNone/>
            </a:pPr>
            <a:r>
              <a:rPr lang="en-US" sz="1100" dirty="0">
                <a:solidFill>
                  <a:srgbClr val="E8E8F0"/>
                </a:solidFill>
                <a:latin typeface="Courier New" pitchFamily="34" charset="0"/>
                <a:ea typeface="Courier New" pitchFamily="34" charset="-122"/>
                <a:cs typeface="Courier New" pitchFamily="34" charset="-120"/>
              </a:rPr>
              <a:t>app = Flask(__name__)</a:t>
            </a:r>
            <a:endParaRPr lang="en-US" sz="1100" dirty="0"/>
          </a:p>
          <a:p>
            <a:pPr marL="0" indent="0">
              <a:lnSpc>
                <a:spcPct val="112000"/>
              </a:lnSpc>
              <a:buNone/>
            </a:pPr>
            <a:endParaRPr lang="en-US" sz="1100" dirty="0"/>
          </a:p>
          <a:p>
            <a:pPr marL="0" indent="0">
              <a:lnSpc>
                <a:spcPct val="112000"/>
              </a:lnSpc>
              <a:buNone/>
            </a:pPr>
            <a:r>
              <a:rPr lang="en-US" sz="1100" dirty="0">
                <a:solidFill>
                  <a:srgbClr val="E8E8F0"/>
                </a:solidFill>
                <a:latin typeface="Courier New" pitchFamily="34" charset="0"/>
                <a:ea typeface="Courier New" pitchFamily="34" charset="-122"/>
                <a:cs typeface="Courier New" pitchFamily="34" charset="-120"/>
              </a:rPr>
              <a:t>@app.route("/")</a:t>
            </a:r>
            <a:endParaRPr lang="en-US" sz="1100" dirty="0"/>
          </a:p>
          <a:p>
            <a:pPr marL="0" indent="0">
              <a:lnSpc>
                <a:spcPct val="112000"/>
              </a:lnSpc>
              <a:buNone/>
            </a:pPr>
            <a:r>
              <a:rPr lang="en-US" sz="1100" dirty="0">
                <a:solidFill>
                  <a:srgbClr val="E8E8F0"/>
                </a:solidFill>
                <a:latin typeface="Courier New" pitchFamily="34" charset="0"/>
                <a:ea typeface="Courier New" pitchFamily="34" charset="-122"/>
                <a:cs typeface="Courier New" pitchFamily="34" charset="-120"/>
              </a:rPr>
              <a:t>def inicio():</a:t>
            </a:r>
            <a:endParaRPr lang="en-US" sz="1100" dirty="0"/>
          </a:p>
          <a:p>
            <a:pPr marL="0" indent="0">
              <a:lnSpc>
                <a:spcPct val="112000"/>
              </a:lnSpc>
              <a:buNone/>
            </a:pPr>
            <a:r>
              <a:rPr lang="en-US" sz="1100" dirty="0">
                <a:solidFill>
                  <a:srgbClr val="E8E8F0"/>
                </a:solidFill>
                <a:latin typeface="Courier New" pitchFamily="34" charset="0"/>
                <a:ea typeface="Courier New" pitchFamily="34" charset="-122"/>
                <a:cs typeface="Courier New" pitchFamily="34" charset="-120"/>
              </a:rPr>
              <a:t>    return render_template(</a:t>
            </a:r>
            <a:endParaRPr lang="en-US" sz="1100" dirty="0"/>
          </a:p>
          <a:p>
            <a:pPr marL="0" indent="0">
              <a:lnSpc>
                <a:spcPct val="112000"/>
              </a:lnSpc>
              <a:buNone/>
            </a:pPr>
            <a:r>
              <a:rPr lang="en-US" sz="1100" dirty="0">
                <a:solidFill>
                  <a:srgbClr val="E8E8F0"/>
                </a:solidFill>
                <a:latin typeface="Courier New" pitchFamily="34" charset="0"/>
                <a:ea typeface="Courier New" pitchFamily="34" charset="-122"/>
                <a:cs typeface="Courier New" pitchFamily="34" charset="-120"/>
              </a:rPr>
              <a:t>        "formulario.html")</a:t>
            </a:r>
            <a:endParaRPr lang="en-US" sz="1100" dirty="0"/>
          </a:p>
          <a:p>
            <a:pPr marL="0" indent="0">
              <a:lnSpc>
                <a:spcPct val="112000"/>
              </a:lnSpc>
              <a:buNone/>
            </a:pPr>
            <a:endParaRPr lang="en-US" sz="1100" dirty="0"/>
          </a:p>
          <a:p>
            <a:pPr marL="0" indent="0">
              <a:lnSpc>
                <a:spcPct val="112000"/>
              </a:lnSpc>
              <a:buNone/>
            </a:pPr>
            <a:r>
              <a:rPr lang="en-US" sz="1100" dirty="0">
                <a:solidFill>
                  <a:srgbClr val="E8E8F0"/>
                </a:solidFill>
                <a:latin typeface="Courier New" pitchFamily="34" charset="0"/>
                <a:ea typeface="Courier New" pitchFamily="34" charset="-122"/>
                <a:cs typeface="Courier New" pitchFamily="34" charset="-120"/>
              </a:rPr>
              <a:t>@app.route("/registro",</a:t>
            </a:r>
            <a:endParaRPr lang="en-US" sz="1100" dirty="0"/>
          </a:p>
          <a:p>
            <a:pPr marL="0" indent="0">
              <a:lnSpc>
                <a:spcPct val="112000"/>
              </a:lnSpc>
              <a:buNone/>
            </a:pPr>
            <a:r>
              <a:rPr lang="en-US" sz="1100" dirty="0">
                <a:solidFill>
                  <a:srgbClr val="E8E8F0"/>
                </a:solidFill>
                <a:latin typeface="Courier New" pitchFamily="34" charset="0"/>
                <a:ea typeface="Courier New" pitchFamily="34" charset="-122"/>
                <a:cs typeface="Courier New" pitchFamily="34" charset="-120"/>
              </a:rPr>
              <a:t>           methods=["POST"])</a:t>
            </a:r>
            <a:endParaRPr lang="en-US" sz="1100" dirty="0"/>
          </a:p>
          <a:p>
            <a:pPr marL="0" indent="0">
              <a:lnSpc>
                <a:spcPct val="112000"/>
              </a:lnSpc>
              <a:buNone/>
            </a:pPr>
            <a:r>
              <a:rPr lang="en-US" sz="1100" dirty="0">
                <a:solidFill>
                  <a:srgbClr val="E8E8F0"/>
                </a:solidFill>
                <a:latin typeface="Courier New" pitchFamily="34" charset="0"/>
                <a:ea typeface="Courier New" pitchFamily="34" charset="-122"/>
                <a:cs typeface="Courier New" pitchFamily="34" charset="-120"/>
              </a:rPr>
              <a:t>def registro():</a:t>
            </a:r>
            <a:endParaRPr lang="en-US" sz="1100" dirty="0"/>
          </a:p>
          <a:p>
            <a:pPr marL="0" indent="0">
              <a:lnSpc>
                <a:spcPct val="112000"/>
              </a:lnSpc>
              <a:buNone/>
            </a:pPr>
            <a:r>
              <a:rPr lang="en-US" sz="1100" dirty="0">
                <a:solidFill>
                  <a:srgbClr val="E8E8F0"/>
                </a:solidFill>
                <a:latin typeface="Courier New" pitchFamily="34" charset="0"/>
                <a:ea typeface="Courier New" pitchFamily="34" charset="-122"/>
                <a:cs typeface="Courier New" pitchFamily="34" charset="-120"/>
              </a:rPr>
              <a:t>    nombre = request.form.get(</a:t>
            </a:r>
            <a:endParaRPr lang="en-US" sz="1100" dirty="0"/>
          </a:p>
          <a:p>
            <a:pPr marL="0" indent="0">
              <a:lnSpc>
                <a:spcPct val="112000"/>
              </a:lnSpc>
              <a:buNone/>
            </a:pPr>
            <a:r>
              <a:rPr lang="en-US" sz="1100" dirty="0">
                <a:solidFill>
                  <a:srgbClr val="E8E8F0"/>
                </a:solidFill>
                <a:latin typeface="Courier New" pitchFamily="34" charset="0"/>
                <a:ea typeface="Courier New" pitchFamily="34" charset="-122"/>
                <a:cs typeface="Courier New" pitchFamily="34" charset="-120"/>
              </a:rPr>
              <a:t>        "nombre")</a:t>
            </a:r>
            <a:endParaRPr lang="en-US" sz="1100" dirty="0"/>
          </a:p>
          <a:p>
            <a:pPr marL="0" indent="0">
              <a:lnSpc>
                <a:spcPct val="112000"/>
              </a:lnSpc>
              <a:buNone/>
            </a:pPr>
            <a:r>
              <a:rPr lang="en-US" sz="1100" dirty="0">
                <a:solidFill>
                  <a:srgbClr val="E8E8F0"/>
                </a:solidFill>
                <a:latin typeface="Courier New" pitchFamily="34" charset="0"/>
                <a:ea typeface="Courier New" pitchFamily="34" charset="-122"/>
                <a:cs typeface="Courier New" pitchFamily="34" charset="-120"/>
              </a:rPr>
              <a:t>    correo = request.form.get(</a:t>
            </a:r>
            <a:endParaRPr lang="en-US" sz="1100" dirty="0"/>
          </a:p>
          <a:p>
            <a:pPr marL="0" indent="0">
              <a:lnSpc>
                <a:spcPct val="112000"/>
              </a:lnSpc>
              <a:buNone/>
            </a:pPr>
            <a:r>
              <a:rPr lang="en-US" sz="1100" dirty="0">
                <a:solidFill>
                  <a:srgbClr val="E8E8F0"/>
                </a:solidFill>
                <a:latin typeface="Courier New" pitchFamily="34" charset="0"/>
                <a:ea typeface="Courier New" pitchFamily="34" charset="-122"/>
                <a:cs typeface="Courier New" pitchFamily="34" charset="-120"/>
              </a:rPr>
              <a:t>        "correo")</a:t>
            </a:r>
            <a:endParaRPr lang="en-US" sz="1100" dirty="0"/>
          </a:p>
          <a:p>
            <a:pPr marL="0" indent="0">
              <a:lnSpc>
                <a:spcPct val="112000"/>
              </a:lnSpc>
              <a:buNone/>
            </a:pPr>
            <a:r>
              <a:rPr lang="en-US" sz="1100" dirty="0">
                <a:solidFill>
                  <a:srgbClr val="E8E8F0"/>
                </a:solidFill>
                <a:latin typeface="Courier New" pitchFamily="34" charset="0"/>
                <a:ea typeface="Courier New" pitchFamily="34" charset="-122"/>
                <a:cs typeface="Courier New" pitchFamily="34" charset="-120"/>
              </a:rPr>
              <a:t>    return render_template(</a:t>
            </a:r>
            <a:endParaRPr lang="en-US" sz="1100" dirty="0"/>
          </a:p>
          <a:p>
            <a:pPr marL="0" indent="0">
              <a:lnSpc>
                <a:spcPct val="112000"/>
              </a:lnSpc>
              <a:buNone/>
            </a:pPr>
            <a:r>
              <a:rPr lang="en-US" sz="1100" dirty="0">
                <a:solidFill>
                  <a:srgbClr val="E8E8F0"/>
                </a:solidFill>
                <a:latin typeface="Courier New" pitchFamily="34" charset="0"/>
                <a:ea typeface="Courier New" pitchFamily="34" charset="-122"/>
                <a:cs typeface="Courier New" pitchFamily="34" charset="-120"/>
              </a:rPr>
              <a:t>        "perfil.html",</a:t>
            </a:r>
            <a:endParaRPr lang="en-US" sz="1100" dirty="0"/>
          </a:p>
          <a:p>
            <a:pPr marL="0" indent="0">
              <a:lnSpc>
                <a:spcPct val="112000"/>
              </a:lnSpc>
              <a:buNone/>
            </a:pPr>
            <a:r>
              <a:rPr lang="en-US" sz="1100" dirty="0">
                <a:solidFill>
                  <a:srgbClr val="E8E8F0"/>
                </a:solidFill>
                <a:latin typeface="Courier New" pitchFamily="34" charset="0"/>
                <a:ea typeface="Courier New" pitchFamily="34" charset="-122"/>
                <a:cs typeface="Courier New" pitchFamily="34" charset="-120"/>
              </a:rPr>
              <a:t>        nombre=nombre,</a:t>
            </a:r>
            <a:endParaRPr lang="en-US" sz="1100" dirty="0"/>
          </a:p>
          <a:p>
            <a:pPr marL="0" indent="0">
              <a:lnSpc>
                <a:spcPct val="112000"/>
              </a:lnSpc>
              <a:buNone/>
            </a:pPr>
            <a:r>
              <a:rPr lang="en-US" sz="1100" dirty="0">
                <a:solidFill>
                  <a:srgbClr val="E8E8F0"/>
                </a:solidFill>
                <a:latin typeface="Courier New" pitchFamily="34" charset="0"/>
                <a:ea typeface="Courier New" pitchFamily="34" charset="-122"/>
                <a:cs typeface="Courier New" pitchFamily="34" charset="-120"/>
              </a:rPr>
              <a:t>        correo=correo)</a:t>
            </a:r>
            <a:endParaRPr lang="en-US" sz="1100" dirty="0"/>
          </a:p>
          <a:p>
            <a:pPr marL="0" indent="0">
              <a:lnSpc>
                <a:spcPct val="112000"/>
              </a:lnSpc>
              <a:buNone/>
            </a:pPr>
            <a:endParaRPr lang="en-US" sz="1100" dirty="0"/>
          </a:p>
          <a:p>
            <a:pPr marL="0" indent="0">
              <a:lnSpc>
                <a:spcPct val="112000"/>
              </a:lnSpc>
              <a:buNone/>
            </a:pPr>
            <a:r>
              <a:rPr lang="en-US" sz="1100" dirty="0">
                <a:solidFill>
                  <a:srgbClr val="E8E8F0"/>
                </a:solidFill>
                <a:latin typeface="Courier New" pitchFamily="34" charset="0"/>
                <a:ea typeface="Courier New" pitchFamily="34" charset="-122"/>
                <a:cs typeface="Courier New" pitchFamily="34" charset="-120"/>
              </a:rPr>
              <a:t>if __name__ == "__main__":</a:t>
            </a:r>
            <a:endParaRPr lang="en-US" sz="1100" dirty="0"/>
          </a:p>
          <a:p>
            <a:pPr marL="0" indent="0">
              <a:lnSpc>
                <a:spcPct val="112000"/>
              </a:lnSpc>
              <a:buNone/>
            </a:pPr>
            <a:r>
              <a:rPr lang="en-US" sz="1100" dirty="0">
                <a:solidFill>
                  <a:srgbClr val="E8E8F0"/>
                </a:solidFill>
                <a:latin typeface="Courier New" pitchFamily="34" charset="0"/>
                <a:ea typeface="Courier New" pitchFamily="34" charset="-122"/>
                <a:cs typeface="Courier New" pitchFamily="34" charset="-120"/>
              </a:rPr>
              <a:t>    app.run(debug=True)</a:t>
            </a:r>
            <a:endParaRPr lang="en-US" sz="1100" dirty="0"/>
          </a:p>
        </p:txBody>
      </p:sp>
      <p:sp>
        <p:nvSpPr>
          <p:cNvPr id="8" name="Shape 6"/>
          <p:cNvSpPr/>
          <p:nvPr/>
        </p:nvSpPr>
        <p:spPr>
          <a:xfrm>
            <a:off x="6720840" y="1417320"/>
            <a:ext cx="4892040" cy="1051560"/>
          </a:xfrm>
          <a:prstGeom prst="roundRect">
            <a:avLst>
              <a:gd name="adj" fmla="val 5217"/>
            </a:avLst>
          </a:prstGeom>
          <a:solidFill>
            <a:srgbClr val="FFFFFF"/>
          </a:solidFill>
          <a:ln w="12700">
            <a:solidFill>
              <a:srgbClr val="DDE1EF"/>
            </a:solidFill>
            <a:prstDash val="solid"/>
          </a:ln>
          <a:effectLst>
            <a:outerShdw blurRad="50800" dist="25400" dir="5400000" algn="bl" rotWithShape="0">
              <a:srgbClr val="5B6494">
                <a:alpha val="15000"/>
              </a:srgbClr>
            </a:outerShdw>
          </a:effectLst>
        </p:spPr>
        <p:txBody>
          <a:bodyPr/>
          <a:lstStyle/>
          <a:p>
            <a:endParaRPr lang="es-MX"/>
          </a:p>
        </p:txBody>
      </p:sp>
      <p:sp>
        <p:nvSpPr>
          <p:cNvPr id="9" name="Shape 7"/>
          <p:cNvSpPr/>
          <p:nvPr/>
        </p:nvSpPr>
        <p:spPr>
          <a:xfrm>
            <a:off x="6903720" y="1563624"/>
            <a:ext cx="274320" cy="274320"/>
          </a:xfrm>
          <a:prstGeom prst="ellipse">
            <a:avLst/>
          </a:prstGeom>
          <a:solidFill>
            <a:srgbClr val="3776AB"/>
          </a:solidFill>
          <a:ln/>
        </p:spPr>
        <p:txBody>
          <a:bodyPr/>
          <a:lstStyle/>
          <a:p>
            <a:endParaRPr lang="es-MX"/>
          </a:p>
        </p:txBody>
      </p:sp>
      <p:sp>
        <p:nvSpPr>
          <p:cNvPr id="10" name="Text 8"/>
          <p:cNvSpPr/>
          <p:nvPr/>
        </p:nvSpPr>
        <p:spPr>
          <a:xfrm>
            <a:off x="6903720" y="1563624"/>
            <a:ext cx="27432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7315200" y="1508760"/>
            <a:ext cx="4160520" cy="274320"/>
          </a:xfrm>
          <a:prstGeom prst="rect">
            <a:avLst/>
          </a:prstGeom>
          <a:noFill/>
          <a:ln/>
        </p:spPr>
        <p:txBody>
          <a:bodyPr wrap="square" rtlCol="0" anchor="ctr"/>
          <a:lstStyle/>
          <a:p>
            <a:pPr marL="0" indent="0">
              <a:buNone/>
            </a:pPr>
            <a:r>
              <a:rPr lang="en-US" sz="1200" b="1" dirty="0">
                <a:solidFill>
                  <a:srgbClr val="1E2761"/>
                </a:solidFill>
                <a:latin typeface="Courier New" pitchFamily="34" charset="0"/>
                <a:ea typeface="Courier New" pitchFamily="34" charset="-122"/>
                <a:cs typeface="Courier New" pitchFamily="34" charset="-120"/>
              </a:rPr>
              <a:t>@app.route("/")</a:t>
            </a:r>
            <a:endParaRPr lang="en-US" sz="1200" dirty="0"/>
          </a:p>
        </p:txBody>
      </p:sp>
      <p:sp>
        <p:nvSpPr>
          <p:cNvPr id="12" name="Text 10"/>
          <p:cNvSpPr/>
          <p:nvPr/>
        </p:nvSpPr>
        <p:spPr>
          <a:xfrm>
            <a:off x="7315200" y="1801368"/>
            <a:ext cx="4160520" cy="594360"/>
          </a:xfrm>
          <a:prstGeom prst="rect">
            <a:avLst/>
          </a:prstGeom>
          <a:noFill/>
          <a:ln/>
        </p:spPr>
        <p:txBody>
          <a:bodyPr wrap="square" rtlCol="0" anchor="t"/>
          <a:lstStyle/>
          <a:p>
            <a:pPr marL="0" indent="0">
              <a:buNone/>
            </a:pPr>
            <a:r>
              <a:rPr lang="en-US" sz="1050" dirty="0">
                <a:solidFill>
                  <a:srgbClr val="4A4A55"/>
                </a:solidFill>
                <a:latin typeface="Calibri" pitchFamily="34" charset="0"/>
                <a:ea typeface="Calibri" pitchFamily="34" charset="-122"/>
                <a:cs typeface="Calibri" pitchFamily="34" charset="-120"/>
              </a:rPr>
              <a:t>Decorador: cuando visitan la URL raíz, se ejecuta inicio().</a:t>
            </a:r>
            <a:endParaRPr lang="en-US" sz="1050" dirty="0"/>
          </a:p>
        </p:txBody>
      </p:sp>
      <p:sp>
        <p:nvSpPr>
          <p:cNvPr id="13" name="Shape 11"/>
          <p:cNvSpPr/>
          <p:nvPr/>
        </p:nvSpPr>
        <p:spPr>
          <a:xfrm>
            <a:off x="6720840" y="2606040"/>
            <a:ext cx="4892040" cy="1051560"/>
          </a:xfrm>
          <a:prstGeom prst="roundRect">
            <a:avLst>
              <a:gd name="adj" fmla="val 5217"/>
            </a:avLst>
          </a:prstGeom>
          <a:solidFill>
            <a:srgbClr val="FFFFFF"/>
          </a:solidFill>
          <a:ln w="12700">
            <a:solidFill>
              <a:srgbClr val="DDE1EF"/>
            </a:solidFill>
            <a:prstDash val="solid"/>
          </a:ln>
          <a:effectLst>
            <a:outerShdw blurRad="50800" dist="25400" dir="5400000" algn="bl" rotWithShape="0">
              <a:srgbClr val="5B6494">
                <a:alpha val="15000"/>
              </a:srgbClr>
            </a:outerShdw>
          </a:effectLst>
        </p:spPr>
        <p:txBody>
          <a:bodyPr/>
          <a:lstStyle/>
          <a:p>
            <a:endParaRPr lang="es-MX"/>
          </a:p>
        </p:txBody>
      </p:sp>
      <p:sp>
        <p:nvSpPr>
          <p:cNvPr id="14" name="Shape 12"/>
          <p:cNvSpPr/>
          <p:nvPr/>
        </p:nvSpPr>
        <p:spPr>
          <a:xfrm>
            <a:off x="6903720" y="2752344"/>
            <a:ext cx="274320" cy="274320"/>
          </a:xfrm>
          <a:prstGeom prst="ellipse">
            <a:avLst/>
          </a:prstGeom>
          <a:solidFill>
            <a:srgbClr val="9B4F96"/>
          </a:solidFill>
          <a:ln/>
        </p:spPr>
        <p:txBody>
          <a:bodyPr/>
          <a:lstStyle/>
          <a:p>
            <a:endParaRPr lang="es-MX"/>
          </a:p>
        </p:txBody>
      </p:sp>
      <p:sp>
        <p:nvSpPr>
          <p:cNvPr id="15" name="Text 13"/>
          <p:cNvSpPr/>
          <p:nvPr/>
        </p:nvSpPr>
        <p:spPr>
          <a:xfrm>
            <a:off x="6903720" y="2752344"/>
            <a:ext cx="27432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p:nvPr/>
        </p:nvSpPr>
        <p:spPr>
          <a:xfrm>
            <a:off x="7315200" y="2697480"/>
            <a:ext cx="4160520" cy="274320"/>
          </a:xfrm>
          <a:prstGeom prst="rect">
            <a:avLst/>
          </a:prstGeom>
          <a:noFill/>
          <a:ln/>
        </p:spPr>
        <p:txBody>
          <a:bodyPr wrap="square" rtlCol="0" anchor="ctr"/>
          <a:lstStyle/>
          <a:p>
            <a:pPr marL="0" indent="0">
              <a:buNone/>
            </a:pPr>
            <a:r>
              <a:rPr lang="en-US" sz="1200" b="1" dirty="0">
                <a:solidFill>
                  <a:srgbClr val="1E2761"/>
                </a:solidFill>
                <a:latin typeface="Courier New" pitchFamily="34" charset="0"/>
                <a:ea typeface="Courier New" pitchFamily="34" charset="-122"/>
                <a:cs typeface="Courier New" pitchFamily="34" charset="-120"/>
              </a:rPr>
              <a:t>methods=["POST"]</a:t>
            </a:r>
            <a:endParaRPr lang="en-US" sz="1200" dirty="0"/>
          </a:p>
        </p:txBody>
      </p:sp>
      <p:sp>
        <p:nvSpPr>
          <p:cNvPr id="17" name="Text 15"/>
          <p:cNvSpPr/>
          <p:nvPr/>
        </p:nvSpPr>
        <p:spPr>
          <a:xfrm>
            <a:off x="7315200" y="2990088"/>
            <a:ext cx="4160520" cy="594360"/>
          </a:xfrm>
          <a:prstGeom prst="rect">
            <a:avLst/>
          </a:prstGeom>
          <a:noFill/>
          <a:ln/>
        </p:spPr>
        <p:txBody>
          <a:bodyPr wrap="square" rtlCol="0" anchor="t"/>
          <a:lstStyle/>
          <a:p>
            <a:pPr marL="0" indent="0">
              <a:buNone/>
            </a:pPr>
            <a:r>
              <a:rPr lang="en-US" sz="1050" dirty="0">
                <a:solidFill>
                  <a:srgbClr val="4A4A55"/>
                </a:solidFill>
                <a:latin typeface="Calibri" pitchFamily="34" charset="0"/>
                <a:ea typeface="Calibri" pitchFamily="34" charset="-122"/>
                <a:cs typeface="Calibri" pitchFamily="34" charset="-120"/>
              </a:rPr>
              <a:t>Esta ruta solo responde al método que usa el &lt;form&gt;.</a:t>
            </a:r>
            <a:endParaRPr lang="en-US" sz="1050" dirty="0"/>
          </a:p>
        </p:txBody>
      </p:sp>
      <p:sp>
        <p:nvSpPr>
          <p:cNvPr id="18" name="Shape 16"/>
          <p:cNvSpPr/>
          <p:nvPr/>
        </p:nvSpPr>
        <p:spPr>
          <a:xfrm>
            <a:off x="6720840" y="3794760"/>
            <a:ext cx="4892040" cy="1051560"/>
          </a:xfrm>
          <a:prstGeom prst="roundRect">
            <a:avLst>
              <a:gd name="adj" fmla="val 5217"/>
            </a:avLst>
          </a:prstGeom>
          <a:solidFill>
            <a:srgbClr val="FFFFFF"/>
          </a:solidFill>
          <a:ln w="12700">
            <a:solidFill>
              <a:srgbClr val="DDE1EF"/>
            </a:solidFill>
            <a:prstDash val="solid"/>
          </a:ln>
          <a:effectLst>
            <a:outerShdw blurRad="50800" dist="25400" dir="5400000" algn="bl" rotWithShape="0">
              <a:srgbClr val="5B6494">
                <a:alpha val="15000"/>
              </a:srgbClr>
            </a:outerShdw>
          </a:effectLst>
        </p:spPr>
        <p:txBody>
          <a:bodyPr/>
          <a:lstStyle/>
          <a:p>
            <a:endParaRPr lang="es-MX"/>
          </a:p>
        </p:txBody>
      </p:sp>
      <p:sp>
        <p:nvSpPr>
          <p:cNvPr id="19" name="Shape 17"/>
          <p:cNvSpPr/>
          <p:nvPr/>
        </p:nvSpPr>
        <p:spPr>
          <a:xfrm>
            <a:off x="6903720" y="3941064"/>
            <a:ext cx="274320" cy="274320"/>
          </a:xfrm>
          <a:prstGeom prst="ellipse">
            <a:avLst/>
          </a:prstGeom>
          <a:solidFill>
            <a:srgbClr val="E76F00"/>
          </a:solidFill>
          <a:ln/>
        </p:spPr>
        <p:txBody>
          <a:bodyPr/>
          <a:lstStyle/>
          <a:p>
            <a:endParaRPr lang="es-MX"/>
          </a:p>
        </p:txBody>
      </p:sp>
      <p:sp>
        <p:nvSpPr>
          <p:cNvPr id="20" name="Text 18"/>
          <p:cNvSpPr/>
          <p:nvPr/>
        </p:nvSpPr>
        <p:spPr>
          <a:xfrm>
            <a:off x="6903720" y="3941064"/>
            <a:ext cx="27432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7315200" y="3886200"/>
            <a:ext cx="4160520" cy="274320"/>
          </a:xfrm>
          <a:prstGeom prst="rect">
            <a:avLst/>
          </a:prstGeom>
          <a:noFill/>
          <a:ln/>
        </p:spPr>
        <p:txBody>
          <a:bodyPr wrap="square" rtlCol="0" anchor="ctr"/>
          <a:lstStyle/>
          <a:p>
            <a:pPr marL="0" indent="0">
              <a:buNone/>
            </a:pPr>
            <a:r>
              <a:rPr lang="en-US" sz="1200" b="1" dirty="0">
                <a:solidFill>
                  <a:srgbClr val="1E2761"/>
                </a:solidFill>
                <a:latin typeface="Courier New" pitchFamily="34" charset="0"/>
                <a:ea typeface="Courier New" pitchFamily="34" charset="-122"/>
                <a:cs typeface="Courier New" pitchFamily="34" charset="-120"/>
              </a:rPr>
              <a:t>request.form.get(...)</a:t>
            </a:r>
            <a:endParaRPr lang="en-US" sz="1200" dirty="0"/>
          </a:p>
        </p:txBody>
      </p:sp>
      <p:sp>
        <p:nvSpPr>
          <p:cNvPr id="22" name="Text 20"/>
          <p:cNvSpPr/>
          <p:nvPr/>
        </p:nvSpPr>
        <p:spPr>
          <a:xfrm>
            <a:off x="7315200" y="4178808"/>
            <a:ext cx="4160520" cy="594360"/>
          </a:xfrm>
          <a:prstGeom prst="rect">
            <a:avLst/>
          </a:prstGeom>
          <a:noFill/>
          <a:ln/>
        </p:spPr>
        <p:txBody>
          <a:bodyPr wrap="square" rtlCol="0" anchor="t"/>
          <a:lstStyle/>
          <a:p>
            <a:pPr marL="0" indent="0">
              <a:buNone/>
            </a:pPr>
            <a:r>
              <a:rPr lang="en-US" sz="1050" dirty="0">
                <a:solidFill>
                  <a:srgbClr val="4A4A55"/>
                </a:solidFill>
                <a:latin typeface="Calibri" pitchFamily="34" charset="0"/>
                <a:ea typeface="Calibri" pitchFamily="34" charset="-122"/>
                <a:cs typeface="Calibri" pitchFamily="34" charset="-120"/>
              </a:rPr>
              <a:t>Lee el valor enviado desde el input con ese name.</a:t>
            </a:r>
            <a:endParaRPr lang="en-US" sz="1050" dirty="0"/>
          </a:p>
        </p:txBody>
      </p:sp>
      <p:sp>
        <p:nvSpPr>
          <p:cNvPr id="23" name="Shape 21"/>
          <p:cNvSpPr/>
          <p:nvPr/>
        </p:nvSpPr>
        <p:spPr>
          <a:xfrm>
            <a:off x="6720840" y="4983480"/>
            <a:ext cx="4892040" cy="1051560"/>
          </a:xfrm>
          <a:prstGeom prst="roundRect">
            <a:avLst>
              <a:gd name="adj" fmla="val 5217"/>
            </a:avLst>
          </a:prstGeom>
          <a:solidFill>
            <a:srgbClr val="FFFFFF"/>
          </a:solidFill>
          <a:ln w="12700">
            <a:solidFill>
              <a:srgbClr val="DDE1EF"/>
            </a:solidFill>
            <a:prstDash val="solid"/>
          </a:ln>
          <a:effectLst>
            <a:outerShdw blurRad="50800" dist="25400" dir="5400000" algn="bl" rotWithShape="0">
              <a:srgbClr val="5B6494">
                <a:alpha val="15000"/>
              </a:srgbClr>
            </a:outerShdw>
          </a:effectLst>
        </p:spPr>
        <p:txBody>
          <a:bodyPr/>
          <a:lstStyle/>
          <a:p>
            <a:endParaRPr lang="es-MX"/>
          </a:p>
        </p:txBody>
      </p:sp>
      <p:sp>
        <p:nvSpPr>
          <p:cNvPr id="24" name="Shape 22"/>
          <p:cNvSpPr/>
          <p:nvPr/>
        </p:nvSpPr>
        <p:spPr>
          <a:xfrm>
            <a:off x="6903720" y="5129784"/>
            <a:ext cx="274320" cy="274320"/>
          </a:xfrm>
          <a:prstGeom prst="ellipse">
            <a:avLst/>
          </a:prstGeom>
          <a:solidFill>
            <a:srgbClr val="1F9D74"/>
          </a:solidFill>
          <a:ln/>
        </p:spPr>
        <p:txBody>
          <a:bodyPr/>
          <a:lstStyle/>
          <a:p>
            <a:endParaRPr lang="es-MX"/>
          </a:p>
        </p:txBody>
      </p:sp>
      <p:sp>
        <p:nvSpPr>
          <p:cNvPr id="25" name="Text 23"/>
          <p:cNvSpPr/>
          <p:nvPr/>
        </p:nvSpPr>
        <p:spPr>
          <a:xfrm>
            <a:off x="6903720" y="5129784"/>
            <a:ext cx="27432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p:nvPr/>
        </p:nvSpPr>
        <p:spPr>
          <a:xfrm>
            <a:off x="7315200" y="5074920"/>
            <a:ext cx="4160520" cy="274320"/>
          </a:xfrm>
          <a:prstGeom prst="rect">
            <a:avLst/>
          </a:prstGeom>
          <a:noFill/>
          <a:ln/>
        </p:spPr>
        <p:txBody>
          <a:bodyPr wrap="square" rtlCol="0" anchor="ctr"/>
          <a:lstStyle/>
          <a:p>
            <a:pPr marL="0" indent="0">
              <a:buNone/>
            </a:pPr>
            <a:r>
              <a:rPr lang="en-US" sz="1200" b="1" dirty="0">
                <a:solidFill>
                  <a:srgbClr val="1E2761"/>
                </a:solidFill>
                <a:latin typeface="Courier New" pitchFamily="34" charset="0"/>
                <a:ea typeface="Courier New" pitchFamily="34" charset="-122"/>
                <a:cs typeface="Courier New" pitchFamily="34" charset="-120"/>
              </a:rPr>
              <a:t>debug=True</a:t>
            </a:r>
            <a:endParaRPr lang="en-US" sz="1200" dirty="0"/>
          </a:p>
        </p:txBody>
      </p:sp>
      <p:sp>
        <p:nvSpPr>
          <p:cNvPr id="27" name="Text 25"/>
          <p:cNvSpPr/>
          <p:nvPr/>
        </p:nvSpPr>
        <p:spPr>
          <a:xfrm>
            <a:off x="7315200" y="5367528"/>
            <a:ext cx="4160520" cy="594360"/>
          </a:xfrm>
          <a:prstGeom prst="rect">
            <a:avLst/>
          </a:prstGeom>
          <a:noFill/>
          <a:ln/>
        </p:spPr>
        <p:txBody>
          <a:bodyPr wrap="square" rtlCol="0" anchor="t"/>
          <a:lstStyle/>
          <a:p>
            <a:pPr marL="0" indent="0">
              <a:buNone/>
            </a:pPr>
            <a:r>
              <a:rPr lang="en-US" sz="1050" dirty="0">
                <a:solidFill>
                  <a:srgbClr val="4A4A55"/>
                </a:solidFill>
                <a:latin typeface="Calibri" pitchFamily="34" charset="0"/>
                <a:ea typeface="Calibri" pitchFamily="34" charset="-122"/>
                <a:cs typeface="Calibri" pitchFamily="34" charset="-120"/>
              </a:rPr>
              <a:t>Recarga automática y errores detallados mientras desarrollas.</a:t>
            </a:r>
            <a:endParaRPr lang="en-US" sz="1050" dirty="0"/>
          </a:p>
        </p:txBody>
      </p:sp>
      <p:sp>
        <p:nvSpPr>
          <p:cNvPr id="28" name="Text 26"/>
          <p:cNvSpPr/>
          <p:nvPr/>
        </p:nvSpPr>
        <p:spPr>
          <a:xfrm>
            <a:off x="548640" y="6537960"/>
            <a:ext cx="7315200" cy="274320"/>
          </a:xfrm>
          <a:prstGeom prst="rect">
            <a:avLst/>
          </a:prstGeom>
          <a:noFill/>
          <a:ln/>
        </p:spPr>
        <p:txBody>
          <a:bodyPr wrap="square" rtlCol="0" anchor="ctr"/>
          <a:lstStyle/>
          <a:p>
            <a:pPr marL="0" indent="0">
              <a:buNone/>
            </a:pPr>
            <a:r>
              <a:rPr lang="en-US" sz="1000" dirty="0">
                <a:solidFill>
                  <a:srgbClr val="9AA0B4"/>
                </a:solidFill>
                <a:latin typeface="Calibri" pitchFamily="34" charset="0"/>
                <a:ea typeface="Calibri" pitchFamily="34" charset="-122"/>
                <a:cs typeface="Calibri" pitchFamily="34" charset="-120"/>
              </a:rPr>
              <a:t>Práctica 4 · Aplicación web básica · IAD-2413 · ITD</a:t>
            </a:r>
            <a:endParaRPr lang="en-US" sz="1000" dirty="0"/>
          </a:p>
        </p:txBody>
      </p:sp>
      <p:sp>
        <p:nvSpPr>
          <p:cNvPr id="29" name="Text 27"/>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9AA0B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Paso 6 · Ejecutar y probar la aplicación</a:t>
            </a:r>
            <a:endParaRPr lang="en-US" sz="28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Con el entorno virtual activo, dentro de la carpeta del proyecto</a:t>
            </a:r>
            <a:endParaRPr lang="en-US" sz="1400" dirty="0"/>
          </a:p>
        </p:txBody>
      </p:sp>
      <p:sp>
        <p:nvSpPr>
          <p:cNvPr id="4" name="Shape 2"/>
          <p:cNvSpPr/>
          <p:nvPr/>
        </p:nvSpPr>
        <p:spPr>
          <a:xfrm>
            <a:off x="548640" y="1371600"/>
            <a:ext cx="11064240" cy="1554480"/>
          </a:xfrm>
          <a:prstGeom prst="roundRect">
            <a:avLst>
              <a:gd name="adj" fmla="val 3529"/>
            </a:avLst>
          </a:prstGeom>
          <a:solidFill>
            <a:srgbClr val="1B1D2A"/>
          </a:solidFill>
          <a:ln/>
          <a:effectLst>
            <a:outerShdw blurRad="76200" dist="38100" dir="5400000" algn="bl" rotWithShape="0">
              <a:srgbClr val="000000">
                <a:alpha val="25000"/>
              </a:srgbClr>
            </a:outerShdw>
          </a:effectLst>
        </p:spPr>
        <p:txBody>
          <a:bodyPr/>
          <a:lstStyle/>
          <a:p>
            <a:endParaRPr lang="es-MX"/>
          </a:p>
        </p:txBody>
      </p:sp>
      <p:sp>
        <p:nvSpPr>
          <p:cNvPr id="5" name="Shape 3"/>
          <p:cNvSpPr/>
          <p:nvPr/>
        </p:nvSpPr>
        <p:spPr>
          <a:xfrm>
            <a:off x="713232" y="1517904"/>
            <a:ext cx="201168" cy="201168"/>
          </a:xfrm>
          <a:prstGeom prst="ellipse">
            <a:avLst/>
          </a:prstGeom>
          <a:solidFill>
            <a:srgbClr val="1F9D74"/>
          </a:solidFill>
          <a:ln/>
        </p:spPr>
        <p:txBody>
          <a:bodyPr/>
          <a:lstStyle/>
          <a:p>
            <a:endParaRPr lang="es-MX"/>
          </a:p>
        </p:txBody>
      </p:sp>
      <p:sp>
        <p:nvSpPr>
          <p:cNvPr id="6" name="Text 4"/>
          <p:cNvSpPr/>
          <p:nvPr/>
        </p:nvSpPr>
        <p:spPr>
          <a:xfrm>
            <a:off x="1005840" y="1472184"/>
            <a:ext cx="10424160"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TERMINAL</a:t>
            </a:r>
            <a:endParaRPr lang="en-US" sz="1200" dirty="0"/>
          </a:p>
        </p:txBody>
      </p:sp>
      <p:sp>
        <p:nvSpPr>
          <p:cNvPr id="7" name="Text 5"/>
          <p:cNvSpPr/>
          <p:nvPr/>
        </p:nvSpPr>
        <p:spPr>
          <a:xfrm>
            <a:off x="731520" y="1874520"/>
            <a:ext cx="10698480" cy="914400"/>
          </a:xfrm>
          <a:prstGeom prst="rect">
            <a:avLst/>
          </a:prstGeom>
          <a:noFill/>
          <a:ln/>
        </p:spPr>
        <p:txBody>
          <a:bodyPr wrap="square" rtlCol="0" anchor="t"/>
          <a:lstStyle/>
          <a:p>
            <a:pPr marL="0" indent="0">
              <a:lnSpc>
                <a:spcPct val="112000"/>
              </a:lnSpc>
              <a:buNone/>
            </a:pPr>
            <a:r>
              <a:rPr lang="en-US" sz="1300" dirty="0">
                <a:solidFill>
                  <a:srgbClr val="E8E8F0"/>
                </a:solidFill>
                <a:latin typeface="Courier New" pitchFamily="34" charset="0"/>
                <a:ea typeface="Courier New" pitchFamily="34" charset="-122"/>
                <a:cs typeface="Courier New" pitchFamily="34" charset="-120"/>
              </a:rPr>
              <a:t>(venv) $ python app.py</a:t>
            </a:r>
            <a:endParaRPr lang="en-US" sz="1300" dirty="0"/>
          </a:p>
          <a:p>
            <a:pPr marL="0" indent="0">
              <a:lnSpc>
                <a:spcPct val="112000"/>
              </a:lnSpc>
              <a:buNone/>
            </a:pPr>
            <a:r>
              <a:rPr lang="en-US" sz="1300" dirty="0">
                <a:solidFill>
                  <a:srgbClr val="E8E8F0"/>
                </a:solidFill>
                <a:latin typeface="Courier New" pitchFamily="34" charset="0"/>
                <a:ea typeface="Courier New" pitchFamily="34" charset="-122"/>
                <a:cs typeface="Courier New" pitchFamily="34" charset="-120"/>
              </a:rPr>
              <a:t> * Serving Flask app 'app'   * Debug mode: on</a:t>
            </a:r>
            <a:endParaRPr lang="en-US" sz="1300" dirty="0"/>
          </a:p>
          <a:p>
            <a:pPr marL="0" indent="0">
              <a:lnSpc>
                <a:spcPct val="112000"/>
              </a:lnSpc>
              <a:buNone/>
            </a:pPr>
            <a:r>
              <a:rPr lang="en-US" sz="1300" dirty="0">
                <a:solidFill>
                  <a:srgbClr val="E8E8F0"/>
                </a:solidFill>
                <a:latin typeface="Courier New" pitchFamily="34" charset="0"/>
                <a:ea typeface="Courier New" pitchFamily="34" charset="-122"/>
                <a:cs typeface="Courier New" pitchFamily="34" charset="-120"/>
              </a:rPr>
              <a:t> * Running on http://127.0.0.1:5000</a:t>
            </a:r>
            <a:endParaRPr lang="en-US" sz="1300" dirty="0"/>
          </a:p>
          <a:p>
            <a:pPr marL="0" indent="0">
              <a:lnSpc>
                <a:spcPct val="112000"/>
              </a:lnSpc>
              <a:buNone/>
            </a:pPr>
            <a:r>
              <a:rPr lang="en-US" sz="1300" dirty="0">
                <a:solidFill>
                  <a:srgbClr val="E8E8F0"/>
                </a:solidFill>
                <a:latin typeface="Courier New" pitchFamily="34" charset="0"/>
                <a:ea typeface="Courier New" pitchFamily="34" charset="-122"/>
                <a:cs typeface="Courier New" pitchFamily="34" charset="-120"/>
              </a:rPr>
              <a:t> Presiona CTRL+C para detener el servidor</a:t>
            </a:r>
            <a:endParaRPr lang="en-US" sz="1300" dirty="0"/>
          </a:p>
        </p:txBody>
      </p:sp>
      <p:sp>
        <p:nvSpPr>
          <p:cNvPr id="8" name="Text 6"/>
          <p:cNvSpPr/>
          <p:nvPr/>
        </p:nvSpPr>
        <p:spPr>
          <a:xfrm>
            <a:off x="548640" y="3154680"/>
            <a:ext cx="1106424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Abre tu navegador en http://127.0.0.1:5000 y ejecuta estas pruebas:</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611880"/>
          <a:ext cx="11064240" cy="2651760"/>
        </p:xfrm>
        <a:graphic>
          <a:graphicData uri="http://schemas.openxmlformats.org/drawingml/2006/table">
            <a:tbl>
              <a:tblPr/>
              <a:tblGrid>
                <a:gridCol w="246888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530352">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Prueba</a:t>
                      </a:r>
                      <a:endParaRPr lang="en-US" sz="12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1E2761"/>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Qué hacer</a:t>
                      </a:r>
                      <a:endParaRPr lang="en-US" sz="12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1E2761"/>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Resultado esperado</a:t>
                      </a:r>
                      <a:endParaRPr lang="en-US" sz="12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30352">
                <a:tc>
                  <a:txBody>
                    <a:bodyPr/>
                    <a:lstStyle/>
                    <a:p>
                      <a:pPr marL="0" indent="0">
                        <a:buNone/>
                      </a:pPr>
                      <a:r>
                        <a:rPr lang="en-US" sz="1150" b="1" dirty="0">
                          <a:solidFill>
                            <a:srgbClr val="2B2B33"/>
                          </a:solidFill>
                          <a:latin typeface="Calibri" pitchFamily="34" charset="0"/>
                          <a:ea typeface="Calibri" pitchFamily="34" charset="-122"/>
                          <a:cs typeface="Calibri" pitchFamily="34" charset="-120"/>
                        </a:rPr>
                        <a:t>Registro exitoso</a:t>
                      </a:r>
                      <a:endParaRPr lang="en-US" sz="11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tc>
                  <a:txBody>
                    <a:bodyPr/>
                    <a:lstStyle/>
                    <a:p>
                      <a:pPr marL="0" indent="0">
                        <a:buNone/>
                      </a:pPr>
                      <a:r>
                        <a:rPr lang="en-US" sz="1150" dirty="0">
                          <a:solidFill>
                            <a:srgbClr val="2B2B33"/>
                          </a:solidFill>
                          <a:latin typeface="Calibri" pitchFamily="34" charset="0"/>
                          <a:ea typeface="Calibri" pitchFamily="34" charset="-122"/>
                          <a:cs typeface="Calibri" pitchFamily="34" charset="-120"/>
                        </a:rPr>
                        <a:t>Llenar los campos y enviar</a:t>
                      </a:r>
                      <a:endParaRPr lang="en-US" sz="11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tc>
                  <a:txBody>
                    <a:bodyPr/>
                    <a:lstStyle/>
                    <a:p>
                      <a:pPr marL="0" indent="0">
                        <a:buNone/>
                      </a:pPr>
                      <a:r>
                        <a:rPr lang="en-US" sz="1150" dirty="0">
                          <a:solidFill>
                            <a:srgbClr val="2B2B33"/>
                          </a:solidFill>
                          <a:latin typeface="Calibri" pitchFamily="34" charset="0"/>
                          <a:ea typeface="Calibri" pitchFamily="34" charset="-122"/>
                          <a:cs typeface="Calibri" pitchFamily="34" charset="-120"/>
                        </a:rPr>
                        <a:t>Se muestra el perfil con los datos correctos</a:t>
                      </a:r>
                      <a:endParaRPr lang="en-US" sz="11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en-US" sz="1150" b="1" dirty="0">
                          <a:solidFill>
                            <a:srgbClr val="2B2B33"/>
                          </a:solidFill>
                          <a:latin typeface="Calibri" pitchFamily="34" charset="0"/>
                          <a:ea typeface="Calibri" pitchFamily="34" charset="-122"/>
                          <a:cs typeface="Calibri" pitchFamily="34" charset="-120"/>
                        </a:rPr>
                        <a:t>Campo vacío</a:t>
                      </a:r>
                      <a:endParaRPr lang="en-US" sz="11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EDF0FA"/>
                    </a:solidFill>
                  </a:tcPr>
                </a:tc>
                <a:tc>
                  <a:txBody>
                    <a:bodyPr/>
                    <a:lstStyle/>
                    <a:p>
                      <a:pPr marL="0" indent="0">
                        <a:buNone/>
                      </a:pPr>
                      <a:r>
                        <a:rPr lang="en-US" sz="1150" dirty="0">
                          <a:solidFill>
                            <a:srgbClr val="2B2B33"/>
                          </a:solidFill>
                          <a:latin typeface="Calibri" pitchFamily="34" charset="0"/>
                          <a:ea typeface="Calibri" pitchFamily="34" charset="-122"/>
                          <a:cs typeface="Calibri" pitchFamily="34" charset="-120"/>
                        </a:rPr>
                        <a:t>Dejar "Nombre" vacío y enviar</a:t>
                      </a:r>
                      <a:endParaRPr lang="en-US" sz="11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EDF0FA"/>
                    </a:solidFill>
                  </a:tcPr>
                </a:tc>
                <a:tc>
                  <a:txBody>
                    <a:bodyPr/>
                    <a:lstStyle/>
                    <a:p>
                      <a:pPr marL="0" indent="0">
                        <a:buNone/>
                      </a:pPr>
                      <a:r>
                        <a:rPr lang="en-US" sz="1150" dirty="0">
                          <a:solidFill>
                            <a:srgbClr val="2B2B33"/>
                          </a:solidFill>
                          <a:latin typeface="Calibri" pitchFamily="34" charset="0"/>
                          <a:ea typeface="Calibri" pitchFamily="34" charset="-122"/>
                          <a:cs typeface="Calibri" pitchFamily="34" charset="-120"/>
                        </a:rPr>
                        <a:t>El navegador impide el envío (required)</a:t>
                      </a:r>
                      <a:endParaRPr lang="en-US" sz="11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EDF0FA"/>
                    </a:solidFill>
                  </a:tcPr>
                </a:tc>
                <a:extLst>
                  <a:ext uri="{0D108BD9-81ED-4DB2-BD59-A6C34878D82A}">
                    <a16:rowId xmlns:a16="http://schemas.microsoft.com/office/drawing/2014/main" val="10002"/>
                  </a:ext>
                </a:extLst>
              </a:tr>
              <a:tr h="530352">
                <a:tc>
                  <a:txBody>
                    <a:bodyPr/>
                    <a:lstStyle/>
                    <a:p>
                      <a:pPr marL="0" indent="0">
                        <a:buNone/>
                      </a:pPr>
                      <a:r>
                        <a:rPr lang="en-US" sz="1150" b="1" dirty="0">
                          <a:solidFill>
                            <a:srgbClr val="2B2B33"/>
                          </a:solidFill>
                          <a:latin typeface="Calibri" pitchFamily="34" charset="0"/>
                          <a:ea typeface="Calibri" pitchFamily="34" charset="-122"/>
                          <a:cs typeface="Calibri" pitchFamily="34" charset="-120"/>
                        </a:rPr>
                        <a:t>Correo inválido</a:t>
                      </a:r>
                      <a:endParaRPr lang="en-US" sz="11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tc>
                  <a:txBody>
                    <a:bodyPr/>
                    <a:lstStyle/>
                    <a:p>
                      <a:pPr marL="0" indent="0">
                        <a:buNone/>
                      </a:pPr>
                      <a:r>
                        <a:rPr lang="en-US" sz="1150" dirty="0">
                          <a:solidFill>
                            <a:srgbClr val="2B2B33"/>
                          </a:solidFill>
                          <a:latin typeface="Calibri" pitchFamily="34" charset="0"/>
                          <a:ea typeface="Calibri" pitchFamily="34" charset="-122"/>
                          <a:cs typeface="Calibri" pitchFamily="34" charset="-120"/>
                        </a:rPr>
                        <a:t>Escribir texto sin "@"</a:t>
                      </a:r>
                      <a:endParaRPr lang="en-US" sz="11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tc>
                  <a:txBody>
                    <a:bodyPr/>
                    <a:lstStyle/>
                    <a:p>
                      <a:pPr marL="0" indent="0">
                        <a:buNone/>
                      </a:pPr>
                      <a:r>
                        <a:rPr lang="en-US" sz="1150" dirty="0">
                          <a:solidFill>
                            <a:srgbClr val="2B2B33"/>
                          </a:solidFill>
                          <a:latin typeface="Calibri" pitchFamily="34" charset="0"/>
                          <a:ea typeface="Calibri" pitchFamily="34" charset="-122"/>
                          <a:cs typeface="Calibri" pitchFamily="34" charset="-120"/>
                        </a:rPr>
                        <a:t>Aviso de formato inválido (type="email")</a:t>
                      </a:r>
                      <a:endParaRPr lang="en-US" sz="11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en-US" sz="1150" b="1" dirty="0">
                          <a:solidFill>
                            <a:srgbClr val="2B2B33"/>
                          </a:solidFill>
                          <a:latin typeface="Calibri" pitchFamily="34" charset="0"/>
                          <a:ea typeface="Calibri" pitchFamily="34" charset="-122"/>
                          <a:cs typeface="Calibri" pitchFamily="34" charset="-120"/>
                        </a:rPr>
                        <a:t>Volver al inicio</a:t>
                      </a:r>
                      <a:endParaRPr lang="en-US" sz="11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EDF0FA"/>
                    </a:solidFill>
                  </a:tcPr>
                </a:tc>
                <a:tc>
                  <a:txBody>
                    <a:bodyPr/>
                    <a:lstStyle/>
                    <a:p>
                      <a:pPr marL="0" indent="0">
                        <a:buNone/>
                      </a:pPr>
                      <a:r>
                        <a:rPr lang="en-US" sz="1150" dirty="0">
                          <a:solidFill>
                            <a:srgbClr val="2B2B33"/>
                          </a:solidFill>
                          <a:latin typeface="Calibri" pitchFamily="34" charset="0"/>
                          <a:ea typeface="Calibri" pitchFamily="34" charset="-122"/>
                          <a:cs typeface="Calibri" pitchFamily="34" charset="-120"/>
                        </a:rPr>
                        <a:t>Clic en el enlace de regreso</a:t>
                      </a:r>
                      <a:endParaRPr lang="en-US" sz="11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EDF0FA"/>
                    </a:solidFill>
                  </a:tcPr>
                </a:tc>
                <a:tc>
                  <a:txBody>
                    <a:bodyPr/>
                    <a:lstStyle/>
                    <a:p>
                      <a:pPr marL="0" indent="0">
                        <a:buNone/>
                      </a:pPr>
                      <a:r>
                        <a:rPr lang="en-US" sz="1150" dirty="0">
                          <a:solidFill>
                            <a:srgbClr val="2B2B33"/>
                          </a:solidFill>
                          <a:latin typeface="Calibri" pitchFamily="34" charset="0"/>
                          <a:ea typeface="Calibri" pitchFamily="34" charset="-122"/>
                          <a:cs typeface="Calibri" pitchFamily="34" charset="-120"/>
                        </a:rPr>
                        <a:t>Se muestra el formulario, vacío</a:t>
                      </a:r>
                      <a:endParaRPr lang="en-US" sz="11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EDF0FA"/>
                    </a:solidFill>
                  </a:tcPr>
                </a:tc>
                <a:extLst>
                  <a:ext uri="{0D108BD9-81ED-4DB2-BD59-A6C34878D82A}">
                    <a16:rowId xmlns:a16="http://schemas.microsoft.com/office/drawing/2014/main" val="10004"/>
                  </a:ext>
                </a:extLst>
              </a:tr>
            </a:tbl>
          </a:graphicData>
        </a:graphic>
      </p:graphicFrame>
      <p:sp>
        <p:nvSpPr>
          <p:cNvPr id="10" name="Text 7"/>
          <p:cNvSpPr/>
          <p:nvPr/>
        </p:nvSpPr>
        <p:spPr>
          <a:xfrm>
            <a:off x="548640" y="6537960"/>
            <a:ext cx="7315200" cy="274320"/>
          </a:xfrm>
          <a:prstGeom prst="rect">
            <a:avLst/>
          </a:prstGeom>
          <a:noFill/>
          <a:ln/>
        </p:spPr>
        <p:txBody>
          <a:bodyPr wrap="square" rtlCol="0" anchor="ctr"/>
          <a:lstStyle/>
          <a:p>
            <a:pPr marL="0" indent="0">
              <a:buNone/>
            </a:pPr>
            <a:r>
              <a:rPr lang="en-US" sz="1000" dirty="0">
                <a:solidFill>
                  <a:srgbClr val="9AA0B4"/>
                </a:solidFill>
                <a:latin typeface="Calibri" pitchFamily="34" charset="0"/>
                <a:ea typeface="Calibri" pitchFamily="34" charset="-122"/>
                <a:cs typeface="Calibri" pitchFamily="34" charset="-120"/>
              </a:rPr>
              <a:t>Práctica 4 · Aplicación web básica · IAD-2413 · ITD</a:t>
            </a:r>
            <a:endParaRPr lang="en-US" sz="1000" dirty="0"/>
          </a:p>
        </p:txBody>
      </p:sp>
      <p:sp>
        <p:nvSpPr>
          <p:cNvPr id="11" name="Text 8"/>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9AA0B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Solución de problemas comunes</a:t>
            </a:r>
            <a:endParaRPr lang="en-US" sz="28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Los errores más frecuentes al hacer esta práctica, y cómo resolverlos</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4846320"/>
        </p:xfrm>
        <a:graphic>
          <a:graphicData uri="http://schemas.openxmlformats.org/drawingml/2006/table">
            <a:tbl>
              <a:tblPr/>
              <a:tblGrid>
                <a:gridCol w="402336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80772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Error / síntoma</a:t>
                      </a:r>
                      <a:endParaRPr lang="en-US" sz="120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Causa probable</a:t>
                      </a:r>
                      <a:endParaRPr lang="en-US" sz="120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Solución</a:t>
                      </a:r>
                      <a:endParaRPr lang="en-US" sz="120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807720">
                <a:tc>
                  <a:txBody>
                    <a:bodyPr/>
                    <a:lstStyle/>
                    <a:p>
                      <a:pPr marL="0" indent="0">
                        <a:buNone/>
                      </a:pPr>
                      <a:r>
                        <a:rPr lang="en-US" sz="1050" dirty="0">
                          <a:solidFill>
                            <a:srgbClr val="2B2B33"/>
                          </a:solidFill>
                          <a:latin typeface="Courier New" pitchFamily="34" charset="0"/>
                          <a:ea typeface="Courier New" pitchFamily="34" charset="-122"/>
                          <a:cs typeface="Courier New" pitchFamily="34" charset="-120"/>
                        </a:rPr>
                        <a:t>ModuleNotFoundError: No module named 'flask'</a:t>
                      </a:r>
                      <a:endParaRPr lang="en-US" sz="1050" dirty="0">
                        <a:latin typeface="Courier New" charset="0"/>
                        <a:ea typeface="Courier New" charset="0"/>
                        <a:cs typeface="Courier New"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tc>
                  <a:txBody>
                    <a:bodyPr/>
                    <a:lstStyle/>
                    <a:p>
                      <a:pPr marL="0" indent="0">
                        <a:buNone/>
                      </a:pPr>
                      <a:r>
                        <a:rPr lang="en-US" sz="1050" dirty="0">
                          <a:solidFill>
                            <a:srgbClr val="2B2B33"/>
                          </a:solidFill>
                          <a:latin typeface="Calibri" pitchFamily="34" charset="0"/>
                          <a:ea typeface="Calibri" pitchFamily="34" charset="-122"/>
                          <a:cs typeface="Calibri" pitchFamily="34" charset="-120"/>
                        </a:rPr>
                        <a:t>El entorno virtual no está activo</a:t>
                      </a:r>
                      <a:endParaRPr lang="en-US" sz="10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tc>
                  <a:txBody>
                    <a:bodyPr/>
                    <a:lstStyle/>
                    <a:p>
                      <a:pPr marL="0" indent="0">
                        <a:buNone/>
                      </a:pPr>
                      <a:r>
                        <a:rPr lang="en-US" sz="1050" dirty="0">
                          <a:solidFill>
                            <a:srgbClr val="2B2B33"/>
                          </a:solidFill>
                          <a:latin typeface="Calibri" pitchFamily="34" charset="0"/>
                          <a:ea typeface="Calibri" pitchFamily="34" charset="-122"/>
                          <a:cs typeface="Calibri" pitchFamily="34" charset="-120"/>
                        </a:rPr>
                        <a:t>Activa (venv) y reinstala Flask</a:t>
                      </a:r>
                      <a:endParaRPr lang="en-US" sz="10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07720">
                <a:tc>
                  <a:txBody>
                    <a:bodyPr/>
                    <a:lstStyle/>
                    <a:p>
                      <a:pPr marL="0" indent="0">
                        <a:buNone/>
                      </a:pPr>
                      <a:r>
                        <a:rPr lang="en-US" sz="1050" dirty="0">
                          <a:solidFill>
                            <a:srgbClr val="2B2B33"/>
                          </a:solidFill>
                          <a:latin typeface="Courier New" pitchFamily="34" charset="0"/>
                          <a:ea typeface="Courier New" pitchFamily="34" charset="-122"/>
                          <a:cs typeface="Courier New" pitchFamily="34" charset="-120"/>
                        </a:rPr>
                        <a:t>'python' no se reconoce como comando</a:t>
                      </a:r>
                      <a:endParaRPr lang="en-US" sz="1050" dirty="0">
                        <a:latin typeface="Courier New" charset="0"/>
                        <a:ea typeface="Courier New" charset="0"/>
                        <a:cs typeface="Courier New"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EDF0FA"/>
                    </a:solidFill>
                  </a:tcPr>
                </a:tc>
                <a:tc>
                  <a:txBody>
                    <a:bodyPr/>
                    <a:lstStyle/>
                    <a:p>
                      <a:pPr marL="0" indent="0">
                        <a:buNone/>
                      </a:pPr>
                      <a:r>
                        <a:rPr lang="en-US" sz="1050" dirty="0">
                          <a:solidFill>
                            <a:srgbClr val="2B2B33"/>
                          </a:solidFill>
                          <a:latin typeface="Calibri" pitchFamily="34" charset="0"/>
                          <a:ea typeface="Calibri" pitchFamily="34" charset="-122"/>
                          <a:cs typeface="Calibri" pitchFamily="34" charset="-120"/>
                        </a:rPr>
                        <a:t>Python no quedó en el PATH</a:t>
                      </a:r>
                      <a:endParaRPr lang="en-US" sz="10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EDF0FA"/>
                    </a:solidFill>
                  </a:tcPr>
                </a:tc>
                <a:tc>
                  <a:txBody>
                    <a:bodyPr/>
                    <a:lstStyle/>
                    <a:p>
                      <a:pPr marL="0" indent="0">
                        <a:buNone/>
                      </a:pPr>
                      <a:r>
                        <a:rPr lang="en-US" sz="1050" dirty="0">
                          <a:solidFill>
                            <a:srgbClr val="2B2B33"/>
                          </a:solidFill>
                          <a:latin typeface="Calibri" pitchFamily="34" charset="0"/>
                          <a:ea typeface="Calibri" pitchFamily="34" charset="-122"/>
                          <a:cs typeface="Calibri" pitchFamily="34" charset="-120"/>
                        </a:rPr>
                        <a:t>Reinstalar marcando "Add to PATH", o usar 'py'</a:t>
                      </a:r>
                      <a:endParaRPr lang="en-US" sz="10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EDF0FA"/>
                    </a:solidFill>
                  </a:tcPr>
                </a:tc>
                <a:extLst>
                  <a:ext uri="{0D108BD9-81ED-4DB2-BD59-A6C34878D82A}">
                    <a16:rowId xmlns:a16="http://schemas.microsoft.com/office/drawing/2014/main" val="10002"/>
                  </a:ext>
                </a:extLst>
              </a:tr>
              <a:tr h="807720">
                <a:tc>
                  <a:txBody>
                    <a:bodyPr/>
                    <a:lstStyle/>
                    <a:p>
                      <a:pPr marL="0" indent="0">
                        <a:buNone/>
                      </a:pPr>
                      <a:r>
                        <a:rPr lang="en-US" sz="1050" dirty="0">
                          <a:solidFill>
                            <a:srgbClr val="2B2B33"/>
                          </a:solidFill>
                          <a:latin typeface="Courier New" pitchFamily="34" charset="0"/>
                          <a:ea typeface="Courier New" pitchFamily="34" charset="-122"/>
                          <a:cs typeface="Courier New" pitchFamily="34" charset="-120"/>
                        </a:rPr>
                        <a:t>La página no carga en el navegador</a:t>
                      </a:r>
                      <a:endParaRPr lang="en-US" sz="1050" dirty="0">
                        <a:latin typeface="Courier New" charset="0"/>
                        <a:ea typeface="Courier New" charset="0"/>
                        <a:cs typeface="Courier New"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tc>
                  <a:txBody>
                    <a:bodyPr/>
                    <a:lstStyle/>
                    <a:p>
                      <a:pPr marL="0" indent="0">
                        <a:buNone/>
                      </a:pPr>
                      <a:r>
                        <a:rPr lang="en-US" sz="1050" dirty="0">
                          <a:solidFill>
                            <a:srgbClr val="2B2B33"/>
                          </a:solidFill>
                          <a:latin typeface="Calibri" pitchFamily="34" charset="0"/>
                          <a:ea typeface="Calibri" pitchFamily="34" charset="-122"/>
                          <a:cs typeface="Calibri" pitchFamily="34" charset="-120"/>
                        </a:rPr>
                        <a:t>El servidor no está corriendo</a:t>
                      </a:r>
                      <a:endParaRPr lang="en-US" sz="10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tc>
                  <a:txBody>
                    <a:bodyPr/>
                    <a:lstStyle/>
                    <a:p>
                      <a:pPr marL="0" indent="0">
                        <a:buNone/>
                      </a:pPr>
                      <a:r>
                        <a:rPr lang="en-US" sz="1050" dirty="0">
                          <a:solidFill>
                            <a:srgbClr val="2B2B33"/>
                          </a:solidFill>
                          <a:latin typeface="Calibri" pitchFamily="34" charset="0"/>
                          <a:ea typeface="Calibri" pitchFamily="34" charset="-122"/>
                          <a:cs typeface="Calibri" pitchFamily="34" charset="-120"/>
                        </a:rPr>
                        <a:t>Verifica "Running on http://127.0.0.1:5000"</a:t>
                      </a:r>
                      <a:endParaRPr lang="en-US" sz="10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07720">
                <a:tc>
                  <a:txBody>
                    <a:bodyPr/>
                    <a:lstStyle/>
                    <a:p>
                      <a:pPr marL="0" indent="0">
                        <a:buNone/>
                      </a:pPr>
                      <a:r>
                        <a:rPr lang="en-US" sz="1050" dirty="0">
                          <a:solidFill>
                            <a:srgbClr val="2B2B33"/>
                          </a:solidFill>
                          <a:latin typeface="Courier New" pitchFamily="34" charset="0"/>
                          <a:ea typeface="Courier New" pitchFamily="34" charset="-122"/>
                          <a:cs typeface="Courier New" pitchFamily="34" charset="-120"/>
                        </a:rPr>
                        <a:t>Address already in use</a:t>
                      </a:r>
                      <a:endParaRPr lang="en-US" sz="1050" dirty="0">
                        <a:latin typeface="Courier New" charset="0"/>
                        <a:ea typeface="Courier New" charset="0"/>
                        <a:cs typeface="Courier New"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EDF0FA"/>
                    </a:solidFill>
                  </a:tcPr>
                </a:tc>
                <a:tc>
                  <a:txBody>
                    <a:bodyPr/>
                    <a:lstStyle/>
                    <a:p>
                      <a:pPr marL="0" indent="0">
                        <a:buNone/>
                      </a:pPr>
                      <a:r>
                        <a:rPr lang="en-US" sz="1050" dirty="0">
                          <a:solidFill>
                            <a:srgbClr val="2B2B33"/>
                          </a:solidFill>
                          <a:latin typeface="Calibri" pitchFamily="34" charset="0"/>
                          <a:ea typeface="Calibri" pitchFamily="34" charset="-122"/>
                          <a:cs typeface="Calibri" pitchFamily="34" charset="-120"/>
                        </a:rPr>
                        <a:t>El puerto 5000 ya está ocupado</a:t>
                      </a:r>
                      <a:endParaRPr lang="en-US" sz="10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EDF0FA"/>
                    </a:solidFill>
                  </a:tcPr>
                </a:tc>
                <a:tc>
                  <a:txBody>
                    <a:bodyPr/>
                    <a:lstStyle/>
                    <a:p>
                      <a:pPr marL="0" indent="0">
                        <a:buNone/>
                      </a:pPr>
                      <a:r>
                        <a:rPr lang="en-US" sz="1050" dirty="0">
                          <a:solidFill>
                            <a:srgbClr val="2B2B33"/>
                          </a:solidFill>
                          <a:latin typeface="Calibri" pitchFamily="34" charset="0"/>
                          <a:ea typeface="Calibri" pitchFamily="34" charset="-122"/>
                          <a:cs typeface="Calibri" pitchFamily="34" charset="-120"/>
                        </a:rPr>
                        <a:t>Cierra la otra instancia o usa port=5001</a:t>
                      </a:r>
                      <a:endParaRPr lang="en-US" sz="10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EDF0FA"/>
                    </a:solidFill>
                  </a:tcPr>
                </a:tc>
                <a:extLst>
                  <a:ext uri="{0D108BD9-81ED-4DB2-BD59-A6C34878D82A}">
                    <a16:rowId xmlns:a16="http://schemas.microsoft.com/office/drawing/2014/main" val="10004"/>
                  </a:ext>
                </a:extLst>
              </a:tr>
              <a:tr h="807720">
                <a:tc>
                  <a:txBody>
                    <a:bodyPr/>
                    <a:lstStyle/>
                    <a:p>
                      <a:pPr marL="0" indent="0">
                        <a:buNone/>
                      </a:pPr>
                      <a:r>
                        <a:rPr lang="en-US" sz="1050" dirty="0">
                          <a:solidFill>
                            <a:srgbClr val="2B2B33"/>
                          </a:solidFill>
                          <a:latin typeface="Courier New" pitchFamily="34" charset="0"/>
                          <a:ea typeface="Courier New" pitchFamily="34" charset="-122"/>
                          <a:cs typeface="Courier New" pitchFamily="34" charset="-120"/>
                        </a:rPr>
                        <a:t>Los estilos CSS no se aplican</a:t>
                      </a:r>
                      <a:endParaRPr lang="en-US" sz="1050" dirty="0">
                        <a:latin typeface="Courier New" charset="0"/>
                        <a:ea typeface="Courier New" charset="0"/>
                        <a:cs typeface="Courier New"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tc>
                  <a:txBody>
                    <a:bodyPr/>
                    <a:lstStyle/>
                    <a:p>
                      <a:pPr marL="0" indent="0">
                        <a:buNone/>
                      </a:pPr>
                      <a:r>
                        <a:rPr lang="en-US" sz="1050" dirty="0">
                          <a:solidFill>
                            <a:srgbClr val="2B2B33"/>
                          </a:solidFill>
                          <a:latin typeface="Calibri" pitchFamily="34" charset="0"/>
                          <a:ea typeface="Calibri" pitchFamily="34" charset="-122"/>
                          <a:cs typeface="Calibri" pitchFamily="34" charset="-120"/>
                        </a:rPr>
                        <a:t>Ruta del &lt;link&gt; mal escrita</a:t>
                      </a:r>
                      <a:endParaRPr lang="en-US" sz="10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tc>
                  <a:txBody>
                    <a:bodyPr/>
                    <a:lstStyle/>
                    <a:p>
                      <a:pPr marL="0" indent="0">
                        <a:buNone/>
                      </a:pPr>
                      <a:r>
                        <a:rPr lang="en-US" sz="1050" dirty="0">
                          <a:solidFill>
                            <a:srgbClr val="2B2B33"/>
                          </a:solidFill>
                          <a:latin typeface="Calibri" pitchFamily="34" charset="0"/>
                          <a:ea typeface="Calibri" pitchFamily="34" charset="-122"/>
                          <a:cs typeface="Calibri" pitchFamily="34" charset="-120"/>
                        </a:rPr>
                        <a:t>Usa url_for('static', filename=...)</a:t>
                      </a:r>
                      <a:endParaRPr lang="en-US" sz="1050" dirty="0">
                        <a:latin typeface="Calibri" charset="0"/>
                        <a:ea typeface="Calibri" charset="0"/>
                        <a:cs typeface="Calibri" charset="0"/>
                      </a:endParaRPr>
                    </a:p>
                  </a:txBody>
                  <a:tcPr anchor="ctr">
                    <a:lnL w="12700" cap="flat" cmpd="sng" algn="ctr">
                      <a:solidFill>
                        <a:srgbClr val="DDE1EF"/>
                      </a:solidFill>
                      <a:prstDash val="solid"/>
                      <a:round/>
                      <a:headEnd type="none" w="med" len="med"/>
                      <a:tailEnd type="none" w="med" len="med"/>
                    </a:lnL>
                    <a:lnR w="12700" cap="flat" cmpd="sng" algn="ctr">
                      <a:solidFill>
                        <a:srgbClr val="DDE1EF"/>
                      </a:solidFill>
                      <a:prstDash val="solid"/>
                      <a:round/>
                      <a:headEnd type="none" w="med" len="med"/>
                      <a:tailEnd type="none" w="med" len="med"/>
                    </a:lnR>
                    <a:lnT w="12700" cap="flat" cmpd="sng" algn="ctr">
                      <a:solidFill>
                        <a:srgbClr val="DDE1EF"/>
                      </a:solidFill>
                      <a:prstDash val="solid"/>
                      <a:round/>
                      <a:headEnd type="none" w="med" len="med"/>
                      <a:tailEnd type="none" w="med" len="med"/>
                    </a:lnT>
                    <a:lnB w="12700" cap="flat" cmpd="sng" algn="ctr">
                      <a:solidFill>
                        <a:srgbClr val="DDE1E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548640" y="6537960"/>
            <a:ext cx="7315200" cy="274320"/>
          </a:xfrm>
          <a:prstGeom prst="rect">
            <a:avLst/>
          </a:prstGeom>
          <a:noFill/>
          <a:ln/>
        </p:spPr>
        <p:txBody>
          <a:bodyPr wrap="square" rtlCol="0" anchor="ctr"/>
          <a:lstStyle/>
          <a:p>
            <a:pPr marL="0" indent="0">
              <a:buNone/>
            </a:pPr>
            <a:r>
              <a:rPr lang="en-US" sz="1000" dirty="0">
                <a:solidFill>
                  <a:srgbClr val="9AA0B4"/>
                </a:solidFill>
                <a:latin typeface="Calibri" pitchFamily="34" charset="0"/>
                <a:ea typeface="Calibri" pitchFamily="34" charset="-122"/>
                <a:cs typeface="Calibri" pitchFamily="34" charset="-120"/>
              </a:rPr>
              <a:t>Práctica 4 · Aplicación web básica · IAD-2413 · ITD</a:t>
            </a:r>
            <a:endParaRPr lang="en-US" sz="1000" dirty="0"/>
          </a:p>
        </p:txBody>
      </p:sp>
      <p:sp>
        <p:nvSpPr>
          <p:cNvPr id="6" name="Text 3"/>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9AA0B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Actividades opcionales</a:t>
            </a:r>
            <a:endParaRPr lang="en-US" sz="28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Para quienes quieran ir más allá del mínimo de la práctica</a:t>
            </a:r>
            <a:endParaRPr lang="en-US" sz="1400" dirty="0"/>
          </a:p>
        </p:txBody>
      </p:sp>
      <p:sp>
        <p:nvSpPr>
          <p:cNvPr id="4" name="Shape 2"/>
          <p:cNvSpPr/>
          <p:nvPr/>
        </p:nvSpPr>
        <p:spPr>
          <a:xfrm>
            <a:off x="548640" y="1463040"/>
            <a:ext cx="3611880" cy="3840480"/>
          </a:xfrm>
          <a:prstGeom prst="roundRect">
            <a:avLst>
              <a:gd name="adj" fmla="val 2025"/>
            </a:avLst>
          </a:prstGeom>
          <a:solidFill>
            <a:srgbClr val="FFFFFF"/>
          </a:solidFill>
          <a:ln w="12700">
            <a:solidFill>
              <a:srgbClr val="DDE1EF"/>
            </a:solidFill>
            <a:prstDash val="solid"/>
          </a:ln>
          <a:effectLst>
            <a:outerShdw blurRad="76200" dist="25400" dir="5400000" algn="bl" rotWithShape="0">
              <a:srgbClr val="5B6494">
                <a:alpha val="18000"/>
              </a:srgbClr>
            </a:outerShdw>
          </a:effectLst>
        </p:spPr>
        <p:txBody>
          <a:bodyPr/>
          <a:lstStyle/>
          <a:p>
            <a:endParaRPr lang="es-MX"/>
          </a:p>
        </p:txBody>
      </p:sp>
      <p:sp>
        <p:nvSpPr>
          <p:cNvPr id="5" name="Shape 3"/>
          <p:cNvSpPr/>
          <p:nvPr/>
        </p:nvSpPr>
        <p:spPr>
          <a:xfrm>
            <a:off x="777240" y="1691640"/>
            <a:ext cx="3154680" cy="548640"/>
          </a:xfrm>
          <a:prstGeom prst="roundRect">
            <a:avLst>
              <a:gd name="adj" fmla="val 10000"/>
            </a:avLst>
          </a:prstGeom>
          <a:solidFill>
            <a:srgbClr val="3776AB"/>
          </a:solidFill>
          <a:ln/>
        </p:spPr>
        <p:txBody>
          <a:bodyPr/>
          <a:lstStyle/>
          <a:p>
            <a:endParaRPr lang="es-MX"/>
          </a:p>
        </p:txBody>
      </p:sp>
      <p:sp>
        <p:nvSpPr>
          <p:cNvPr id="6" name="Text 4"/>
          <p:cNvSpPr/>
          <p:nvPr/>
        </p:nvSpPr>
        <p:spPr>
          <a:xfrm>
            <a:off x="777240" y="1691640"/>
            <a:ext cx="3154680" cy="54864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Diseño responsivo</a:t>
            </a:r>
            <a:endParaRPr lang="en-US" sz="1400" dirty="0"/>
          </a:p>
        </p:txBody>
      </p:sp>
      <p:sp>
        <p:nvSpPr>
          <p:cNvPr id="7" name="Text 5"/>
          <p:cNvSpPr/>
          <p:nvPr/>
        </p:nvSpPr>
        <p:spPr>
          <a:xfrm>
            <a:off x="822960" y="2423160"/>
            <a:ext cx="3063240" cy="2651760"/>
          </a:xfrm>
          <a:prstGeom prst="rect">
            <a:avLst/>
          </a:prstGeom>
          <a:noFill/>
          <a:ln/>
        </p:spPr>
        <p:txBody>
          <a:bodyPr wrap="square" rtlCol="0" anchor="t"/>
          <a:lstStyle/>
          <a:p>
            <a:pPr marL="0" indent="0">
              <a:buNone/>
            </a:pPr>
            <a:r>
              <a:rPr lang="en-US" sz="1200" dirty="0">
                <a:solidFill>
                  <a:srgbClr val="4A4A55"/>
                </a:solidFill>
                <a:latin typeface="Calibri" pitchFamily="34" charset="0"/>
                <a:ea typeface="Calibri" pitchFamily="34" charset="-122"/>
                <a:cs typeface="Calibri" pitchFamily="34" charset="-120"/>
              </a:rPr>
              <a:t>Agregar una @media query en el CSS para que la tarjeta se vea bien en pantallas de celular. Probar con las herramientas de desarrollador (F12 → modo dispositivo móvil).</a:t>
            </a:r>
            <a:endParaRPr lang="en-US" sz="1200" dirty="0"/>
          </a:p>
        </p:txBody>
      </p:sp>
      <p:sp>
        <p:nvSpPr>
          <p:cNvPr id="8" name="Shape 6"/>
          <p:cNvSpPr/>
          <p:nvPr/>
        </p:nvSpPr>
        <p:spPr>
          <a:xfrm>
            <a:off x="4389120" y="1463040"/>
            <a:ext cx="3611880" cy="3840480"/>
          </a:xfrm>
          <a:prstGeom prst="roundRect">
            <a:avLst>
              <a:gd name="adj" fmla="val 2025"/>
            </a:avLst>
          </a:prstGeom>
          <a:solidFill>
            <a:srgbClr val="FFFFFF"/>
          </a:solidFill>
          <a:ln w="12700">
            <a:solidFill>
              <a:srgbClr val="DDE1EF"/>
            </a:solidFill>
            <a:prstDash val="solid"/>
          </a:ln>
          <a:effectLst>
            <a:outerShdw blurRad="76200" dist="25400" dir="5400000" algn="bl" rotWithShape="0">
              <a:srgbClr val="5B6494">
                <a:alpha val="18000"/>
              </a:srgbClr>
            </a:outerShdw>
          </a:effectLst>
        </p:spPr>
        <p:txBody>
          <a:bodyPr/>
          <a:lstStyle/>
          <a:p>
            <a:endParaRPr lang="es-MX"/>
          </a:p>
        </p:txBody>
      </p:sp>
      <p:sp>
        <p:nvSpPr>
          <p:cNvPr id="9" name="Shape 7"/>
          <p:cNvSpPr/>
          <p:nvPr/>
        </p:nvSpPr>
        <p:spPr>
          <a:xfrm>
            <a:off x="4617720" y="1691640"/>
            <a:ext cx="3154680" cy="548640"/>
          </a:xfrm>
          <a:prstGeom prst="roundRect">
            <a:avLst>
              <a:gd name="adj" fmla="val 10000"/>
            </a:avLst>
          </a:prstGeom>
          <a:solidFill>
            <a:srgbClr val="9B4F96"/>
          </a:solidFill>
          <a:ln/>
        </p:spPr>
        <p:txBody>
          <a:bodyPr/>
          <a:lstStyle/>
          <a:p>
            <a:endParaRPr lang="es-MX"/>
          </a:p>
        </p:txBody>
      </p:sp>
      <p:sp>
        <p:nvSpPr>
          <p:cNvPr id="10" name="Text 8"/>
          <p:cNvSpPr/>
          <p:nvPr/>
        </p:nvSpPr>
        <p:spPr>
          <a:xfrm>
            <a:off x="4617720" y="1691640"/>
            <a:ext cx="3154680" cy="54864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Varios registros</a:t>
            </a:r>
            <a:endParaRPr lang="en-US" sz="1400" dirty="0"/>
          </a:p>
        </p:txBody>
      </p:sp>
      <p:sp>
        <p:nvSpPr>
          <p:cNvPr id="11" name="Text 9"/>
          <p:cNvSpPr/>
          <p:nvPr/>
        </p:nvSpPr>
        <p:spPr>
          <a:xfrm>
            <a:off x="4663440" y="2423160"/>
            <a:ext cx="3063240" cy="2651760"/>
          </a:xfrm>
          <a:prstGeom prst="rect">
            <a:avLst/>
          </a:prstGeom>
          <a:noFill/>
          <a:ln/>
        </p:spPr>
        <p:txBody>
          <a:bodyPr wrap="square" rtlCol="0" anchor="t"/>
          <a:lstStyle/>
          <a:p>
            <a:pPr marL="0" indent="0">
              <a:buNone/>
            </a:pPr>
            <a:r>
              <a:rPr lang="en-US" sz="1200" dirty="0">
                <a:solidFill>
                  <a:srgbClr val="4A4A55"/>
                </a:solidFill>
                <a:latin typeface="Calibri" pitchFamily="34" charset="0"/>
                <a:ea typeface="Calibri" pitchFamily="34" charset="-122"/>
                <a:cs typeface="Calibri" pitchFamily="34" charset="-120"/>
              </a:rPr>
              <a:t>Guardar cada registro en una lista en memoria y crear una ruta /usuarios que los liste con un bucle {% for %} de Jinja2.</a:t>
            </a:r>
            <a:endParaRPr lang="en-US" sz="1200" dirty="0"/>
          </a:p>
        </p:txBody>
      </p:sp>
      <p:sp>
        <p:nvSpPr>
          <p:cNvPr id="12" name="Shape 10"/>
          <p:cNvSpPr/>
          <p:nvPr/>
        </p:nvSpPr>
        <p:spPr>
          <a:xfrm>
            <a:off x="8229600" y="1463040"/>
            <a:ext cx="3611880" cy="3840480"/>
          </a:xfrm>
          <a:prstGeom prst="roundRect">
            <a:avLst>
              <a:gd name="adj" fmla="val 2025"/>
            </a:avLst>
          </a:prstGeom>
          <a:solidFill>
            <a:srgbClr val="FFFFFF"/>
          </a:solidFill>
          <a:ln w="12700">
            <a:solidFill>
              <a:srgbClr val="DDE1EF"/>
            </a:solidFill>
            <a:prstDash val="solid"/>
          </a:ln>
          <a:effectLst>
            <a:outerShdw blurRad="76200" dist="25400" dir="5400000" algn="bl" rotWithShape="0">
              <a:srgbClr val="5B6494">
                <a:alpha val="18000"/>
              </a:srgbClr>
            </a:outerShdw>
          </a:effectLst>
        </p:spPr>
        <p:txBody>
          <a:bodyPr/>
          <a:lstStyle/>
          <a:p>
            <a:endParaRPr lang="es-MX"/>
          </a:p>
        </p:txBody>
      </p:sp>
      <p:sp>
        <p:nvSpPr>
          <p:cNvPr id="13" name="Shape 11"/>
          <p:cNvSpPr/>
          <p:nvPr/>
        </p:nvSpPr>
        <p:spPr>
          <a:xfrm>
            <a:off x="8458200" y="1691640"/>
            <a:ext cx="3154680" cy="548640"/>
          </a:xfrm>
          <a:prstGeom prst="roundRect">
            <a:avLst>
              <a:gd name="adj" fmla="val 10000"/>
            </a:avLst>
          </a:prstGeom>
          <a:solidFill>
            <a:srgbClr val="E76F00"/>
          </a:solidFill>
          <a:ln/>
        </p:spPr>
        <p:txBody>
          <a:bodyPr/>
          <a:lstStyle/>
          <a:p>
            <a:endParaRPr lang="es-MX"/>
          </a:p>
        </p:txBody>
      </p:sp>
      <p:sp>
        <p:nvSpPr>
          <p:cNvPr id="14" name="Text 12"/>
          <p:cNvSpPr/>
          <p:nvPr/>
        </p:nvSpPr>
        <p:spPr>
          <a:xfrm>
            <a:off x="8458200" y="1691640"/>
            <a:ext cx="3154680" cy="54864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Empaquetado de escritorio</a:t>
            </a:r>
            <a:endParaRPr lang="en-US" sz="1400" dirty="0"/>
          </a:p>
        </p:txBody>
      </p:sp>
      <p:sp>
        <p:nvSpPr>
          <p:cNvPr id="15" name="Text 13"/>
          <p:cNvSpPr/>
          <p:nvPr/>
        </p:nvSpPr>
        <p:spPr>
          <a:xfrm>
            <a:off x="8503920" y="2423160"/>
            <a:ext cx="3063240" cy="2651760"/>
          </a:xfrm>
          <a:prstGeom prst="rect">
            <a:avLst/>
          </a:prstGeom>
          <a:noFill/>
          <a:ln/>
        </p:spPr>
        <p:txBody>
          <a:bodyPr wrap="square" rtlCol="0" anchor="t"/>
          <a:lstStyle/>
          <a:p>
            <a:pPr marL="0" indent="0">
              <a:buNone/>
            </a:pPr>
            <a:r>
              <a:rPr lang="en-US" sz="1200" dirty="0">
                <a:solidFill>
                  <a:srgbClr val="4A4A55"/>
                </a:solidFill>
                <a:latin typeface="Calibri" pitchFamily="34" charset="0"/>
                <a:ea typeface="Calibri" pitchFamily="34" charset="-122"/>
                <a:cs typeface="Calibri" pitchFamily="34" charset="-120"/>
              </a:rPr>
              <a:t>Investigar cómo Electron (Node.js) puede abrir una ventana de escritorio que cargue http://127.0.0.1:5000 en su interior.</a:t>
            </a:r>
            <a:endParaRPr lang="en-US" sz="1200" dirty="0"/>
          </a:p>
        </p:txBody>
      </p:sp>
      <p:sp>
        <p:nvSpPr>
          <p:cNvPr id="16" name="Text 14"/>
          <p:cNvSpPr/>
          <p:nvPr/>
        </p:nvSpPr>
        <p:spPr>
          <a:xfrm>
            <a:off x="548640" y="6537960"/>
            <a:ext cx="7315200" cy="274320"/>
          </a:xfrm>
          <a:prstGeom prst="rect">
            <a:avLst/>
          </a:prstGeom>
          <a:noFill/>
          <a:ln/>
        </p:spPr>
        <p:txBody>
          <a:bodyPr wrap="square" rtlCol="0" anchor="ctr"/>
          <a:lstStyle/>
          <a:p>
            <a:pPr marL="0" indent="0">
              <a:buNone/>
            </a:pPr>
            <a:r>
              <a:rPr lang="en-US" sz="1000" dirty="0">
                <a:solidFill>
                  <a:srgbClr val="9AA0B4"/>
                </a:solidFill>
                <a:latin typeface="Calibri" pitchFamily="34" charset="0"/>
                <a:ea typeface="Calibri" pitchFamily="34" charset="-122"/>
                <a:cs typeface="Calibri" pitchFamily="34" charset="-120"/>
              </a:rPr>
              <a:t>Práctica 4 · Aplicación web básica · IAD-2413 · ITD</a:t>
            </a:r>
            <a:endParaRPr lang="en-US" sz="1000" dirty="0"/>
          </a:p>
        </p:txBody>
      </p:sp>
      <p:sp>
        <p:nvSpPr>
          <p:cNvPr id="17" name="Text 15"/>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9AA0B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Entregables y checklist final</a:t>
            </a:r>
            <a:endParaRPr lang="en-US" sz="28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Lo que debes tener listo antes de subir tu práctica</a:t>
            </a:r>
            <a:endParaRPr lang="en-US" sz="1400" dirty="0"/>
          </a:p>
        </p:txBody>
      </p:sp>
      <p:sp>
        <p:nvSpPr>
          <p:cNvPr id="4" name="Text 2"/>
          <p:cNvSpPr/>
          <p:nvPr/>
        </p:nvSpPr>
        <p:spPr>
          <a:xfrm>
            <a:off x="548640" y="1371600"/>
            <a:ext cx="5486400" cy="32004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Documentación a entregar</a:t>
            </a:r>
            <a:endParaRPr lang="en-US" sz="1600" dirty="0"/>
          </a:p>
        </p:txBody>
      </p:sp>
      <p:sp>
        <p:nvSpPr>
          <p:cNvPr id="5" name="Text 3"/>
          <p:cNvSpPr/>
          <p:nvPr/>
        </p:nvSpPr>
        <p:spPr>
          <a:xfrm>
            <a:off x="548640" y="1737360"/>
            <a:ext cx="5486400" cy="2743200"/>
          </a:xfrm>
          <a:prstGeom prst="rect">
            <a:avLst/>
          </a:prstGeom>
          <a:noFill/>
          <a:ln/>
        </p:spPr>
        <p:txBody>
          <a:bodyPr wrap="square" rtlCol="0" anchor="t"/>
          <a:lstStyle/>
          <a:p>
            <a:pPr marL="342900" indent="-342900">
              <a:spcAft>
                <a:spcPts val="1000"/>
              </a:spcAft>
              <a:buSzPct val="100000"/>
              <a:buChar char="●"/>
            </a:pPr>
            <a:r>
              <a:rPr lang="en-US" sz="1300" dirty="0">
                <a:solidFill>
                  <a:srgbClr val="2B2B33"/>
                </a:solidFill>
                <a:latin typeface="Calibri" pitchFamily="34" charset="0"/>
                <a:ea typeface="Calibri" pitchFamily="34" charset="-122"/>
                <a:cs typeface="Calibri" pitchFamily="34" charset="-120"/>
              </a:rPr>
              <a:t>Descripción del problema y para quién es la app</a:t>
            </a:r>
            <a:endParaRPr lang="en-US" sz="1300" dirty="0"/>
          </a:p>
          <a:p>
            <a:pPr marL="342900" indent="-342900">
              <a:spcAft>
                <a:spcPts val="1000"/>
              </a:spcAft>
              <a:buSzPct val="100000"/>
              <a:buChar char="●"/>
            </a:pPr>
            <a:r>
              <a:rPr lang="en-US" sz="1300" dirty="0">
                <a:solidFill>
                  <a:srgbClr val="2B2B33"/>
                </a:solidFill>
                <a:latin typeface="Calibri" pitchFamily="34" charset="0"/>
                <a:ea typeface="Calibri" pitchFamily="34" charset="-122"/>
                <a:cs typeface="Calibri" pitchFamily="34" charset="-120"/>
              </a:rPr>
              <a:t>Diseño: estructura de carpetas y por qué</a:t>
            </a:r>
            <a:endParaRPr lang="en-US" sz="1300" dirty="0"/>
          </a:p>
          <a:p>
            <a:pPr marL="342900" indent="-342900">
              <a:spcAft>
                <a:spcPts val="1000"/>
              </a:spcAft>
              <a:buSzPct val="100000"/>
              <a:buChar char="●"/>
            </a:pPr>
            <a:r>
              <a:rPr lang="en-US" sz="1300" dirty="0">
                <a:solidFill>
                  <a:srgbClr val="2B2B33"/>
                </a:solidFill>
                <a:latin typeface="Calibri" pitchFamily="34" charset="0"/>
                <a:ea typeface="Calibri" pitchFamily="34" charset="-122"/>
                <a:cs typeface="Calibri" pitchFamily="34" charset="-120"/>
              </a:rPr>
              <a:t>Implementación: qué hace app.py, formulario.html y perfil.html</a:t>
            </a:r>
            <a:endParaRPr lang="en-US" sz="1300" dirty="0"/>
          </a:p>
          <a:p>
            <a:pPr marL="342900" indent="-342900">
              <a:spcAft>
                <a:spcPts val="1000"/>
              </a:spcAft>
              <a:buSzPct val="100000"/>
              <a:buChar char="●"/>
            </a:pPr>
            <a:r>
              <a:rPr lang="en-US" sz="1300" dirty="0">
                <a:solidFill>
                  <a:srgbClr val="2B2B33"/>
                </a:solidFill>
                <a:latin typeface="Calibri" pitchFamily="34" charset="0"/>
                <a:ea typeface="Calibri" pitchFamily="34" charset="-122"/>
                <a:cs typeface="Calibri" pitchFamily="34" charset="-120"/>
              </a:rPr>
              <a:t>Capturas de pantalla de las pruebas realizadas</a:t>
            </a:r>
            <a:endParaRPr lang="en-US" sz="1300" dirty="0"/>
          </a:p>
          <a:p>
            <a:pPr marL="342900" indent="-342900">
              <a:spcAft>
                <a:spcPts val="1000"/>
              </a:spcAft>
              <a:buSzPct val="100000"/>
              <a:buChar char="●"/>
            </a:pPr>
            <a:r>
              <a:rPr lang="en-US" sz="1300" dirty="0">
                <a:solidFill>
                  <a:srgbClr val="2B2B33"/>
                </a:solidFill>
                <a:latin typeface="Calibri" pitchFamily="34" charset="0"/>
                <a:ea typeface="Calibri" pitchFamily="34" charset="-122"/>
                <a:cs typeface="Calibri" pitchFamily="34" charset="-120"/>
              </a:rPr>
              <a:t>Dificultades encontradas y cómo las resolviste</a:t>
            </a:r>
            <a:endParaRPr lang="en-US" sz="1300" dirty="0"/>
          </a:p>
        </p:txBody>
      </p:sp>
      <p:sp>
        <p:nvSpPr>
          <p:cNvPr id="6" name="Shape 4"/>
          <p:cNvSpPr/>
          <p:nvPr/>
        </p:nvSpPr>
        <p:spPr>
          <a:xfrm>
            <a:off x="6355080" y="1463040"/>
            <a:ext cx="0" cy="4846320"/>
          </a:xfrm>
          <a:prstGeom prst="line">
            <a:avLst/>
          </a:prstGeom>
          <a:noFill/>
          <a:ln w="19050">
            <a:solidFill>
              <a:srgbClr val="DDE1EF"/>
            </a:solidFill>
            <a:prstDash val="solid"/>
          </a:ln>
        </p:spPr>
        <p:txBody>
          <a:bodyPr/>
          <a:lstStyle/>
          <a:p>
            <a:endParaRPr lang="es-MX"/>
          </a:p>
        </p:txBody>
      </p:sp>
      <p:sp>
        <p:nvSpPr>
          <p:cNvPr id="7" name="Text 5"/>
          <p:cNvSpPr/>
          <p:nvPr/>
        </p:nvSpPr>
        <p:spPr>
          <a:xfrm>
            <a:off x="6675120" y="1371600"/>
            <a:ext cx="4937760" cy="32004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Checklist de entrega</a:t>
            </a:r>
            <a:endParaRPr lang="en-US" sz="1600" dirty="0"/>
          </a:p>
        </p:txBody>
      </p:sp>
      <p:sp>
        <p:nvSpPr>
          <p:cNvPr id="8" name="Shape 6"/>
          <p:cNvSpPr/>
          <p:nvPr/>
        </p:nvSpPr>
        <p:spPr>
          <a:xfrm>
            <a:off x="6675120" y="1783080"/>
            <a:ext cx="256032" cy="256032"/>
          </a:xfrm>
          <a:prstGeom prst="roundRect">
            <a:avLst>
              <a:gd name="adj" fmla="val 17857"/>
            </a:avLst>
          </a:prstGeom>
          <a:solidFill>
            <a:srgbClr val="FFFFFF"/>
          </a:solidFill>
          <a:ln w="19050">
            <a:solidFill>
              <a:srgbClr val="1F9D74"/>
            </a:solidFill>
            <a:prstDash val="solid"/>
          </a:ln>
        </p:spPr>
        <p:txBody>
          <a:bodyPr/>
          <a:lstStyle/>
          <a:p>
            <a:endParaRPr lang="es-MX"/>
          </a:p>
        </p:txBody>
      </p:sp>
      <p:sp>
        <p:nvSpPr>
          <p:cNvPr id="9" name="Text 7"/>
          <p:cNvSpPr/>
          <p:nvPr/>
        </p:nvSpPr>
        <p:spPr>
          <a:xfrm>
            <a:off x="7086600" y="1728216"/>
            <a:ext cx="4480560" cy="502920"/>
          </a:xfrm>
          <a:prstGeom prst="rect">
            <a:avLst/>
          </a:prstGeom>
          <a:noFill/>
          <a:ln/>
        </p:spPr>
        <p:txBody>
          <a:bodyPr wrap="square" rtlCol="0" anchor="ctr"/>
          <a:lstStyle/>
          <a:p>
            <a:pPr marL="0" indent="0">
              <a:buNone/>
            </a:pPr>
            <a:r>
              <a:rPr lang="en-US" sz="1250" dirty="0">
                <a:solidFill>
                  <a:srgbClr val="2B2B33"/>
                </a:solidFill>
                <a:latin typeface="Calibri" pitchFamily="34" charset="0"/>
                <a:ea typeface="Calibri" pitchFamily="34" charset="-122"/>
                <a:cs typeface="Calibri" pitchFamily="34" charset="-120"/>
              </a:rPr>
              <a:t>Código fuente completo (app.py, templates/, static/, requirements.txt)</a:t>
            </a:r>
            <a:endParaRPr lang="en-US" sz="1250" dirty="0"/>
          </a:p>
        </p:txBody>
      </p:sp>
      <p:sp>
        <p:nvSpPr>
          <p:cNvPr id="10" name="Shape 8"/>
          <p:cNvSpPr/>
          <p:nvPr/>
        </p:nvSpPr>
        <p:spPr>
          <a:xfrm>
            <a:off x="6675120" y="2468880"/>
            <a:ext cx="256032" cy="256032"/>
          </a:xfrm>
          <a:prstGeom prst="roundRect">
            <a:avLst>
              <a:gd name="adj" fmla="val 17857"/>
            </a:avLst>
          </a:prstGeom>
          <a:solidFill>
            <a:srgbClr val="FFFFFF"/>
          </a:solidFill>
          <a:ln w="19050">
            <a:solidFill>
              <a:srgbClr val="1F9D74"/>
            </a:solidFill>
            <a:prstDash val="solid"/>
          </a:ln>
        </p:spPr>
        <p:txBody>
          <a:bodyPr/>
          <a:lstStyle/>
          <a:p>
            <a:endParaRPr lang="es-MX"/>
          </a:p>
        </p:txBody>
      </p:sp>
      <p:sp>
        <p:nvSpPr>
          <p:cNvPr id="11" name="Text 9"/>
          <p:cNvSpPr/>
          <p:nvPr/>
        </p:nvSpPr>
        <p:spPr>
          <a:xfrm>
            <a:off x="7086600" y="2414016"/>
            <a:ext cx="4480560" cy="502920"/>
          </a:xfrm>
          <a:prstGeom prst="rect">
            <a:avLst/>
          </a:prstGeom>
          <a:noFill/>
          <a:ln/>
        </p:spPr>
        <p:txBody>
          <a:bodyPr wrap="square" rtlCol="0" anchor="ctr"/>
          <a:lstStyle/>
          <a:p>
            <a:pPr marL="0" indent="0">
              <a:buNone/>
            </a:pPr>
            <a:r>
              <a:rPr lang="en-US" sz="1250" dirty="0">
                <a:solidFill>
                  <a:srgbClr val="2B2B33"/>
                </a:solidFill>
                <a:latin typeface="Calibri" pitchFamily="34" charset="0"/>
                <a:ea typeface="Calibri" pitchFamily="34" charset="-122"/>
                <a:cs typeface="Calibri" pitchFamily="34" charset="-120"/>
              </a:rPr>
              <a:t>La aplicación corre sin errores con python app.py</a:t>
            </a:r>
            <a:endParaRPr lang="en-US" sz="1250" dirty="0"/>
          </a:p>
        </p:txBody>
      </p:sp>
      <p:sp>
        <p:nvSpPr>
          <p:cNvPr id="12" name="Shape 10"/>
          <p:cNvSpPr/>
          <p:nvPr/>
        </p:nvSpPr>
        <p:spPr>
          <a:xfrm>
            <a:off x="6675120" y="3154680"/>
            <a:ext cx="256032" cy="256032"/>
          </a:xfrm>
          <a:prstGeom prst="roundRect">
            <a:avLst>
              <a:gd name="adj" fmla="val 17857"/>
            </a:avLst>
          </a:prstGeom>
          <a:solidFill>
            <a:srgbClr val="FFFFFF"/>
          </a:solidFill>
          <a:ln w="19050">
            <a:solidFill>
              <a:srgbClr val="1F9D74"/>
            </a:solidFill>
            <a:prstDash val="solid"/>
          </a:ln>
        </p:spPr>
        <p:txBody>
          <a:bodyPr/>
          <a:lstStyle/>
          <a:p>
            <a:endParaRPr lang="es-MX"/>
          </a:p>
        </p:txBody>
      </p:sp>
      <p:sp>
        <p:nvSpPr>
          <p:cNvPr id="13" name="Text 11"/>
          <p:cNvSpPr/>
          <p:nvPr/>
        </p:nvSpPr>
        <p:spPr>
          <a:xfrm>
            <a:off x="7086600" y="3099816"/>
            <a:ext cx="4480560" cy="502920"/>
          </a:xfrm>
          <a:prstGeom prst="rect">
            <a:avLst/>
          </a:prstGeom>
          <a:noFill/>
          <a:ln/>
        </p:spPr>
        <p:txBody>
          <a:bodyPr wrap="square" rtlCol="0" anchor="ctr"/>
          <a:lstStyle/>
          <a:p>
            <a:pPr marL="0" indent="0">
              <a:buNone/>
            </a:pPr>
            <a:r>
              <a:rPr lang="en-US" sz="1250" dirty="0">
                <a:solidFill>
                  <a:srgbClr val="2B2B33"/>
                </a:solidFill>
                <a:latin typeface="Calibri" pitchFamily="34" charset="0"/>
                <a:ea typeface="Calibri" pitchFamily="34" charset="-122"/>
                <a:cs typeface="Calibri" pitchFamily="34" charset="-120"/>
              </a:rPr>
              <a:t>El formulario registra nombre y correo</a:t>
            </a:r>
            <a:endParaRPr lang="en-US" sz="1250" dirty="0"/>
          </a:p>
        </p:txBody>
      </p:sp>
      <p:sp>
        <p:nvSpPr>
          <p:cNvPr id="14" name="Shape 12"/>
          <p:cNvSpPr/>
          <p:nvPr/>
        </p:nvSpPr>
        <p:spPr>
          <a:xfrm>
            <a:off x="6675120" y="3840480"/>
            <a:ext cx="256032" cy="256032"/>
          </a:xfrm>
          <a:prstGeom prst="roundRect">
            <a:avLst>
              <a:gd name="adj" fmla="val 17857"/>
            </a:avLst>
          </a:prstGeom>
          <a:solidFill>
            <a:srgbClr val="FFFFFF"/>
          </a:solidFill>
          <a:ln w="19050">
            <a:solidFill>
              <a:srgbClr val="1F9D74"/>
            </a:solidFill>
            <a:prstDash val="solid"/>
          </a:ln>
        </p:spPr>
        <p:txBody>
          <a:bodyPr/>
          <a:lstStyle/>
          <a:p>
            <a:endParaRPr lang="es-MX"/>
          </a:p>
        </p:txBody>
      </p:sp>
      <p:sp>
        <p:nvSpPr>
          <p:cNvPr id="15" name="Text 13"/>
          <p:cNvSpPr/>
          <p:nvPr/>
        </p:nvSpPr>
        <p:spPr>
          <a:xfrm>
            <a:off x="7086600" y="3785616"/>
            <a:ext cx="4480560" cy="502920"/>
          </a:xfrm>
          <a:prstGeom prst="rect">
            <a:avLst/>
          </a:prstGeom>
          <a:noFill/>
          <a:ln/>
        </p:spPr>
        <p:txBody>
          <a:bodyPr wrap="square" rtlCol="0" anchor="ctr"/>
          <a:lstStyle/>
          <a:p>
            <a:pPr marL="0" indent="0">
              <a:buNone/>
            </a:pPr>
            <a:r>
              <a:rPr lang="en-US" sz="1250" dirty="0">
                <a:solidFill>
                  <a:srgbClr val="2B2B33"/>
                </a:solidFill>
                <a:latin typeface="Calibri" pitchFamily="34" charset="0"/>
                <a:ea typeface="Calibri" pitchFamily="34" charset="-122"/>
                <a:cs typeface="Calibri" pitchFamily="34" charset="-120"/>
              </a:rPr>
              <a:t>El perfil muestra correctamente los datos</a:t>
            </a:r>
            <a:endParaRPr lang="en-US" sz="1250" dirty="0"/>
          </a:p>
        </p:txBody>
      </p:sp>
      <p:sp>
        <p:nvSpPr>
          <p:cNvPr id="16" name="Shape 14"/>
          <p:cNvSpPr/>
          <p:nvPr/>
        </p:nvSpPr>
        <p:spPr>
          <a:xfrm>
            <a:off x="6675120" y="4526280"/>
            <a:ext cx="256032" cy="256032"/>
          </a:xfrm>
          <a:prstGeom prst="roundRect">
            <a:avLst>
              <a:gd name="adj" fmla="val 17857"/>
            </a:avLst>
          </a:prstGeom>
          <a:solidFill>
            <a:srgbClr val="FFFFFF"/>
          </a:solidFill>
          <a:ln w="19050">
            <a:solidFill>
              <a:srgbClr val="1F9D74"/>
            </a:solidFill>
            <a:prstDash val="solid"/>
          </a:ln>
        </p:spPr>
        <p:txBody>
          <a:bodyPr/>
          <a:lstStyle/>
          <a:p>
            <a:endParaRPr lang="es-MX"/>
          </a:p>
        </p:txBody>
      </p:sp>
      <p:sp>
        <p:nvSpPr>
          <p:cNvPr id="17" name="Text 15"/>
          <p:cNvSpPr/>
          <p:nvPr/>
        </p:nvSpPr>
        <p:spPr>
          <a:xfrm>
            <a:off x="7086600" y="4471416"/>
            <a:ext cx="4480560" cy="502920"/>
          </a:xfrm>
          <a:prstGeom prst="rect">
            <a:avLst/>
          </a:prstGeom>
          <a:noFill/>
          <a:ln/>
        </p:spPr>
        <p:txBody>
          <a:bodyPr wrap="square" rtlCol="0" anchor="ctr"/>
          <a:lstStyle/>
          <a:p>
            <a:pPr marL="0" indent="0">
              <a:buNone/>
            </a:pPr>
            <a:r>
              <a:rPr lang="en-US" sz="1250" dirty="0">
                <a:solidFill>
                  <a:srgbClr val="2B2B33"/>
                </a:solidFill>
                <a:latin typeface="Calibri" pitchFamily="34" charset="0"/>
                <a:ea typeface="Calibri" pitchFamily="34" charset="-122"/>
                <a:cs typeface="Calibri" pitchFamily="34" charset="-120"/>
              </a:rPr>
              <a:t>Documento de diseño, implementación y pruebas</a:t>
            </a:r>
            <a:endParaRPr lang="en-US" sz="1250" dirty="0"/>
          </a:p>
        </p:txBody>
      </p:sp>
      <p:sp>
        <p:nvSpPr>
          <p:cNvPr id="18" name="Shape 16"/>
          <p:cNvSpPr/>
          <p:nvPr/>
        </p:nvSpPr>
        <p:spPr>
          <a:xfrm>
            <a:off x="6675120" y="5212080"/>
            <a:ext cx="256032" cy="256032"/>
          </a:xfrm>
          <a:prstGeom prst="roundRect">
            <a:avLst>
              <a:gd name="adj" fmla="val 17857"/>
            </a:avLst>
          </a:prstGeom>
          <a:solidFill>
            <a:srgbClr val="FFFFFF"/>
          </a:solidFill>
          <a:ln w="19050">
            <a:solidFill>
              <a:srgbClr val="1F9D74"/>
            </a:solidFill>
            <a:prstDash val="solid"/>
          </a:ln>
        </p:spPr>
        <p:txBody>
          <a:bodyPr/>
          <a:lstStyle/>
          <a:p>
            <a:endParaRPr lang="es-MX"/>
          </a:p>
        </p:txBody>
      </p:sp>
      <p:sp>
        <p:nvSpPr>
          <p:cNvPr id="19" name="Text 17"/>
          <p:cNvSpPr/>
          <p:nvPr/>
        </p:nvSpPr>
        <p:spPr>
          <a:xfrm>
            <a:off x="7086600" y="5157216"/>
            <a:ext cx="4480560" cy="502920"/>
          </a:xfrm>
          <a:prstGeom prst="rect">
            <a:avLst/>
          </a:prstGeom>
          <a:noFill/>
          <a:ln/>
        </p:spPr>
        <p:txBody>
          <a:bodyPr wrap="square" rtlCol="0" anchor="ctr"/>
          <a:lstStyle/>
          <a:p>
            <a:pPr marL="0" indent="0">
              <a:buNone/>
            </a:pPr>
            <a:r>
              <a:rPr lang="en-US" sz="1250" dirty="0">
                <a:solidFill>
                  <a:srgbClr val="2B2B33"/>
                </a:solidFill>
                <a:latin typeface="Calibri" pitchFamily="34" charset="0"/>
                <a:ea typeface="Calibri" pitchFamily="34" charset="-122"/>
                <a:cs typeface="Calibri" pitchFamily="34" charset="-120"/>
              </a:rPr>
              <a:t>(Opcional) actividades adicionales realizadas</a:t>
            </a:r>
            <a:endParaRPr lang="en-US" sz="1250" dirty="0"/>
          </a:p>
        </p:txBody>
      </p:sp>
      <p:sp>
        <p:nvSpPr>
          <p:cNvPr id="20" name="Text 18"/>
          <p:cNvSpPr/>
          <p:nvPr/>
        </p:nvSpPr>
        <p:spPr>
          <a:xfrm>
            <a:off x="548640" y="6537960"/>
            <a:ext cx="7315200" cy="274320"/>
          </a:xfrm>
          <a:prstGeom prst="rect">
            <a:avLst/>
          </a:prstGeom>
          <a:noFill/>
          <a:ln/>
        </p:spPr>
        <p:txBody>
          <a:bodyPr wrap="square" rtlCol="0" anchor="ctr"/>
          <a:lstStyle/>
          <a:p>
            <a:pPr marL="0" indent="0">
              <a:buNone/>
            </a:pPr>
            <a:r>
              <a:rPr lang="en-US" sz="1000" dirty="0">
                <a:solidFill>
                  <a:srgbClr val="9AA0B4"/>
                </a:solidFill>
                <a:latin typeface="Calibri" pitchFamily="34" charset="0"/>
                <a:ea typeface="Calibri" pitchFamily="34" charset="-122"/>
                <a:cs typeface="Calibri" pitchFamily="34" charset="-120"/>
              </a:rPr>
              <a:t>Práctica 4 · Aplicación web básica · IAD-2413 · ITD</a:t>
            </a:r>
            <a:endParaRPr lang="en-US" sz="1000" dirty="0"/>
          </a:p>
        </p:txBody>
      </p:sp>
      <p:sp>
        <p:nvSpPr>
          <p:cNvPr id="21" name="Text 19"/>
          <p:cNvSpPr/>
          <p:nvPr/>
        </p:nvSpPr>
        <p:spPr>
          <a:xfrm>
            <a:off x="11338560" y="6537960"/>
            <a:ext cx="365760" cy="274320"/>
          </a:xfrm>
          <a:prstGeom prst="rect">
            <a:avLst/>
          </a:prstGeom>
          <a:noFill/>
          <a:ln/>
        </p:spPr>
        <p:txBody>
          <a:bodyPr wrap="square" rtlCol="0" anchor="ctr"/>
          <a:lstStyle/>
          <a:p>
            <a:pPr marL="0" indent="0" algn="r">
              <a:buNone/>
            </a:pPr>
            <a:r>
              <a:rPr lang="en-US" sz="1000" dirty="0">
                <a:solidFill>
                  <a:srgbClr val="9AA0B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463040" y="-1645920"/>
            <a:ext cx="4206240" cy="4206240"/>
          </a:xfrm>
          <a:prstGeom prst="ellipse">
            <a:avLst/>
          </a:prstGeom>
          <a:solidFill>
            <a:srgbClr val="273580"/>
          </a:solidFill>
          <a:ln/>
        </p:spPr>
        <p:txBody>
          <a:bodyPr/>
          <a:lstStyle/>
          <a:p>
            <a:endParaRPr lang="es-MX"/>
          </a:p>
        </p:txBody>
      </p:sp>
      <p:sp>
        <p:nvSpPr>
          <p:cNvPr id="3" name="Text 1"/>
          <p:cNvSpPr/>
          <p:nvPr/>
        </p:nvSpPr>
        <p:spPr>
          <a:xfrm>
            <a:off x="640080" y="914400"/>
            <a:ext cx="10058400" cy="73152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¡Manos a la obra!</a:t>
            </a:r>
            <a:endParaRPr lang="en-US" sz="3600" dirty="0"/>
          </a:p>
        </p:txBody>
      </p:sp>
      <p:sp>
        <p:nvSpPr>
          <p:cNvPr id="4" name="Text 2"/>
          <p:cNvSpPr/>
          <p:nvPr/>
        </p:nvSpPr>
        <p:spPr>
          <a:xfrm>
            <a:off x="640080" y="1600200"/>
            <a:ext cx="9601200" cy="457200"/>
          </a:xfrm>
          <a:prstGeom prst="rect">
            <a:avLst/>
          </a:prstGeom>
          <a:noFill/>
          <a:ln/>
        </p:spPr>
        <p:txBody>
          <a:bodyPr wrap="square" rtlCol="0" anchor="ctr"/>
          <a:lstStyle/>
          <a:p>
            <a:pPr marL="0" indent="0">
              <a:buNone/>
            </a:pPr>
            <a:r>
              <a:rPr lang="en-US" sz="1700" i="1" dirty="0">
                <a:solidFill>
                  <a:srgbClr val="CADCFC"/>
                </a:solidFill>
                <a:latin typeface="Calibri" pitchFamily="34" charset="0"/>
                <a:ea typeface="Calibri" pitchFamily="34" charset="-122"/>
                <a:cs typeface="Calibri" pitchFamily="34" charset="-120"/>
              </a:rPr>
              <a:t>Sigue la guía paso a paso; cada error tiene solución en la tabla de la diapositiva 9</a:t>
            </a:r>
            <a:endParaRPr lang="en-US" sz="1700" dirty="0"/>
          </a:p>
        </p:txBody>
      </p:sp>
      <p:sp>
        <p:nvSpPr>
          <p:cNvPr id="5" name="Shape 3"/>
          <p:cNvSpPr/>
          <p:nvPr/>
        </p:nvSpPr>
        <p:spPr>
          <a:xfrm>
            <a:off x="640080" y="2743200"/>
            <a:ext cx="292608" cy="292608"/>
          </a:xfrm>
          <a:prstGeom prst="ellipse">
            <a:avLst/>
          </a:prstGeom>
          <a:solidFill>
            <a:srgbClr val="3776AB"/>
          </a:solidFill>
          <a:ln/>
        </p:spPr>
        <p:txBody>
          <a:bodyPr/>
          <a:lstStyle/>
          <a:p>
            <a:endParaRPr lang="es-MX"/>
          </a:p>
        </p:txBody>
      </p:sp>
      <p:sp>
        <p:nvSpPr>
          <p:cNvPr id="6" name="Text 4"/>
          <p:cNvSpPr/>
          <p:nvPr/>
        </p:nvSpPr>
        <p:spPr>
          <a:xfrm>
            <a:off x="1143000" y="2697480"/>
            <a:ext cx="7315200" cy="36576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1. Instala Python y VS Code</a:t>
            </a:r>
            <a:endParaRPr lang="en-US" sz="1500" dirty="0"/>
          </a:p>
        </p:txBody>
      </p:sp>
      <p:sp>
        <p:nvSpPr>
          <p:cNvPr id="7" name="Shape 5"/>
          <p:cNvSpPr/>
          <p:nvPr/>
        </p:nvSpPr>
        <p:spPr>
          <a:xfrm>
            <a:off x="640080" y="3337560"/>
            <a:ext cx="292608" cy="292608"/>
          </a:xfrm>
          <a:prstGeom prst="ellipse">
            <a:avLst/>
          </a:prstGeom>
          <a:solidFill>
            <a:srgbClr val="1F9D74"/>
          </a:solidFill>
          <a:ln/>
        </p:spPr>
        <p:txBody>
          <a:bodyPr/>
          <a:lstStyle/>
          <a:p>
            <a:endParaRPr lang="es-MX"/>
          </a:p>
        </p:txBody>
      </p:sp>
      <p:sp>
        <p:nvSpPr>
          <p:cNvPr id="8" name="Text 6"/>
          <p:cNvSpPr/>
          <p:nvPr/>
        </p:nvSpPr>
        <p:spPr>
          <a:xfrm>
            <a:off x="1143000" y="3291840"/>
            <a:ext cx="7315200" cy="36576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2. Crea la estructura y el entorno virtual</a:t>
            </a:r>
            <a:endParaRPr lang="en-US" sz="1500" dirty="0"/>
          </a:p>
        </p:txBody>
      </p:sp>
      <p:sp>
        <p:nvSpPr>
          <p:cNvPr id="9" name="Shape 7"/>
          <p:cNvSpPr/>
          <p:nvPr/>
        </p:nvSpPr>
        <p:spPr>
          <a:xfrm>
            <a:off x="640080" y="3931920"/>
            <a:ext cx="292608" cy="292608"/>
          </a:xfrm>
          <a:prstGeom prst="ellipse">
            <a:avLst/>
          </a:prstGeom>
          <a:solidFill>
            <a:srgbClr val="9B4F96"/>
          </a:solidFill>
          <a:ln/>
        </p:spPr>
        <p:txBody>
          <a:bodyPr/>
          <a:lstStyle/>
          <a:p>
            <a:endParaRPr lang="es-MX"/>
          </a:p>
        </p:txBody>
      </p:sp>
      <p:sp>
        <p:nvSpPr>
          <p:cNvPr id="10" name="Text 8"/>
          <p:cNvSpPr/>
          <p:nvPr/>
        </p:nvSpPr>
        <p:spPr>
          <a:xfrm>
            <a:off x="1143000" y="3886200"/>
            <a:ext cx="7315200" cy="36576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3. Construye formulario.html y perfil.html</a:t>
            </a:r>
            <a:endParaRPr lang="en-US" sz="1500" dirty="0"/>
          </a:p>
        </p:txBody>
      </p:sp>
      <p:sp>
        <p:nvSpPr>
          <p:cNvPr id="11" name="Shape 9"/>
          <p:cNvSpPr/>
          <p:nvPr/>
        </p:nvSpPr>
        <p:spPr>
          <a:xfrm>
            <a:off x="640080" y="4526280"/>
            <a:ext cx="292608" cy="292608"/>
          </a:xfrm>
          <a:prstGeom prst="ellipse">
            <a:avLst/>
          </a:prstGeom>
          <a:solidFill>
            <a:srgbClr val="E76F00"/>
          </a:solidFill>
          <a:ln/>
        </p:spPr>
        <p:txBody>
          <a:bodyPr/>
          <a:lstStyle/>
          <a:p>
            <a:endParaRPr lang="es-MX"/>
          </a:p>
        </p:txBody>
      </p:sp>
      <p:sp>
        <p:nvSpPr>
          <p:cNvPr id="12" name="Text 10"/>
          <p:cNvSpPr/>
          <p:nvPr/>
        </p:nvSpPr>
        <p:spPr>
          <a:xfrm>
            <a:off x="1143000" y="4480560"/>
            <a:ext cx="7315200" cy="36576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4. Escribe app.py y pruébalo en el navegador</a:t>
            </a:r>
            <a:endParaRPr lang="en-US" sz="1500" dirty="0"/>
          </a:p>
        </p:txBody>
      </p:sp>
      <p:sp>
        <p:nvSpPr>
          <p:cNvPr id="13" name="Text 11"/>
          <p:cNvSpPr/>
          <p:nvPr/>
        </p:nvSpPr>
        <p:spPr>
          <a:xfrm>
            <a:off x="640080" y="6309360"/>
            <a:ext cx="7315200" cy="274320"/>
          </a:xfrm>
          <a:prstGeom prst="rect">
            <a:avLst/>
          </a:prstGeom>
          <a:noFill/>
          <a:ln/>
        </p:spPr>
        <p:txBody>
          <a:bodyPr wrap="square" rtlCol="0" anchor="ctr"/>
          <a:lstStyle/>
          <a:p>
            <a:pPr marL="0" indent="0">
              <a:buNone/>
            </a:pPr>
            <a:r>
              <a:rPr lang="en-US" sz="1100" dirty="0">
                <a:solidFill>
                  <a:srgbClr val="9AAAD8"/>
                </a:solidFill>
                <a:latin typeface="Calibri" pitchFamily="34" charset="0"/>
                <a:ea typeface="Calibri" pitchFamily="34" charset="-122"/>
                <a:cs typeface="Calibri" pitchFamily="34" charset="-120"/>
              </a:rPr>
              <a:t>Instituto Tecnológico de Durango · TecNM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1615</Words>
  <Application>Microsoft Office PowerPoint</Application>
  <PresentationFormat>Panorámica</PresentationFormat>
  <Paragraphs>255</Paragraphs>
  <Slides>12</Slides>
  <Notes>12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Sergio Valdez Hernandez</cp:lastModifiedBy>
  <cp:revision>2</cp:revision>
  <dcterms:created xsi:type="dcterms:W3CDTF">2026-07-23T16:38:59Z</dcterms:created>
  <dcterms:modified xsi:type="dcterms:W3CDTF">2026-07-23T16:47:59Z</dcterms:modified>
</cp:coreProperties>
</file>