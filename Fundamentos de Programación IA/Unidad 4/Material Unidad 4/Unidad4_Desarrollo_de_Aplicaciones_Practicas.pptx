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aplicaciones prácticas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consola a la interfaz: aplicaciones web, móviles y de escritorio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931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48840" y="3931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9B4F96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3931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3931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7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3931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· Fundamentos de Programación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unidad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fundamentos a una aplicación con la que alguien pueda interactuar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conocimientos de programación adquiridos en las Unidades 1 a 3 para desarrollar aplicaciones web, móviles y de escritorio básicas, utilizando herramientas y frameworks apropiados.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49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9748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27358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·  2  · 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control de flujo, metodología de resolución de problemas, IDEs y bibliotecas — ya cubiertos.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46888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49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69748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3776AB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 Web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33832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Cliente–servidor: HTML/CSS/JS en el navegador + lógica de backend en Python, C# o Java.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46888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49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29400" y="269748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9B4F96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 Móvil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3832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Nativo, multiplataforma o híbrido: la misma lógica de programación conectada a una interfaz táctil.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0" y="246888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49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55480" y="269748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76F00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/ 4.4  Escritorio y herramientas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555480" y="33832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orientada a eventos y criterios para elegir el framework adecuado.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Desarrollo de aplicaciones prácticas · IAD-2413 · ITD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Aplicaciones web — arquitectura cliente–servidor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 que conviene distinguir desde el inicio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3776A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(navegador)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9B4F96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(backend)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C# · Java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E76F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(persistencia)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03320" y="1920240"/>
            <a:ext cx="685800" cy="0"/>
          </a:xfrm>
          <a:prstGeom prst="line">
            <a:avLst/>
          </a:prstGeom>
          <a:noFill/>
          <a:ln w="2540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61188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HTTP (GET/POST)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03320" y="2468880"/>
            <a:ext cx="685800" cy="0"/>
          </a:xfrm>
          <a:prstGeom prst="line">
            <a:avLst/>
          </a:prstGeom>
          <a:noFill/>
          <a:ln w="25400">
            <a:solidFill>
              <a:srgbClr val="9AA0B4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52044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(HTML / JSON)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98080" y="1920240"/>
            <a:ext cx="685800" cy="0"/>
          </a:xfrm>
          <a:prstGeom prst="line">
            <a:avLst/>
          </a:prstGeom>
          <a:noFill/>
          <a:ln w="2540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0" y="2468880"/>
            <a:ext cx="685800" cy="0"/>
          </a:xfrm>
          <a:prstGeom prst="line">
            <a:avLst/>
          </a:prstGeom>
          <a:noFill/>
          <a:ln w="25400">
            <a:solidFill>
              <a:srgbClr val="9AA0B4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40664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/ guarda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0F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832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no mantiene memoria entre peticiones: cada solicitud es independiente. Para "recordar" a un usuario entre páginas se usan sesiones o cookies — el mismo patrón, sin importar el framework elegido.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" y="4974336"/>
            <a:ext cx="292608" cy="29260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49743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434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navegador pide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690872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abre una URL; el navegador envía una petición GET al servidor.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0" y="434340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21024" y="4974336"/>
            <a:ext cx="292608" cy="29260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29" name="Text 27"/>
          <p:cNvSpPr/>
          <p:nvPr/>
        </p:nvSpPr>
        <p:spPr>
          <a:xfrm>
            <a:off x="3621024" y="49743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023360" y="4434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servidor procesa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023360" y="4690872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correspondiente ejecuta lógica y, si aplica, consulta la base de datos.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434340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47104" y="4974336"/>
            <a:ext cx="292608" cy="29260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34" name="Text 32"/>
          <p:cNvSpPr/>
          <p:nvPr/>
        </p:nvSpPr>
        <p:spPr>
          <a:xfrm>
            <a:off x="6547104" y="49743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4434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 con HTML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4690872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arma la página (o un JSON) y la envía de regreso al cliente.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326880" y="434340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473184" y="4974336"/>
            <a:ext cx="292608" cy="292608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39" name="Text 37"/>
          <p:cNvSpPr/>
          <p:nvPr/>
        </p:nvSpPr>
        <p:spPr>
          <a:xfrm>
            <a:off x="9473184" y="49743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875520" y="4434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navegador dibuja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875520" y="4690872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interpreta el HTML/CSS/JS recibido y lo muestra al usuario.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Desarrollo de aplicaciones prácticas · IAD-2413 · ITD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Un backend mínimo en tres lenguajes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idea: una ruta GET y una ruta POST que reciben datos de un formulario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611880" cy="507492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80744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3502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Flask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2461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Flask, request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render_template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inicio():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render_template(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"formulario.html")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@app.route("/registro",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methods=["POST"])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registro():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= request.form.get(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"nombre")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correo = request.form.get(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"correo")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render_template(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"perfil.html",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nombre=nombre,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correo=correo)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611880" cy="507492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380744"/>
            <a:ext cx="201168" cy="20116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3502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— ASP.NET 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737360"/>
            <a:ext cx="32461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builder = WebApplication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.CreateBuilder(args);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app = builder.Build();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app.MapGet("/", () =&gt;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Results.Content(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HtmlFormulario(),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"text/html"));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app.MapPost("/registro",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(HttpRequest request) =&gt;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nombre =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request.Form["nombre"];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correo =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request.Form["correo"];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Results.Content(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$"&lt;h1&gt;Hola, {nombre}&lt;/h1&gt;",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"text/html");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3611880" cy="507492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4192" y="1380744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33502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Spring Boot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1737360"/>
            <a:ext cx="32461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@Controller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RegistroController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@GetMapping("/")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inicio()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"formulario";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@PostMapping("/registro")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registro(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@RequestParam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nombre,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@RequestParam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correo,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 model)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model.addAttribute(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"nombre", nombre);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model.addAttribute(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"correo", correo);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"perfil";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Desarrollo de aplicaciones prácticas · IAD-2413 · ITD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Aplicaciones móviles — tres enfoques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Nativo, multiplataforma e híbrido: cada uno resuelve un problema distinto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834640"/>
                <a:gridCol w="283464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 típica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Ventaja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Desventaja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Java/Kotlin (Android), Swift (iOS)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 rendimiento y acceso al hardware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programa por separado para cada plataforma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Multiplataforma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MAUI, Flutter, React Native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código para Android e 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de aprendizaje del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Híbrida / web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PWA, Ionic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Reutiliza HTML/CSS/JS ya conocidos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Rendimiento y acceso al hardware limitados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conceptual: login móvil (interfaz + validación de campos)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38912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4535424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448970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Android (Activity)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489204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botonEntrar.setOnClickListener(v -&gt;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validarLogin());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validarLogin() 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u = campoUsuario.getText()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.toString();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(u.isEmpty()) 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Toast.makeText(this,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"Completa el campo",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Toast.LENGTH_SHORT).show();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438912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36792" y="4535424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448970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Kivy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5080" y="489204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validar_login(self, instance):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self.usuario.text: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 = f"Bienvenido, {self.usuario.text}"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 = "Completa el campo"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Popup(title="Aviso",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content=Label(text=msg)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).open()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Desarrollo de aplicaciones prácticas · IAD-2413 · ITD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Aplicaciones de escritorio simples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caso — captura y validación de un nombre — en tres bibliotecas GUI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611880" cy="457200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80744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3502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Tkinter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246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tkinter as tk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tkinter import messagebox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guardar_datos():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= campo_nombre.get()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nombre == "":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messagebox.showwarning(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"Aviso",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"Nombre obligatorio")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messagebox.showinfo(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"Perfil",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f"Guardado: {nombre}")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 = tk.Tk()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tk.Entry(ventana).pack()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tk.Button(ventana, text="Guardar",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command=guardar_datos).pack()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ventana.mainloop()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611880" cy="457200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380744"/>
            <a:ext cx="201168" cy="20116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3502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— Windows Forms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737360"/>
            <a:ext cx="3246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FormularioRegistro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Form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TextBox campoNombre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new TextBox();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FormularioRegistro()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Controls.Add(campoNombre);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botonGuardar.Click +=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GuardarDatos;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void GuardarDatos(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object s, EventArgs e)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(string.IsNullOrEmpty(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campoNombre.Text))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MessageBox.Show(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"Nombre obligatorio");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3611880" cy="457200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4192" y="1380744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33502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JavaFX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1737360"/>
            <a:ext cx="3246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TextField campoNombre =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TextField();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botonGuardar =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Button("Guardar");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botonGuardar.setOnAction(e -&gt;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(campoNombre.getText()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.isEmpty())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Alert(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Alert.AlertType.WARNING,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"Nombre obligatorio")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.showAndWait();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escenario.setScene(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Scene(raiz, 250, 150));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escenario.show();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DF0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comparten el mismo modelo: crear un widget, asociar un evento a una función y mantener la ventana viva en un bucle de eventos.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Desarrollo de aplicaciones prácticas · IAD-2413 · ITD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Panorama de herramientas y frameworks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 resuelve lo que todas las apps de un tipo comparten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18288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aplicación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(backend)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Flask, Django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ASP.NET Core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Spring Boot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Móvil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Kivy, BeeWare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.NET MAUI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Android (nativo)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Escritorio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Tkinter, PyQt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Windows Forms, WPF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JavaFX, Swing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para elegir herramienta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86200"/>
            <a:ext cx="2066544" cy="237744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4944" y="4928616"/>
            <a:ext cx="292608" cy="29260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4928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977640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aplicación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4233672"/>
            <a:ext cx="13807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móvil o escritorio: no todos los frameworks sirven para todo.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98064" y="3886200"/>
            <a:ext cx="2066544" cy="237744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44368" y="4928616"/>
            <a:ext cx="292608" cy="29260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3" name="Text 10"/>
          <p:cNvSpPr/>
          <p:nvPr/>
        </p:nvSpPr>
        <p:spPr>
          <a:xfrm>
            <a:off x="2944368" y="4928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46704" y="3977640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de aprendizaje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46704" y="4233672"/>
            <a:ext cx="13807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el tiempo disponible del proyecto.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47488" y="3886200"/>
            <a:ext cx="2066544" cy="237744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93792" y="4928616"/>
            <a:ext cx="292608" cy="29260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8" name="Text 15"/>
          <p:cNvSpPr/>
          <p:nvPr/>
        </p:nvSpPr>
        <p:spPr>
          <a:xfrm>
            <a:off x="5193792" y="4928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96128" y="3977640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 y documentación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96128" y="4233672"/>
            <a:ext cx="13807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para un equipo que recién está aprendiendo.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96912" y="3886200"/>
            <a:ext cx="2066544" cy="237744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43216" y="4928616"/>
            <a:ext cx="292608" cy="292608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23" name="Text 20"/>
          <p:cNvSpPr/>
          <p:nvPr/>
        </p:nvSpPr>
        <p:spPr>
          <a:xfrm>
            <a:off x="7443216" y="4928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845552" y="3977640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Compatibilidad con el stack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845552" y="4233672"/>
            <a:ext cx="13807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backend ya es Python, mejor Flask que introducir otro lenguaje.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546336" y="3886200"/>
            <a:ext cx="2066544" cy="237744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692640" y="4928616"/>
            <a:ext cx="292608" cy="292608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28" name="Text 25"/>
          <p:cNvSpPr/>
          <p:nvPr/>
        </p:nvSpPr>
        <p:spPr>
          <a:xfrm>
            <a:off x="9692640" y="4928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094976" y="3977640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Necesidades del proyecto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094976" y="4233672"/>
            <a:ext cx="13807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en tiempo real, múltiples usuarios, persistencia.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Desarrollo de aplicaciones prácticas · IAD-2413 · ITD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general: Web vs. Móvil vs. Escritorio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para decidir qué tipo de aplicación construir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8346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Móvil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Escritorio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¿Dónde corre?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+ navegador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Directamente en el dispositivo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Directamente en el sistema operativo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¿Necesita internet?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Generalmente 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la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por defecto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HTML/CSS en el navegador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Vistas nativas o multiplataforma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Widgets del sistema operativo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URL, sin instalación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Tienda de aplicaciones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Instalador o ejecutable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4983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clave para el proyecto integrador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5285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 gestión de tareas colaborativas es, ante todo, una aplicación web: interfaz en el navegador, lógica en el servidor y datos persistentes — exactamente las tres capas vistas en esta unidad.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Desarrollo de aplicaciones prácticas · IAD-2413 · ITD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4: Aplicación web básica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datos personales y visualización en una página de perfil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2276856"/>
            <a:ext cx="292608" cy="29260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2276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web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719072"/>
            <a:ext cx="2011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HTML con formulario de registro, estilizada con CSS.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21024" y="2276856"/>
            <a:ext cx="292608" cy="292608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2276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1463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Móvil (opcional)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1719072"/>
            <a:ext cx="2011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la página con diseño responsivo para distintos tamaños de pantalla.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47104" y="2276856"/>
            <a:ext cx="292608" cy="29260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2276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1463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Escritorio (opcional)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1719072"/>
            <a:ext cx="2011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Empaquetar la aplicación como app de escritorio con un framework como Electron.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1EF"/>
            </a:solidFill>
            <a:prstDash val="solid"/>
          </a:ln>
          <a:effectLst>
            <a:outerShdw sx="100000" sy="100000" kx="0" ky="0" algn="bl" rotWithShape="0" blurRad="63500" dist="25400" dir="5400000">
              <a:srgbClr val="5B649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3184" y="2276856"/>
            <a:ext cx="292608" cy="29260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21" name="Text 19"/>
          <p:cNvSpPr/>
          <p:nvPr/>
        </p:nvSpPr>
        <p:spPr>
          <a:xfrm>
            <a:off x="9473184" y="2276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0" y="1463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0" y="1719072"/>
            <a:ext cx="2011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Flask (Python) o Spring Boot (Java) para la lógica y la persistencia de datos.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de la aplicación web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pantalla en funcionamiento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diseño, implementación y pruebas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55080" y="3749040"/>
            <a:ext cx="5257800" cy="2468880"/>
          </a:xfrm>
          <a:prstGeom prst="roundRect">
            <a:avLst>
              <a:gd name="adj" fmla="val 2222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19672" y="3895344"/>
            <a:ext cx="201168" cy="201168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384962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formulario.html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425196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action="/registro"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method="POST"&gt;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&lt;label&gt;Nombre:&lt;/label&gt;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name="nombre" required&gt;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&lt;label&gt;Correo:&lt;/label&gt;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name="correo" required&gt;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Enviar&lt;/button&gt;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Desarrollo de aplicaciones prácticas · IAD-2413 · ITD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clave de la Unidad 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fundamentos, con una interfaz encima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74320" cy="27432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condicionales y funciones no cambian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274320" cy="274320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nuevo es la interfaz orientada a eventos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74320" cy="274320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móvil y escritorio comparten el mismo patrón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2011680"/>
            <a:ext cx="0" cy="4114800"/>
          </a:xfrm>
          <a:prstGeom prst="line">
            <a:avLst/>
          </a:prstGeom>
          <a:noFill/>
          <a:ln w="19050">
            <a:solidFill>
              <a:srgbClr val="3D4A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de la unidad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2560320"/>
            <a:ext cx="274320" cy="274320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funcional (Práctica 4)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310896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diseño e implementación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3657600"/>
            <a:ext cx="274320" cy="27432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del proyecto integrador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2026-07-23T16:15:26Z</dcterms:created>
  <dcterms:modified xsi:type="dcterms:W3CDTF">2026-07-23T16:15:26Z</dcterms:modified>
</cp:coreProperties>
</file>